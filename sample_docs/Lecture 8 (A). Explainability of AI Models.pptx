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sldIdLst>
    <p:sldId id="256" r:id="rId2"/>
    <p:sldId id="258" r:id="rId3"/>
    <p:sldId id="257" r:id="rId4"/>
    <p:sldId id="359" r:id="rId5"/>
    <p:sldId id="360" r:id="rId6"/>
    <p:sldId id="361" r:id="rId7"/>
    <p:sldId id="370" r:id="rId8"/>
    <p:sldId id="362" r:id="rId9"/>
    <p:sldId id="345" r:id="rId10"/>
    <p:sldId id="363" r:id="rId11"/>
    <p:sldId id="341" r:id="rId12"/>
    <p:sldId id="364" r:id="rId13"/>
    <p:sldId id="365" r:id="rId14"/>
    <p:sldId id="366" r:id="rId15"/>
    <p:sldId id="367" r:id="rId16"/>
    <p:sldId id="368" r:id="rId17"/>
    <p:sldId id="374" r:id="rId18"/>
    <p:sldId id="375" r:id="rId19"/>
    <p:sldId id="380" r:id="rId20"/>
    <p:sldId id="381" r:id="rId21"/>
    <p:sldId id="376" r:id="rId22"/>
    <p:sldId id="382" r:id="rId23"/>
    <p:sldId id="383" r:id="rId24"/>
    <p:sldId id="377" r:id="rId25"/>
    <p:sldId id="384" r:id="rId26"/>
    <p:sldId id="378" r:id="rId27"/>
    <p:sldId id="379" r:id="rId28"/>
  </p:sldIdLst>
  <p:sldSz cx="12192000" cy="6858000"/>
  <p:notesSz cx="6858000" cy="9144000"/>
  <p:defaultText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AEACB8-713B-4087-AD1C-B69456DB2AFC}" v="91" dt="2026-03-01T11:01:26.5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577"/>
    <p:restoredTop sz="89538"/>
  </p:normalViewPr>
  <p:slideViewPr>
    <p:cSldViewPr snapToGrid="0">
      <p:cViewPr varScale="1">
        <p:scale>
          <a:sx n="76" d="100"/>
          <a:sy n="76" d="100"/>
        </p:scale>
        <p:origin x="43" y="21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uguelia, Mohamed-Rafik" userId="00bc7f6e-a0e5-4ad5-89ae-da5f23f57430" providerId="ADAL" clId="{DBE6AE06-8A19-4775-ACB1-AE430F641707}"/>
    <pc:docChg chg="custSel modSld">
      <pc:chgData name="Bouguelia, Mohamed-Rafik" userId="00bc7f6e-a0e5-4ad5-89ae-da5f23f57430" providerId="ADAL" clId="{DBE6AE06-8A19-4775-ACB1-AE430F641707}" dt="2026-03-01T11:01:26.527" v="155"/>
      <pc:docMkLst>
        <pc:docMk/>
      </pc:docMkLst>
      <pc:sldChg chg="addSp modSp mod">
        <pc:chgData name="Bouguelia, Mohamed-Rafik" userId="00bc7f6e-a0e5-4ad5-89ae-da5f23f57430" providerId="ADAL" clId="{DBE6AE06-8A19-4775-ACB1-AE430F641707}" dt="2026-03-01T11:01:25.157" v="154" actId="1076"/>
        <pc:sldMkLst>
          <pc:docMk/>
          <pc:sldMk cId="614507208" sldId="256"/>
        </pc:sldMkLst>
        <pc:spChg chg="add mod">
          <ac:chgData name="Bouguelia, Mohamed-Rafik" userId="00bc7f6e-a0e5-4ad5-89ae-da5f23f57430" providerId="ADAL" clId="{DBE6AE06-8A19-4775-ACB1-AE430F641707}" dt="2026-03-01T11:01:25.157" v="154" actId="1076"/>
          <ac:spMkLst>
            <pc:docMk/>
            <pc:sldMk cId="614507208" sldId="256"/>
            <ac:spMk id="3" creationId="{B32D12AF-9CEF-B4EE-ECB2-0D3BCB5DFBF4}"/>
          </ac:spMkLst>
        </pc:spChg>
      </pc:sldChg>
      <pc:sldChg chg="addSp modSp mod">
        <pc:chgData name="Bouguelia, Mohamed-Rafik" userId="00bc7f6e-a0e5-4ad5-89ae-da5f23f57430" providerId="ADAL" clId="{DBE6AE06-8A19-4775-ACB1-AE430F641707}" dt="2026-03-01T11:01:26.527" v="155"/>
        <pc:sldMkLst>
          <pc:docMk/>
          <pc:sldMk cId="3498036418" sldId="258"/>
        </pc:sldMkLst>
        <pc:spChg chg="mod">
          <ac:chgData name="Bouguelia, Mohamed-Rafik" userId="00bc7f6e-a0e5-4ad5-89ae-da5f23f57430" providerId="ADAL" clId="{DBE6AE06-8A19-4775-ACB1-AE430F641707}" dt="2026-03-01T07:50:54.971" v="10" actId="6549"/>
          <ac:spMkLst>
            <pc:docMk/>
            <pc:sldMk cId="3498036418" sldId="258"/>
            <ac:spMk id="2" creationId="{EAB6339E-2D56-03C1-7FF0-5105359B4F67}"/>
          </ac:spMkLst>
        </pc:spChg>
        <pc:spChg chg="add mod">
          <ac:chgData name="Bouguelia, Mohamed-Rafik" userId="00bc7f6e-a0e5-4ad5-89ae-da5f23f57430" providerId="ADAL" clId="{DBE6AE06-8A19-4775-ACB1-AE430F641707}" dt="2026-03-01T11:01:26.527" v="155"/>
          <ac:spMkLst>
            <pc:docMk/>
            <pc:sldMk cId="3498036418" sldId="258"/>
            <ac:spMk id="6" creationId="{F7227980-AEB2-A4D9-7338-E42FCFBFC25D}"/>
          </ac:spMkLst>
        </pc:spChg>
      </pc:sldChg>
      <pc:sldChg chg="delSp mod delAnim">
        <pc:chgData name="Bouguelia, Mohamed-Rafik" userId="00bc7f6e-a0e5-4ad5-89ae-da5f23f57430" providerId="ADAL" clId="{DBE6AE06-8A19-4775-ACB1-AE430F641707}" dt="2026-03-01T10:32:52.089" v="14" actId="21"/>
        <pc:sldMkLst>
          <pc:docMk/>
          <pc:sldMk cId="1805252498" sldId="380"/>
        </pc:sldMkLst>
        <pc:spChg chg="del">
          <ac:chgData name="Bouguelia, Mohamed-Rafik" userId="00bc7f6e-a0e5-4ad5-89ae-da5f23f57430" providerId="ADAL" clId="{DBE6AE06-8A19-4775-ACB1-AE430F641707}" dt="2026-03-01T10:32:52.089" v="14" actId="21"/>
          <ac:spMkLst>
            <pc:docMk/>
            <pc:sldMk cId="1805252498" sldId="380"/>
            <ac:spMk id="3" creationId="{D813454A-7D10-1EBE-B58D-925880C98399}"/>
          </ac:spMkLst>
        </pc:spChg>
        <pc:spChg chg="del">
          <ac:chgData name="Bouguelia, Mohamed-Rafik" userId="00bc7f6e-a0e5-4ad5-89ae-da5f23f57430" providerId="ADAL" clId="{DBE6AE06-8A19-4775-ACB1-AE430F641707}" dt="2026-03-01T10:31:59.604" v="11" actId="478"/>
          <ac:spMkLst>
            <pc:docMk/>
            <pc:sldMk cId="1805252498" sldId="380"/>
            <ac:spMk id="12" creationId="{60544C53-1426-A908-0F69-50BB0DA27E90}"/>
          </ac:spMkLst>
        </pc:spChg>
      </pc:sldChg>
      <pc:sldChg chg="delSp mod">
        <pc:chgData name="Bouguelia, Mohamed-Rafik" userId="00bc7f6e-a0e5-4ad5-89ae-da5f23f57430" providerId="ADAL" clId="{DBE6AE06-8A19-4775-ACB1-AE430F641707}" dt="2026-03-01T10:32:09.071" v="13" actId="21"/>
        <pc:sldMkLst>
          <pc:docMk/>
          <pc:sldMk cId="3546970356" sldId="381"/>
        </pc:sldMkLst>
        <pc:spChg chg="del">
          <ac:chgData name="Bouguelia, Mohamed-Rafik" userId="00bc7f6e-a0e5-4ad5-89ae-da5f23f57430" providerId="ADAL" clId="{DBE6AE06-8A19-4775-ACB1-AE430F641707}" dt="2026-03-01T10:32:05.093" v="12" actId="478"/>
          <ac:spMkLst>
            <pc:docMk/>
            <pc:sldMk cId="3546970356" sldId="381"/>
            <ac:spMk id="12" creationId="{42E259A5-A9A3-1254-C467-82E41ADD93F0}"/>
          </ac:spMkLst>
        </pc:spChg>
        <pc:spChg chg="del">
          <ac:chgData name="Bouguelia, Mohamed-Rafik" userId="00bc7f6e-a0e5-4ad5-89ae-da5f23f57430" providerId="ADAL" clId="{DBE6AE06-8A19-4775-ACB1-AE430F641707}" dt="2026-03-01T10:32:09.071" v="13" actId="21"/>
          <ac:spMkLst>
            <pc:docMk/>
            <pc:sldMk cId="3546970356" sldId="381"/>
            <ac:spMk id="48" creationId="{5B4BB219-7C78-93B4-E157-33E66FB9AC72}"/>
          </ac:spMkLst>
        </pc:spChg>
      </pc:sldChg>
      <pc:sldChg chg="addSp delSp modSp mod">
        <pc:chgData name="Bouguelia, Mohamed-Rafik" userId="00bc7f6e-a0e5-4ad5-89ae-da5f23f57430" providerId="ADAL" clId="{DBE6AE06-8A19-4775-ACB1-AE430F641707}" dt="2026-03-01T10:59:25.477" v="152" actId="20577"/>
        <pc:sldMkLst>
          <pc:docMk/>
          <pc:sldMk cId="3837174642" sldId="382"/>
        </pc:sldMkLst>
        <pc:spChg chg="add mod">
          <ac:chgData name="Bouguelia, Mohamed-Rafik" userId="00bc7f6e-a0e5-4ad5-89ae-da5f23f57430" providerId="ADAL" clId="{DBE6AE06-8A19-4775-ACB1-AE430F641707}" dt="2026-03-01T10:59:25.477" v="152" actId="20577"/>
          <ac:spMkLst>
            <pc:docMk/>
            <pc:sldMk cId="3837174642" sldId="382"/>
            <ac:spMk id="3" creationId="{669B8CF7-E1A4-F00F-2A0A-F929950E364B}"/>
          </ac:spMkLst>
        </pc:spChg>
        <pc:spChg chg="del">
          <ac:chgData name="Bouguelia, Mohamed-Rafik" userId="00bc7f6e-a0e5-4ad5-89ae-da5f23f57430" providerId="ADAL" clId="{DBE6AE06-8A19-4775-ACB1-AE430F641707}" dt="2026-03-01T10:57:02.019" v="100" actId="478"/>
          <ac:spMkLst>
            <pc:docMk/>
            <pc:sldMk cId="3837174642" sldId="382"/>
            <ac:spMk id="4" creationId="{487C8374-00CC-EEA6-1ABF-5C251C7B6922}"/>
          </ac:spMkLst>
        </pc:spChg>
      </pc:sldChg>
      <pc:sldChg chg="addSp delSp modSp mod">
        <pc:chgData name="Bouguelia, Mohamed-Rafik" userId="00bc7f6e-a0e5-4ad5-89ae-da5f23f57430" providerId="ADAL" clId="{DBE6AE06-8A19-4775-ACB1-AE430F641707}" dt="2026-03-01T10:47:19.841" v="87" actId="478"/>
        <pc:sldMkLst>
          <pc:docMk/>
          <pc:sldMk cId="2438914492" sldId="383"/>
        </pc:sldMkLst>
        <pc:spChg chg="mod">
          <ac:chgData name="Bouguelia, Mohamed-Rafik" userId="00bc7f6e-a0e5-4ad5-89ae-da5f23f57430" providerId="ADAL" clId="{DBE6AE06-8A19-4775-ACB1-AE430F641707}" dt="2026-03-01T10:45:41.743" v="76" actId="20577"/>
          <ac:spMkLst>
            <pc:docMk/>
            <pc:sldMk cId="2438914492" sldId="383"/>
            <ac:spMk id="8" creationId="{A929E417-9E01-5D2B-2B25-0926DF4E4A46}"/>
          </ac:spMkLst>
        </pc:spChg>
        <pc:spChg chg="add del mod">
          <ac:chgData name="Bouguelia, Mohamed-Rafik" userId="00bc7f6e-a0e5-4ad5-89ae-da5f23f57430" providerId="ADAL" clId="{DBE6AE06-8A19-4775-ACB1-AE430F641707}" dt="2026-03-01T10:46:12.461" v="77" actId="478"/>
          <ac:spMkLst>
            <pc:docMk/>
            <pc:sldMk cId="2438914492" sldId="383"/>
            <ac:spMk id="9" creationId="{D813454A-7D10-1EBE-B58D-925880C98399}"/>
          </ac:spMkLst>
        </pc:spChg>
        <pc:spChg chg="del">
          <ac:chgData name="Bouguelia, Mohamed-Rafik" userId="00bc7f6e-a0e5-4ad5-89ae-da5f23f57430" providerId="ADAL" clId="{DBE6AE06-8A19-4775-ACB1-AE430F641707}" dt="2026-03-01T10:46:37.982" v="82" actId="478"/>
          <ac:spMkLst>
            <pc:docMk/>
            <pc:sldMk cId="2438914492" sldId="383"/>
            <ac:spMk id="10" creationId="{52A8EF6F-7310-636D-AC15-3E940B53F6CC}"/>
          </ac:spMkLst>
        </pc:spChg>
        <pc:spChg chg="del">
          <ac:chgData name="Bouguelia, Mohamed-Rafik" userId="00bc7f6e-a0e5-4ad5-89ae-da5f23f57430" providerId="ADAL" clId="{DBE6AE06-8A19-4775-ACB1-AE430F641707}" dt="2026-03-01T10:46:37.982" v="82" actId="478"/>
          <ac:spMkLst>
            <pc:docMk/>
            <pc:sldMk cId="2438914492" sldId="383"/>
            <ac:spMk id="11" creationId="{52D81B9C-FB73-42A8-561E-E2B47FE9E89E}"/>
          </ac:spMkLst>
        </pc:spChg>
        <pc:spChg chg="del">
          <ac:chgData name="Bouguelia, Mohamed-Rafik" userId="00bc7f6e-a0e5-4ad5-89ae-da5f23f57430" providerId="ADAL" clId="{DBE6AE06-8A19-4775-ACB1-AE430F641707}" dt="2026-03-01T10:46:12.461" v="77" actId="478"/>
          <ac:spMkLst>
            <pc:docMk/>
            <pc:sldMk cId="2438914492" sldId="383"/>
            <ac:spMk id="12" creationId="{D4D01189-CCED-BF7F-CB49-6427F3E664E0}"/>
          </ac:spMkLst>
        </pc:spChg>
        <pc:spChg chg="del">
          <ac:chgData name="Bouguelia, Mohamed-Rafik" userId="00bc7f6e-a0e5-4ad5-89ae-da5f23f57430" providerId="ADAL" clId="{DBE6AE06-8A19-4775-ACB1-AE430F641707}" dt="2026-03-01T10:47:19.841" v="87" actId="478"/>
          <ac:spMkLst>
            <pc:docMk/>
            <pc:sldMk cId="2438914492" sldId="383"/>
            <ac:spMk id="14" creationId="{C15F9533-DCF9-EF59-BBD8-E40A1E2DC8C5}"/>
          </ac:spMkLst>
        </pc:spChg>
        <pc:spChg chg="del">
          <ac:chgData name="Bouguelia, Mohamed-Rafik" userId="00bc7f6e-a0e5-4ad5-89ae-da5f23f57430" providerId="ADAL" clId="{DBE6AE06-8A19-4775-ACB1-AE430F641707}" dt="2026-03-01T10:47:19.841" v="87" actId="478"/>
          <ac:spMkLst>
            <pc:docMk/>
            <pc:sldMk cId="2438914492" sldId="383"/>
            <ac:spMk id="15" creationId="{8A99ED44-91E1-09B5-57C4-BDCB5546929E}"/>
          </ac:spMkLst>
        </pc:spChg>
        <pc:spChg chg="del">
          <ac:chgData name="Bouguelia, Mohamed-Rafik" userId="00bc7f6e-a0e5-4ad5-89ae-da5f23f57430" providerId="ADAL" clId="{DBE6AE06-8A19-4775-ACB1-AE430F641707}" dt="2026-03-01T10:47:19.841" v="87" actId="478"/>
          <ac:spMkLst>
            <pc:docMk/>
            <pc:sldMk cId="2438914492" sldId="383"/>
            <ac:spMk id="16" creationId="{ED1B914D-D78A-3D21-D7E2-DAF89520CBA7}"/>
          </ac:spMkLst>
        </pc:spChg>
        <pc:graphicFrameChg chg="mod modGraphic">
          <ac:chgData name="Bouguelia, Mohamed-Rafik" userId="00bc7f6e-a0e5-4ad5-89ae-da5f23f57430" providerId="ADAL" clId="{DBE6AE06-8A19-4775-ACB1-AE430F641707}" dt="2026-03-01T10:47:10.872" v="86"/>
          <ac:graphicFrameMkLst>
            <pc:docMk/>
            <pc:sldMk cId="2438914492" sldId="383"/>
            <ac:graphicFrameMk id="3" creationId="{578F499C-4C6C-C6C1-D535-AC7AE4CEE99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Q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60F4D4-3C64-4B4D-8E47-1F59646D82F5}" type="datetimeFigureOut">
              <a:rPr lang="en-QA" smtClean="0"/>
              <a:t>03/01/2026</a:t>
            </a:fld>
            <a:endParaRPr lang="en-Q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Q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Q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6C37B3-B5CB-3542-B03C-A77F9192285E}" type="slidenum">
              <a:rPr lang="en-QA" smtClean="0"/>
              <a:t>‹#›</a:t>
            </a:fld>
            <a:endParaRPr lang="en-QA"/>
          </a:p>
        </p:txBody>
      </p:sp>
    </p:spTree>
    <p:extLst>
      <p:ext uri="{BB962C8B-B14F-4D97-AF65-F5344CB8AC3E}">
        <p14:creationId xmlns:p14="http://schemas.microsoft.com/office/powerpoint/2010/main" val="3315381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QA" dirty="0"/>
          </a:p>
        </p:txBody>
      </p:sp>
      <p:sp>
        <p:nvSpPr>
          <p:cNvPr id="4" name="Slide Number Placeholder 3"/>
          <p:cNvSpPr>
            <a:spLocks noGrp="1"/>
          </p:cNvSpPr>
          <p:nvPr>
            <p:ph type="sldNum" sz="quarter" idx="5"/>
          </p:nvPr>
        </p:nvSpPr>
        <p:spPr/>
        <p:txBody>
          <a:bodyPr/>
          <a:lstStyle/>
          <a:p>
            <a:fld id="{E26C37B3-B5CB-3542-B03C-A77F9192285E}" type="slidenum">
              <a:rPr lang="en-QA" smtClean="0"/>
              <a:t>6</a:t>
            </a:fld>
            <a:endParaRPr lang="en-QA"/>
          </a:p>
        </p:txBody>
      </p:sp>
    </p:spTree>
    <p:extLst>
      <p:ext uri="{BB962C8B-B14F-4D97-AF65-F5344CB8AC3E}">
        <p14:creationId xmlns:p14="http://schemas.microsoft.com/office/powerpoint/2010/main" val="1449299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48CCB3-00AB-336A-89B3-174046980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2A2BC-053D-F2DF-7297-6F97B03D51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1802B5-97F0-519F-F941-F1E25B559C9F}"/>
              </a:ext>
            </a:extLst>
          </p:cNvPr>
          <p:cNvSpPr>
            <a:spLocks noGrp="1"/>
          </p:cNvSpPr>
          <p:nvPr>
            <p:ph type="body" idx="1"/>
          </p:nvPr>
        </p:nvSpPr>
        <p:spPr/>
        <p:txBody>
          <a:bodyPr/>
          <a:lstStyle/>
          <a:p>
            <a:endParaRPr lang="en-QA" dirty="0"/>
          </a:p>
        </p:txBody>
      </p:sp>
      <p:sp>
        <p:nvSpPr>
          <p:cNvPr id="4" name="Slide Number Placeholder 3">
            <a:extLst>
              <a:ext uri="{FF2B5EF4-FFF2-40B4-BE49-F238E27FC236}">
                <a16:creationId xmlns:a16="http://schemas.microsoft.com/office/drawing/2014/main" id="{1B48BCCF-7947-A0D8-D0F4-75DFF2EBF76D}"/>
              </a:ext>
            </a:extLst>
          </p:cNvPr>
          <p:cNvSpPr>
            <a:spLocks noGrp="1"/>
          </p:cNvSpPr>
          <p:nvPr>
            <p:ph type="sldNum" sz="quarter" idx="5"/>
          </p:nvPr>
        </p:nvSpPr>
        <p:spPr/>
        <p:txBody>
          <a:bodyPr/>
          <a:lstStyle/>
          <a:p>
            <a:fld id="{E26C37B3-B5CB-3542-B03C-A77F9192285E}" type="slidenum">
              <a:rPr lang="en-QA" smtClean="0"/>
              <a:t>7</a:t>
            </a:fld>
            <a:endParaRPr lang="en-QA"/>
          </a:p>
        </p:txBody>
      </p:sp>
    </p:spTree>
    <p:extLst>
      <p:ext uri="{BB962C8B-B14F-4D97-AF65-F5344CB8AC3E}">
        <p14:creationId xmlns:p14="http://schemas.microsoft.com/office/powerpoint/2010/main" val="163277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9097-C178-4BC0-A032-35AB5AE7A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D5E6B-2AF8-06F0-EC56-2B5D214578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AFD566-4CFF-162D-2A98-6A2E3263161F}"/>
              </a:ext>
            </a:extLst>
          </p:cNvPr>
          <p:cNvSpPr>
            <a:spLocks noGrp="1"/>
          </p:cNvSpPr>
          <p:nvPr>
            <p:ph type="body" idx="1"/>
          </p:nvPr>
        </p:nvSpPr>
        <p:spPr/>
        <p:txBody>
          <a:bodyPr/>
          <a:lstStyle/>
          <a:p>
            <a:endParaRPr lang="en-QA" dirty="0"/>
          </a:p>
        </p:txBody>
      </p:sp>
      <p:sp>
        <p:nvSpPr>
          <p:cNvPr id="4" name="Slide Number Placeholder 3">
            <a:extLst>
              <a:ext uri="{FF2B5EF4-FFF2-40B4-BE49-F238E27FC236}">
                <a16:creationId xmlns:a16="http://schemas.microsoft.com/office/drawing/2014/main" id="{77681C46-35CC-C9BB-AFD8-C71CD03A8A62}"/>
              </a:ext>
            </a:extLst>
          </p:cNvPr>
          <p:cNvSpPr>
            <a:spLocks noGrp="1"/>
          </p:cNvSpPr>
          <p:nvPr>
            <p:ph type="sldNum" sz="quarter" idx="5"/>
          </p:nvPr>
        </p:nvSpPr>
        <p:spPr/>
        <p:txBody>
          <a:bodyPr/>
          <a:lstStyle/>
          <a:p>
            <a:fld id="{E26C37B3-B5CB-3542-B03C-A77F9192285E}" type="slidenum">
              <a:rPr lang="en-QA" smtClean="0"/>
              <a:t>8</a:t>
            </a:fld>
            <a:endParaRPr lang="en-QA"/>
          </a:p>
        </p:txBody>
      </p:sp>
    </p:spTree>
    <p:extLst>
      <p:ext uri="{BB962C8B-B14F-4D97-AF65-F5344CB8AC3E}">
        <p14:creationId xmlns:p14="http://schemas.microsoft.com/office/powerpoint/2010/main" val="1334385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Artificial Intelligence is playing an increasingly important role in decision-making across various industries—finance, healthcare, law enforcement, and beyond. However, as AI models become more complex, especially deep learning models, they often operate as </a:t>
            </a:r>
            <a:r>
              <a:rPr lang="en-US" b="1" i="1"/>
              <a:t>black boxes</a:t>
            </a:r>
            <a:r>
              <a:rPr lang="en-US" i="1"/>
              <a:t>, making decisions that are difficult to interpret or justify.</a:t>
            </a:r>
            <a:endParaRPr lang="en-US"/>
          </a:p>
          <a:p>
            <a:r>
              <a:rPr lang="en-US" i="1"/>
              <a:t>This lack of transparency raises critical concerns. How can we trust AI decisions if we don’t understand how they are made? How can businesses ensure their AI systems comply with ethical and legal standards, such as GDPR’s 'Right to Explanation'?</a:t>
            </a:r>
            <a:endParaRPr lang="en-US"/>
          </a:p>
          <a:p>
            <a:r>
              <a:rPr lang="en-US" i="1"/>
              <a:t>This is where Explainable AI, or XAI, becomes essential. XAI aims to provide </a:t>
            </a:r>
            <a:r>
              <a:rPr lang="en-US" b="1" i="1"/>
              <a:t>insights into how AI models function</a:t>
            </a:r>
            <a:r>
              <a:rPr lang="en-US" i="1"/>
              <a:t>, helping us identify </a:t>
            </a:r>
            <a:r>
              <a:rPr lang="en-US" b="1" i="1"/>
              <a:t>bias, improve fairness, and increase user trust</a:t>
            </a:r>
            <a:r>
              <a:rPr lang="en-US" i="1"/>
              <a:t>. It is particularly important in high-stakes environments. For example, a doctor needs to understand why an AI system recommends a specific treatment, or a loan applicant deserves to know why their request was denied.</a:t>
            </a:r>
            <a:endParaRPr lang="en-US"/>
          </a:p>
          <a:p>
            <a:r>
              <a:rPr lang="en-US" i="1"/>
              <a:t>By making AI more interpretable, we enable more </a:t>
            </a:r>
            <a:r>
              <a:rPr lang="en-US" b="1" i="1"/>
              <a:t>accountable, ethical, and fair decision-making</a:t>
            </a:r>
            <a:r>
              <a:rPr lang="en-US" i="1"/>
              <a:t>, ultimately fostering </a:t>
            </a:r>
            <a:r>
              <a:rPr lang="en-US" b="1" i="1"/>
              <a:t>greater trust in AI-driven systems</a:t>
            </a:r>
            <a:r>
              <a:rPr lang="en-US" i="1"/>
              <a:t>.</a:t>
            </a:r>
            <a:endParaRPr lang="en-US"/>
          </a:p>
          <a:p>
            <a:endParaRPr lang="en-QA" dirty="0"/>
          </a:p>
        </p:txBody>
      </p:sp>
      <p:sp>
        <p:nvSpPr>
          <p:cNvPr id="4" name="Slide Number Placeholder 3"/>
          <p:cNvSpPr>
            <a:spLocks noGrp="1"/>
          </p:cNvSpPr>
          <p:nvPr>
            <p:ph type="sldNum" sz="quarter" idx="5"/>
          </p:nvPr>
        </p:nvSpPr>
        <p:spPr/>
        <p:txBody>
          <a:bodyPr/>
          <a:lstStyle/>
          <a:p>
            <a:fld id="{E26C37B3-B5CB-3542-B03C-A77F9192285E}" type="slidenum">
              <a:rPr lang="en-QA" smtClean="0"/>
              <a:t>9</a:t>
            </a:fld>
            <a:endParaRPr lang="en-QA"/>
          </a:p>
        </p:txBody>
      </p:sp>
    </p:spTree>
    <p:extLst>
      <p:ext uri="{BB962C8B-B14F-4D97-AF65-F5344CB8AC3E}">
        <p14:creationId xmlns:p14="http://schemas.microsoft.com/office/powerpoint/2010/main" val="3025044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QA" dirty="0"/>
          </a:p>
        </p:txBody>
      </p:sp>
      <p:sp>
        <p:nvSpPr>
          <p:cNvPr id="4" name="Slide Number Placeholder 3"/>
          <p:cNvSpPr>
            <a:spLocks noGrp="1"/>
          </p:cNvSpPr>
          <p:nvPr>
            <p:ph type="sldNum" sz="quarter" idx="5"/>
          </p:nvPr>
        </p:nvSpPr>
        <p:spPr/>
        <p:txBody>
          <a:bodyPr/>
          <a:lstStyle/>
          <a:p>
            <a:fld id="{E26C37B3-B5CB-3542-B03C-A77F9192285E}" type="slidenum">
              <a:rPr lang="en-QA" smtClean="0"/>
              <a:t>11</a:t>
            </a:fld>
            <a:endParaRPr lang="en-QA"/>
          </a:p>
        </p:txBody>
      </p:sp>
    </p:spTree>
    <p:extLst>
      <p:ext uri="{BB962C8B-B14F-4D97-AF65-F5344CB8AC3E}">
        <p14:creationId xmlns:p14="http://schemas.microsoft.com/office/powerpoint/2010/main" val="2610388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1501C-2E9A-9E9E-AFEA-B65E8ACC22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DEBCD-0D83-13B8-71C3-F6C33536E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050CE-A003-3AB1-1204-64915D452835}"/>
              </a:ext>
            </a:extLst>
          </p:cNvPr>
          <p:cNvSpPr>
            <a:spLocks noGrp="1"/>
          </p:cNvSpPr>
          <p:nvPr>
            <p:ph type="body" idx="1"/>
          </p:nvPr>
        </p:nvSpPr>
        <p:spPr/>
        <p:txBody>
          <a:bodyPr/>
          <a:lstStyle/>
          <a:p>
            <a:endParaRPr lang="en-QA" dirty="0"/>
          </a:p>
        </p:txBody>
      </p:sp>
      <p:sp>
        <p:nvSpPr>
          <p:cNvPr id="4" name="Slide Number Placeholder 3">
            <a:extLst>
              <a:ext uri="{FF2B5EF4-FFF2-40B4-BE49-F238E27FC236}">
                <a16:creationId xmlns:a16="http://schemas.microsoft.com/office/drawing/2014/main" id="{91AFE79F-6836-A7CB-485F-16036140E130}"/>
              </a:ext>
            </a:extLst>
          </p:cNvPr>
          <p:cNvSpPr>
            <a:spLocks noGrp="1"/>
          </p:cNvSpPr>
          <p:nvPr>
            <p:ph type="sldNum" sz="quarter" idx="5"/>
          </p:nvPr>
        </p:nvSpPr>
        <p:spPr/>
        <p:txBody>
          <a:bodyPr/>
          <a:lstStyle/>
          <a:p>
            <a:fld id="{E26C37B3-B5CB-3542-B03C-A77F9192285E}" type="slidenum">
              <a:rPr lang="en-QA" smtClean="0"/>
              <a:t>12</a:t>
            </a:fld>
            <a:endParaRPr lang="en-QA"/>
          </a:p>
        </p:txBody>
      </p:sp>
    </p:spTree>
    <p:extLst>
      <p:ext uri="{BB962C8B-B14F-4D97-AF65-F5344CB8AC3E}">
        <p14:creationId xmlns:p14="http://schemas.microsoft.com/office/powerpoint/2010/main" val="1692347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25F63-1A63-2392-C662-FE140B6AC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D8335B-AE69-2CC7-7BCE-C4D86AC753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FDCB3-751F-549E-77A0-4E9B8D34B791}"/>
              </a:ext>
            </a:extLst>
          </p:cNvPr>
          <p:cNvSpPr>
            <a:spLocks noGrp="1"/>
          </p:cNvSpPr>
          <p:nvPr>
            <p:ph type="body" idx="1"/>
          </p:nvPr>
        </p:nvSpPr>
        <p:spPr/>
        <p:txBody>
          <a:bodyPr/>
          <a:lstStyle/>
          <a:p>
            <a:endParaRPr lang="en-QA" dirty="0"/>
          </a:p>
        </p:txBody>
      </p:sp>
      <p:sp>
        <p:nvSpPr>
          <p:cNvPr id="4" name="Slide Number Placeholder 3">
            <a:extLst>
              <a:ext uri="{FF2B5EF4-FFF2-40B4-BE49-F238E27FC236}">
                <a16:creationId xmlns:a16="http://schemas.microsoft.com/office/drawing/2014/main" id="{BC8A24A2-2211-AE4C-5917-0EAEACC7EF3C}"/>
              </a:ext>
            </a:extLst>
          </p:cNvPr>
          <p:cNvSpPr>
            <a:spLocks noGrp="1"/>
          </p:cNvSpPr>
          <p:nvPr>
            <p:ph type="sldNum" sz="quarter" idx="5"/>
          </p:nvPr>
        </p:nvSpPr>
        <p:spPr/>
        <p:txBody>
          <a:bodyPr/>
          <a:lstStyle/>
          <a:p>
            <a:fld id="{E26C37B3-B5CB-3542-B03C-A77F9192285E}" type="slidenum">
              <a:rPr lang="en-QA" smtClean="0"/>
              <a:t>13</a:t>
            </a:fld>
            <a:endParaRPr lang="en-QA"/>
          </a:p>
        </p:txBody>
      </p:sp>
    </p:spTree>
    <p:extLst>
      <p:ext uri="{BB962C8B-B14F-4D97-AF65-F5344CB8AC3E}">
        <p14:creationId xmlns:p14="http://schemas.microsoft.com/office/powerpoint/2010/main" val="4114196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9550F-B665-F046-78D0-19098CD77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917A7-688D-283D-599C-856FB849E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EB7AAF-49FD-89A1-C604-548EED26A29C}"/>
              </a:ext>
            </a:extLst>
          </p:cNvPr>
          <p:cNvSpPr>
            <a:spLocks noGrp="1"/>
          </p:cNvSpPr>
          <p:nvPr>
            <p:ph type="body" idx="1"/>
          </p:nvPr>
        </p:nvSpPr>
        <p:spPr/>
        <p:txBody>
          <a:bodyPr/>
          <a:lstStyle/>
          <a:p>
            <a:endParaRPr lang="en-QA" dirty="0"/>
          </a:p>
        </p:txBody>
      </p:sp>
      <p:sp>
        <p:nvSpPr>
          <p:cNvPr id="4" name="Slide Number Placeholder 3">
            <a:extLst>
              <a:ext uri="{FF2B5EF4-FFF2-40B4-BE49-F238E27FC236}">
                <a16:creationId xmlns:a16="http://schemas.microsoft.com/office/drawing/2014/main" id="{B4AF5B34-EFA1-AAE9-5E10-A22A367D6A34}"/>
              </a:ext>
            </a:extLst>
          </p:cNvPr>
          <p:cNvSpPr>
            <a:spLocks noGrp="1"/>
          </p:cNvSpPr>
          <p:nvPr>
            <p:ph type="sldNum" sz="quarter" idx="5"/>
          </p:nvPr>
        </p:nvSpPr>
        <p:spPr/>
        <p:txBody>
          <a:bodyPr/>
          <a:lstStyle/>
          <a:p>
            <a:fld id="{E26C37B3-B5CB-3542-B03C-A77F9192285E}" type="slidenum">
              <a:rPr lang="en-QA" smtClean="0"/>
              <a:t>14</a:t>
            </a:fld>
            <a:endParaRPr lang="en-QA"/>
          </a:p>
        </p:txBody>
      </p:sp>
    </p:spTree>
    <p:extLst>
      <p:ext uri="{BB962C8B-B14F-4D97-AF65-F5344CB8AC3E}">
        <p14:creationId xmlns:p14="http://schemas.microsoft.com/office/powerpoint/2010/main" val="1973615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FF46F-BC5B-9ABC-37B6-A36DC957E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105BC3-2C29-14B8-F750-6FA32804E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E73D2-08BE-8167-94B5-CF69FBA59AA4}"/>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F5A5A0FF-25D2-343C-C46A-7802ADF0D0BA}"/>
              </a:ext>
            </a:extLst>
          </p:cNvPr>
          <p:cNvSpPr>
            <a:spLocks noGrp="1"/>
          </p:cNvSpPr>
          <p:nvPr>
            <p:ph type="sldNum" sz="quarter" idx="5"/>
          </p:nvPr>
        </p:nvSpPr>
        <p:spPr/>
        <p:txBody>
          <a:bodyPr/>
          <a:lstStyle/>
          <a:p>
            <a:fld id="{E26C37B3-B5CB-3542-B03C-A77F9192285E}" type="slidenum">
              <a:rPr lang="en-QA" smtClean="0"/>
              <a:t>15</a:t>
            </a:fld>
            <a:endParaRPr lang="en-QA"/>
          </a:p>
        </p:txBody>
      </p:sp>
    </p:spTree>
    <p:extLst>
      <p:ext uri="{BB962C8B-B14F-4D97-AF65-F5344CB8AC3E}">
        <p14:creationId xmlns:p14="http://schemas.microsoft.com/office/powerpoint/2010/main" val="2904772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3882-0472-CBFC-9F33-8E8708FB2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EA4DD-AEC9-7418-85F1-00C72BCA5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6D6811-9553-9052-F221-54D19304ADB3}"/>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5029E111-CDDC-BFB3-7EE0-0331ADB1B706}"/>
              </a:ext>
            </a:extLst>
          </p:cNvPr>
          <p:cNvSpPr>
            <a:spLocks noGrp="1"/>
          </p:cNvSpPr>
          <p:nvPr>
            <p:ph type="sldNum" sz="quarter" idx="5"/>
          </p:nvPr>
        </p:nvSpPr>
        <p:spPr/>
        <p:txBody>
          <a:bodyPr/>
          <a:lstStyle/>
          <a:p>
            <a:fld id="{E26C37B3-B5CB-3542-B03C-A77F9192285E}" type="slidenum">
              <a:rPr lang="en-QA" smtClean="0"/>
              <a:t>16</a:t>
            </a:fld>
            <a:endParaRPr lang="en-QA"/>
          </a:p>
        </p:txBody>
      </p:sp>
    </p:spTree>
    <p:extLst>
      <p:ext uri="{BB962C8B-B14F-4D97-AF65-F5344CB8AC3E}">
        <p14:creationId xmlns:p14="http://schemas.microsoft.com/office/powerpoint/2010/main" val="422371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8F02-AFBD-D560-A573-4E858DF19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4C227A-5B40-0B50-7D6A-9F37548CB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BEF112-B265-8DB2-B00F-D3F61D36A373}"/>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4B332A74-F06C-0166-F6FB-1D1D89F00BE8}"/>
              </a:ext>
            </a:extLst>
          </p:cNvPr>
          <p:cNvSpPr>
            <a:spLocks noGrp="1"/>
          </p:cNvSpPr>
          <p:nvPr>
            <p:ph type="sldNum" sz="quarter" idx="5"/>
          </p:nvPr>
        </p:nvSpPr>
        <p:spPr/>
        <p:txBody>
          <a:bodyPr/>
          <a:lstStyle/>
          <a:p>
            <a:fld id="{E26C37B3-B5CB-3542-B03C-A77F9192285E}" type="slidenum">
              <a:rPr lang="en-QA" smtClean="0"/>
              <a:t>17</a:t>
            </a:fld>
            <a:endParaRPr lang="en-QA"/>
          </a:p>
        </p:txBody>
      </p:sp>
    </p:spTree>
    <p:extLst>
      <p:ext uri="{BB962C8B-B14F-4D97-AF65-F5344CB8AC3E}">
        <p14:creationId xmlns:p14="http://schemas.microsoft.com/office/powerpoint/2010/main" val="1155253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854A3-C403-8D7D-0A14-3DA9DB707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FB069-5715-AE36-3F0A-BADF165820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FA8E01-C629-EB32-8612-8272EB025C0B}"/>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028B3DF6-D077-43FC-2A38-0F370B89325E}"/>
              </a:ext>
            </a:extLst>
          </p:cNvPr>
          <p:cNvSpPr>
            <a:spLocks noGrp="1"/>
          </p:cNvSpPr>
          <p:nvPr>
            <p:ph type="sldNum" sz="quarter" idx="5"/>
          </p:nvPr>
        </p:nvSpPr>
        <p:spPr/>
        <p:txBody>
          <a:bodyPr/>
          <a:lstStyle/>
          <a:p>
            <a:fld id="{E26C37B3-B5CB-3542-B03C-A77F9192285E}" type="slidenum">
              <a:rPr lang="en-QA" smtClean="0"/>
              <a:t>18</a:t>
            </a:fld>
            <a:endParaRPr lang="en-QA"/>
          </a:p>
        </p:txBody>
      </p:sp>
    </p:spTree>
    <p:extLst>
      <p:ext uri="{BB962C8B-B14F-4D97-AF65-F5344CB8AC3E}">
        <p14:creationId xmlns:p14="http://schemas.microsoft.com/office/powerpoint/2010/main" val="3242262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91F9C-689F-59E7-4EDC-0396BE099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EBA47-A562-4322-B911-4B941292C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4DF9EB-2E08-6884-67BC-8EF31FAA89A8}"/>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7757FBAC-8F2A-410E-5456-DC16EE94B739}"/>
              </a:ext>
            </a:extLst>
          </p:cNvPr>
          <p:cNvSpPr>
            <a:spLocks noGrp="1"/>
          </p:cNvSpPr>
          <p:nvPr>
            <p:ph type="sldNum" sz="quarter" idx="5"/>
          </p:nvPr>
        </p:nvSpPr>
        <p:spPr/>
        <p:txBody>
          <a:bodyPr/>
          <a:lstStyle/>
          <a:p>
            <a:fld id="{E26C37B3-B5CB-3542-B03C-A77F9192285E}" type="slidenum">
              <a:rPr lang="en-QA" smtClean="0"/>
              <a:t>19</a:t>
            </a:fld>
            <a:endParaRPr lang="en-QA"/>
          </a:p>
        </p:txBody>
      </p:sp>
    </p:spTree>
    <p:extLst>
      <p:ext uri="{BB962C8B-B14F-4D97-AF65-F5344CB8AC3E}">
        <p14:creationId xmlns:p14="http://schemas.microsoft.com/office/powerpoint/2010/main" val="2232848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82CF6-BD5D-5C3C-C950-B85F640F3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07C87-CE58-791A-8DCF-ED6F388E0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FDAAD3-6A3A-DF55-0DCE-F5A020329890}"/>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F0547760-0589-9F83-BEA2-7895DFDEDABC}"/>
              </a:ext>
            </a:extLst>
          </p:cNvPr>
          <p:cNvSpPr>
            <a:spLocks noGrp="1"/>
          </p:cNvSpPr>
          <p:nvPr>
            <p:ph type="sldNum" sz="quarter" idx="5"/>
          </p:nvPr>
        </p:nvSpPr>
        <p:spPr/>
        <p:txBody>
          <a:bodyPr/>
          <a:lstStyle/>
          <a:p>
            <a:fld id="{E26C37B3-B5CB-3542-B03C-A77F9192285E}" type="slidenum">
              <a:rPr lang="en-QA" smtClean="0"/>
              <a:t>20</a:t>
            </a:fld>
            <a:endParaRPr lang="en-QA"/>
          </a:p>
        </p:txBody>
      </p:sp>
    </p:spTree>
    <p:extLst>
      <p:ext uri="{BB962C8B-B14F-4D97-AF65-F5344CB8AC3E}">
        <p14:creationId xmlns:p14="http://schemas.microsoft.com/office/powerpoint/2010/main" val="14142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16BFA-DF6F-E4FE-E46A-22B92150D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04C8B-7FBA-B70E-825D-691E5DD6FE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3386E-9943-B26C-1CB3-23BB6B55A079}"/>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B01BD9CC-AC5B-EA82-050F-9AAA8A24CD0D}"/>
              </a:ext>
            </a:extLst>
          </p:cNvPr>
          <p:cNvSpPr>
            <a:spLocks noGrp="1"/>
          </p:cNvSpPr>
          <p:nvPr>
            <p:ph type="sldNum" sz="quarter" idx="5"/>
          </p:nvPr>
        </p:nvSpPr>
        <p:spPr/>
        <p:txBody>
          <a:bodyPr/>
          <a:lstStyle/>
          <a:p>
            <a:fld id="{E26C37B3-B5CB-3542-B03C-A77F9192285E}" type="slidenum">
              <a:rPr lang="en-QA" smtClean="0"/>
              <a:t>21</a:t>
            </a:fld>
            <a:endParaRPr lang="en-QA"/>
          </a:p>
        </p:txBody>
      </p:sp>
    </p:spTree>
    <p:extLst>
      <p:ext uri="{BB962C8B-B14F-4D97-AF65-F5344CB8AC3E}">
        <p14:creationId xmlns:p14="http://schemas.microsoft.com/office/powerpoint/2010/main" val="2487506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CB1B8-92CF-A284-A77E-F59BCC144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C6559-98D9-6EE2-7545-2BCA8E547E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CE92E2-AE90-D2C7-E779-75A0DE00549B}"/>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64353312-D333-DFF1-A6D1-C16210D4FAB0}"/>
              </a:ext>
            </a:extLst>
          </p:cNvPr>
          <p:cNvSpPr>
            <a:spLocks noGrp="1"/>
          </p:cNvSpPr>
          <p:nvPr>
            <p:ph type="sldNum" sz="quarter" idx="5"/>
          </p:nvPr>
        </p:nvSpPr>
        <p:spPr/>
        <p:txBody>
          <a:bodyPr/>
          <a:lstStyle/>
          <a:p>
            <a:fld id="{E26C37B3-B5CB-3542-B03C-A77F9192285E}" type="slidenum">
              <a:rPr lang="en-QA" smtClean="0"/>
              <a:t>22</a:t>
            </a:fld>
            <a:endParaRPr lang="en-QA"/>
          </a:p>
        </p:txBody>
      </p:sp>
    </p:spTree>
    <p:extLst>
      <p:ext uri="{BB962C8B-B14F-4D97-AF65-F5344CB8AC3E}">
        <p14:creationId xmlns:p14="http://schemas.microsoft.com/office/powerpoint/2010/main" val="22872096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FFFF6-48FA-CEDD-C17A-EE05B4B38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DF723-C52D-2BA4-21D5-605EC0EEE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09AEED-2F07-A314-F04A-421CB6E4A15C}"/>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EC0AC56F-3418-50D1-1A33-B213BE6F2148}"/>
              </a:ext>
            </a:extLst>
          </p:cNvPr>
          <p:cNvSpPr>
            <a:spLocks noGrp="1"/>
          </p:cNvSpPr>
          <p:nvPr>
            <p:ph type="sldNum" sz="quarter" idx="5"/>
          </p:nvPr>
        </p:nvSpPr>
        <p:spPr/>
        <p:txBody>
          <a:bodyPr/>
          <a:lstStyle/>
          <a:p>
            <a:fld id="{E26C37B3-B5CB-3542-B03C-A77F9192285E}" type="slidenum">
              <a:rPr lang="en-QA" smtClean="0"/>
              <a:t>23</a:t>
            </a:fld>
            <a:endParaRPr lang="en-QA"/>
          </a:p>
        </p:txBody>
      </p:sp>
    </p:spTree>
    <p:extLst>
      <p:ext uri="{BB962C8B-B14F-4D97-AF65-F5344CB8AC3E}">
        <p14:creationId xmlns:p14="http://schemas.microsoft.com/office/powerpoint/2010/main" val="23815810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07A7A-B63E-FF3F-1FCD-0010A44C2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9B2EC-FFD1-90C4-8AA0-68AB0B3140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30DD6-057C-9472-5E37-674DA63E691D}"/>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1A4E8424-22DF-579C-8E3E-C5D8B7A4C5DC}"/>
              </a:ext>
            </a:extLst>
          </p:cNvPr>
          <p:cNvSpPr>
            <a:spLocks noGrp="1"/>
          </p:cNvSpPr>
          <p:nvPr>
            <p:ph type="sldNum" sz="quarter" idx="5"/>
          </p:nvPr>
        </p:nvSpPr>
        <p:spPr/>
        <p:txBody>
          <a:bodyPr/>
          <a:lstStyle/>
          <a:p>
            <a:fld id="{E26C37B3-B5CB-3542-B03C-A77F9192285E}" type="slidenum">
              <a:rPr lang="en-QA" smtClean="0"/>
              <a:t>24</a:t>
            </a:fld>
            <a:endParaRPr lang="en-QA"/>
          </a:p>
        </p:txBody>
      </p:sp>
    </p:spTree>
    <p:extLst>
      <p:ext uri="{BB962C8B-B14F-4D97-AF65-F5344CB8AC3E}">
        <p14:creationId xmlns:p14="http://schemas.microsoft.com/office/powerpoint/2010/main" val="1390882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C67C3-E14F-6F8A-F3FA-A516B4345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E2FE6-E9DD-A136-E8D7-77387701D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A46EE-9957-F1C6-6A98-5763779889E3}"/>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7845F9F0-3DC7-CE3D-5048-DBFA31E596E1}"/>
              </a:ext>
            </a:extLst>
          </p:cNvPr>
          <p:cNvSpPr>
            <a:spLocks noGrp="1"/>
          </p:cNvSpPr>
          <p:nvPr>
            <p:ph type="sldNum" sz="quarter" idx="5"/>
          </p:nvPr>
        </p:nvSpPr>
        <p:spPr/>
        <p:txBody>
          <a:bodyPr/>
          <a:lstStyle/>
          <a:p>
            <a:fld id="{E26C37B3-B5CB-3542-B03C-A77F9192285E}" type="slidenum">
              <a:rPr lang="en-QA" smtClean="0"/>
              <a:t>25</a:t>
            </a:fld>
            <a:endParaRPr lang="en-QA"/>
          </a:p>
        </p:txBody>
      </p:sp>
    </p:spTree>
    <p:extLst>
      <p:ext uri="{BB962C8B-B14F-4D97-AF65-F5344CB8AC3E}">
        <p14:creationId xmlns:p14="http://schemas.microsoft.com/office/powerpoint/2010/main" val="3860649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B327E-5874-1FFC-10BD-10E3051AB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B86F5-51C7-C35E-CC95-9C1248C1A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9A192-4217-F03D-31EE-30C5BFEEE268}"/>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46DE5FA4-4E6F-83AB-33E4-41B29914933D}"/>
              </a:ext>
            </a:extLst>
          </p:cNvPr>
          <p:cNvSpPr>
            <a:spLocks noGrp="1"/>
          </p:cNvSpPr>
          <p:nvPr>
            <p:ph type="sldNum" sz="quarter" idx="5"/>
          </p:nvPr>
        </p:nvSpPr>
        <p:spPr/>
        <p:txBody>
          <a:bodyPr/>
          <a:lstStyle/>
          <a:p>
            <a:fld id="{E26C37B3-B5CB-3542-B03C-A77F9192285E}" type="slidenum">
              <a:rPr lang="en-QA" smtClean="0"/>
              <a:t>26</a:t>
            </a:fld>
            <a:endParaRPr lang="en-QA"/>
          </a:p>
        </p:txBody>
      </p:sp>
    </p:spTree>
    <p:extLst>
      <p:ext uri="{BB962C8B-B14F-4D97-AF65-F5344CB8AC3E}">
        <p14:creationId xmlns:p14="http://schemas.microsoft.com/office/powerpoint/2010/main" val="2667836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9AF2A-296C-0834-29BE-E3A5D8F812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DB605-531E-D8A8-7B8D-D94A5F8BA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6243E5-E9F5-7784-2389-50776AB06FA8}"/>
              </a:ext>
            </a:extLst>
          </p:cNvPr>
          <p:cNvSpPr>
            <a:spLocks noGrp="1"/>
          </p:cNvSpPr>
          <p:nvPr>
            <p:ph type="body" idx="1"/>
          </p:nvPr>
        </p:nvSpPr>
        <p:spPr/>
        <p:txBody>
          <a:bodyPr/>
          <a:lstStyle/>
          <a:p>
            <a:endParaRPr lang="en-US" dirty="0">
              <a:solidFill>
                <a:srgbClr val="101010"/>
              </a:solidFill>
              <a:effectLst/>
              <a:latin typeface="Times"/>
            </a:endParaRPr>
          </a:p>
        </p:txBody>
      </p:sp>
      <p:sp>
        <p:nvSpPr>
          <p:cNvPr id="4" name="Slide Number Placeholder 3">
            <a:extLst>
              <a:ext uri="{FF2B5EF4-FFF2-40B4-BE49-F238E27FC236}">
                <a16:creationId xmlns:a16="http://schemas.microsoft.com/office/drawing/2014/main" id="{7213464C-B080-DA04-ED6E-44EEB77D6D9A}"/>
              </a:ext>
            </a:extLst>
          </p:cNvPr>
          <p:cNvSpPr>
            <a:spLocks noGrp="1"/>
          </p:cNvSpPr>
          <p:nvPr>
            <p:ph type="sldNum" sz="quarter" idx="5"/>
          </p:nvPr>
        </p:nvSpPr>
        <p:spPr/>
        <p:txBody>
          <a:bodyPr/>
          <a:lstStyle/>
          <a:p>
            <a:fld id="{E26C37B3-B5CB-3542-B03C-A77F9192285E}" type="slidenum">
              <a:rPr lang="en-QA" smtClean="0"/>
              <a:t>27</a:t>
            </a:fld>
            <a:endParaRPr lang="en-QA"/>
          </a:p>
        </p:txBody>
      </p:sp>
    </p:spTree>
    <p:extLst>
      <p:ext uri="{BB962C8B-B14F-4D97-AF65-F5344CB8AC3E}">
        <p14:creationId xmlns:p14="http://schemas.microsoft.com/office/powerpoint/2010/main" val="682565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5810E-ED16-7A5C-54E6-3563F31482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QA"/>
          </a:p>
        </p:txBody>
      </p:sp>
      <p:sp>
        <p:nvSpPr>
          <p:cNvPr id="3" name="Subtitle 2">
            <a:extLst>
              <a:ext uri="{FF2B5EF4-FFF2-40B4-BE49-F238E27FC236}">
                <a16:creationId xmlns:a16="http://schemas.microsoft.com/office/drawing/2014/main" id="{B4F3A26B-119B-B6A9-53E5-5D6642BCFC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QA"/>
          </a:p>
        </p:txBody>
      </p:sp>
      <p:sp>
        <p:nvSpPr>
          <p:cNvPr id="4" name="Date Placeholder 3">
            <a:extLst>
              <a:ext uri="{FF2B5EF4-FFF2-40B4-BE49-F238E27FC236}">
                <a16:creationId xmlns:a16="http://schemas.microsoft.com/office/drawing/2014/main" id="{09C167B0-3ABD-0C96-6599-0F4FECE34A90}"/>
              </a:ext>
            </a:extLst>
          </p:cNvPr>
          <p:cNvSpPr>
            <a:spLocks noGrp="1"/>
          </p:cNvSpPr>
          <p:nvPr>
            <p:ph type="dt" sz="half" idx="10"/>
          </p:nvPr>
        </p:nvSpPr>
        <p:spPr/>
        <p:txBody>
          <a:bodyPr/>
          <a:lstStyle/>
          <a:p>
            <a:fld id="{925726D2-C8C0-5042-9B00-7D8B3BF71654}" type="datetime1">
              <a:rPr lang="en-US" smtClean="0"/>
              <a:t>3/1/2026</a:t>
            </a:fld>
            <a:endParaRPr lang="en-QA"/>
          </a:p>
        </p:txBody>
      </p:sp>
      <p:sp>
        <p:nvSpPr>
          <p:cNvPr id="5" name="Footer Placeholder 4">
            <a:extLst>
              <a:ext uri="{FF2B5EF4-FFF2-40B4-BE49-F238E27FC236}">
                <a16:creationId xmlns:a16="http://schemas.microsoft.com/office/drawing/2014/main" id="{32702E67-42F2-86B4-3BB3-5986CFCDE22F}"/>
              </a:ext>
            </a:extLst>
          </p:cNvPr>
          <p:cNvSpPr>
            <a:spLocks noGrp="1"/>
          </p:cNvSpPr>
          <p:nvPr>
            <p:ph type="ftr" sz="quarter" idx="11"/>
          </p:nvPr>
        </p:nvSpPr>
        <p:spPr/>
        <p:txBody>
          <a:body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5C388673-8DDA-F36D-2FA9-633E6D6E52A7}"/>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3224898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85AC-FA98-351D-F10E-651CA2AACA8D}"/>
              </a:ext>
            </a:extLst>
          </p:cNvPr>
          <p:cNvSpPr>
            <a:spLocks noGrp="1"/>
          </p:cNvSpPr>
          <p:nvPr>
            <p:ph type="title"/>
          </p:nvPr>
        </p:nvSpPr>
        <p:spPr/>
        <p:txBody>
          <a:bodyPr/>
          <a:lstStyle/>
          <a:p>
            <a:r>
              <a:rPr lang="en-US"/>
              <a:t>Click to edit Master title style</a:t>
            </a:r>
            <a:endParaRPr lang="en-QA"/>
          </a:p>
        </p:txBody>
      </p:sp>
      <p:sp>
        <p:nvSpPr>
          <p:cNvPr id="3" name="Content Placeholder 2">
            <a:extLst>
              <a:ext uri="{FF2B5EF4-FFF2-40B4-BE49-F238E27FC236}">
                <a16:creationId xmlns:a16="http://schemas.microsoft.com/office/drawing/2014/main" id="{45D60674-E16B-4096-83C9-C60D7C618F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C5C52458-2E81-B0F1-C6B9-5808DA111AE5}"/>
              </a:ext>
            </a:extLst>
          </p:cNvPr>
          <p:cNvSpPr>
            <a:spLocks noGrp="1"/>
          </p:cNvSpPr>
          <p:nvPr>
            <p:ph type="dt" sz="half" idx="10"/>
          </p:nvPr>
        </p:nvSpPr>
        <p:spPr/>
        <p:txBody>
          <a:bodyPr/>
          <a:lstStyle/>
          <a:p>
            <a:fld id="{B571A81F-F4CC-1D4E-9794-8673028E8BC1}" type="datetime1">
              <a:rPr lang="en-US" smtClean="0"/>
              <a:t>3/1/2026</a:t>
            </a:fld>
            <a:endParaRPr lang="en-QA"/>
          </a:p>
        </p:txBody>
      </p:sp>
      <p:sp>
        <p:nvSpPr>
          <p:cNvPr id="5" name="Footer Placeholder 4">
            <a:extLst>
              <a:ext uri="{FF2B5EF4-FFF2-40B4-BE49-F238E27FC236}">
                <a16:creationId xmlns:a16="http://schemas.microsoft.com/office/drawing/2014/main" id="{D14299AD-500A-311A-7A9C-863E4CCB4839}"/>
              </a:ext>
            </a:extLst>
          </p:cNvPr>
          <p:cNvSpPr>
            <a:spLocks noGrp="1"/>
          </p:cNvSpPr>
          <p:nvPr>
            <p:ph type="ftr" sz="quarter" idx="11"/>
          </p:nvPr>
        </p:nvSpPr>
        <p:spPr/>
        <p:txBody>
          <a:body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3F1C7E12-B60E-A8CE-88C4-FB71BEC4B703}"/>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4123462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1DA28-4A15-F311-6272-A3267E4049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QA"/>
          </a:p>
        </p:txBody>
      </p:sp>
      <p:sp>
        <p:nvSpPr>
          <p:cNvPr id="3" name="Text Placeholder 2">
            <a:extLst>
              <a:ext uri="{FF2B5EF4-FFF2-40B4-BE49-F238E27FC236}">
                <a16:creationId xmlns:a16="http://schemas.microsoft.com/office/drawing/2014/main" id="{4EADBA13-FB04-9B20-4A5E-7AD3738D3C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F0C95-A47D-D917-B486-72D1D55B6EFD}"/>
              </a:ext>
            </a:extLst>
          </p:cNvPr>
          <p:cNvSpPr>
            <a:spLocks noGrp="1"/>
          </p:cNvSpPr>
          <p:nvPr>
            <p:ph type="dt" sz="half" idx="10"/>
          </p:nvPr>
        </p:nvSpPr>
        <p:spPr/>
        <p:txBody>
          <a:bodyPr/>
          <a:lstStyle/>
          <a:p>
            <a:fld id="{4DD3FC7A-7AAD-8745-9E27-7124DC23D2F0}" type="datetime1">
              <a:rPr lang="en-US" smtClean="0"/>
              <a:t>3/1/2026</a:t>
            </a:fld>
            <a:endParaRPr lang="en-QA"/>
          </a:p>
        </p:txBody>
      </p:sp>
      <p:sp>
        <p:nvSpPr>
          <p:cNvPr id="5" name="Footer Placeholder 4">
            <a:extLst>
              <a:ext uri="{FF2B5EF4-FFF2-40B4-BE49-F238E27FC236}">
                <a16:creationId xmlns:a16="http://schemas.microsoft.com/office/drawing/2014/main" id="{69D49988-1BD1-C6ED-5862-5BBA8C3A9966}"/>
              </a:ext>
            </a:extLst>
          </p:cNvPr>
          <p:cNvSpPr>
            <a:spLocks noGrp="1"/>
          </p:cNvSpPr>
          <p:nvPr>
            <p:ph type="ftr" sz="quarter" idx="11"/>
          </p:nvPr>
        </p:nvSpPr>
        <p:spPr/>
        <p:txBody>
          <a:body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9E70BD77-022A-D9B7-4B53-1BE07045A557}"/>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358419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7CFC3-C8C8-111F-58FF-4BCBB4E78392}"/>
              </a:ext>
            </a:extLst>
          </p:cNvPr>
          <p:cNvSpPr>
            <a:spLocks noGrp="1"/>
          </p:cNvSpPr>
          <p:nvPr>
            <p:ph type="title"/>
          </p:nvPr>
        </p:nvSpPr>
        <p:spPr/>
        <p:txBody>
          <a:bodyPr/>
          <a:lstStyle/>
          <a:p>
            <a:r>
              <a:rPr lang="en-US"/>
              <a:t>Click to edit Master title style</a:t>
            </a:r>
            <a:endParaRPr lang="en-QA"/>
          </a:p>
        </p:txBody>
      </p:sp>
      <p:sp>
        <p:nvSpPr>
          <p:cNvPr id="3" name="Content Placeholder 2">
            <a:extLst>
              <a:ext uri="{FF2B5EF4-FFF2-40B4-BE49-F238E27FC236}">
                <a16:creationId xmlns:a16="http://schemas.microsoft.com/office/drawing/2014/main" id="{EA42A6E6-ABB8-FBCD-7DBD-EBFD8A3A94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Content Placeholder 3">
            <a:extLst>
              <a:ext uri="{FF2B5EF4-FFF2-40B4-BE49-F238E27FC236}">
                <a16:creationId xmlns:a16="http://schemas.microsoft.com/office/drawing/2014/main" id="{E6CD96E7-BEBF-0B44-E702-03006760A0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5" name="Date Placeholder 4">
            <a:extLst>
              <a:ext uri="{FF2B5EF4-FFF2-40B4-BE49-F238E27FC236}">
                <a16:creationId xmlns:a16="http://schemas.microsoft.com/office/drawing/2014/main" id="{939AC03A-7029-8E49-A159-D249DD48E11D}"/>
              </a:ext>
            </a:extLst>
          </p:cNvPr>
          <p:cNvSpPr>
            <a:spLocks noGrp="1"/>
          </p:cNvSpPr>
          <p:nvPr>
            <p:ph type="dt" sz="half" idx="10"/>
          </p:nvPr>
        </p:nvSpPr>
        <p:spPr/>
        <p:txBody>
          <a:bodyPr/>
          <a:lstStyle/>
          <a:p>
            <a:fld id="{B8741262-FC1A-F346-8012-09A579796220}" type="datetime1">
              <a:rPr lang="en-US" smtClean="0"/>
              <a:t>3/1/2026</a:t>
            </a:fld>
            <a:endParaRPr lang="en-QA"/>
          </a:p>
        </p:txBody>
      </p:sp>
      <p:sp>
        <p:nvSpPr>
          <p:cNvPr id="6" name="Footer Placeholder 5">
            <a:extLst>
              <a:ext uri="{FF2B5EF4-FFF2-40B4-BE49-F238E27FC236}">
                <a16:creationId xmlns:a16="http://schemas.microsoft.com/office/drawing/2014/main" id="{D16FCD6E-5B2F-925A-81C2-809302C04ECD}"/>
              </a:ext>
            </a:extLst>
          </p:cNvPr>
          <p:cNvSpPr>
            <a:spLocks noGrp="1"/>
          </p:cNvSpPr>
          <p:nvPr>
            <p:ph type="ftr" sz="quarter" idx="11"/>
          </p:nvPr>
        </p:nvSpPr>
        <p:spPr/>
        <p:txBody>
          <a:bodyPr/>
          <a:lstStyle/>
          <a:p>
            <a:r>
              <a:rPr lang="en-US"/>
              <a:t>DSAI 4201 - Selected Topics in Data Science</a:t>
            </a:r>
            <a:endParaRPr lang="en-QA"/>
          </a:p>
        </p:txBody>
      </p:sp>
      <p:sp>
        <p:nvSpPr>
          <p:cNvPr id="7" name="Slide Number Placeholder 6">
            <a:extLst>
              <a:ext uri="{FF2B5EF4-FFF2-40B4-BE49-F238E27FC236}">
                <a16:creationId xmlns:a16="http://schemas.microsoft.com/office/drawing/2014/main" id="{79BC2102-7D88-A8D4-224C-9D15C23BF6E8}"/>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2614367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B9D08-3881-398B-5603-A536FD3033E3}"/>
              </a:ext>
            </a:extLst>
          </p:cNvPr>
          <p:cNvSpPr>
            <a:spLocks noGrp="1"/>
          </p:cNvSpPr>
          <p:nvPr>
            <p:ph type="title"/>
          </p:nvPr>
        </p:nvSpPr>
        <p:spPr>
          <a:xfrm>
            <a:off x="839788" y="365125"/>
            <a:ext cx="10515600" cy="1325563"/>
          </a:xfrm>
        </p:spPr>
        <p:txBody>
          <a:bodyPr/>
          <a:lstStyle/>
          <a:p>
            <a:r>
              <a:rPr lang="en-US"/>
              <a:t>Click to edit Master title style</a:t>
            </a:r>
            <a:endParaRPr lang="en-QA"/>
          </a:p>
        </p:txBody>
      </p:sp>
      <p:sp>
        <p:nvSpPr>
          <p:cNvPr id="3" name="Text Placeholder 2">
            <a:extLst>
              <a:ext uri="{FF2B5EF4-FFF2-40B4-BE49-F238E27FC236}">
                <a16:creationId xmlns:a16="http://schemas.microsoft.com/office/drawing/2014/main" id="{1CD8E293-D9CB-D3B6-2D20-8BC9ED558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3E160D-2143-CB2C-7AC8-9C51694B74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5" name="Text Placeholder 4">
            <a:extLst>
              <a:ext uri="{FF2B5EF4-FFF2-40B4-BE49-F238E27FC236}">
                <a16:creationId xmlns:a16="http://schemas.microsoft.com/office/drawing/2014/main" id="{AB7221FE-7FB2-9EE1-0796-5640648B3A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19AFE2-E42F-BD78-B8AC-2999033B6E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7" name="Date Placeholder 6">
            <a:extLst>
              <a:ext uri="{FF2B5EF4-FFF2-40B4-BE49-F238E27FC236}">
                <a16:creationId xmlns:a16="http://schemas.microsoft.com/office/drawing/2014/main" id="{29DF877B-2DF5-9989-A37C-16A7490CE4C9}"/>
              </a:ext>
            </a:extLst>
          </p:cNvPr>
          <p:cNvSpPr>
            <a:spLocks noGrp="1"/>
          </p:cNvSpPr>
          <p:nvPr>
            <p:ph type="dt" sz="half" idx="10"/>
          </p:nvPr>
        </p:nvSpPr>
        <p:spPr/>
        <p:txBody>
          <a:bodyPr/>
          <a:lstStyle/>
          <a:p>
            <a:fld id="{562FDFEC-6A13-3441-A104-442D04464F5F}" type="datetime1">
              <a:rPr lang="en-US" smtClean="0"/>
              <a:t>3/1/2026</a:t>
            </a:fld>
            <a:endParaRPr lang="en-QA"/>
          </a:p>
        </p:txBody>
      </p:sp>
      <p:sp>
        <p:nvSpPr>
          <p:cNvPr id="8" name="Footer Placeholder 7">
            <a:extLst>
              <a:ext uri="{FF2B5EF4-FFF2-40B4-BE49-F238E27FC236}">
                <a16:creationId xmlns:a16="http://schemas.microsoft.com/office/drawing/2014/main" id="{E2AB9E29-95F7-1509-DD74-B459E465EB53}"/>
              </a:ext>
            </a:extLst>
          </p:cNvPr>
          <p:cNvSpPr>
            <a:spLocks noGrp="1"/>
          </p:cNvSpPr>
          <p:nvPr>
            <p:ph type="ftr" sz="quarter" idx="11"/>
          </p:nvPr>
        </p:nvSpPr>
        <p:spPr/>
        <p:txBody>
          <a:bodyPr/>
          <a:lstStyle/>
          <a:p>
            <a:r>
              <a:rPr lang="en-US"/>
              <a:t>DSAI 4201 - Selected Topics in Data Science</a:t>
            </a:r>
            <a:endParaRPr lang="en-QA"/>
          </a:p>
        </p:txBody>
      </p:sp>
      <p:sp>
        <p:nvSpPr>
          <p:cNvPr id="9" name="Slide Number Placeholder 8">
            <a:extLst>
              <a:ext uri="{FF2B5EF4-FFF2-40B4-BE49-F238E27FC236}">
                <a16:creationId xmlns:a16="http://schemas.microsoft.com/office/drawing/2014/main" id="{29C54E79-E5A9-3B01-57DC-B5A807B4CDC0}"/>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3652075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D210F-4ECC-565F-EC89-3E5E6E30AA4B}"/>
              </a:ext>
            </a:extLst>
          </p:cNvPr>
          <p:cNvSpPr>
            <a:spLocks noGrp="1"/>
          </p:cNvSpPr>
          <p:nvPr>
            <p:ph type="title"/>
          </p:nvPr>
        </p:nvSpPr>
        <p:spPr/>
        <p:txBody>
          <a:bodyPr/>
          <a:lstStyle/>
          <a:p>
            <a:r>
              <a:rPr lang="en-US"/>
              <a:t>Click to edit Master title style</a:t>
            </a:r>
            <a:endParaRPr lang="en-QA"/>
          </a:p>
        </p:txBody>
      </p:sp>
      <p:sp>
        <p:nvSpPr>
          <p:cNvPr id="3" name="Date Placeholder 2">
            <a:extLst>
              <a:ext uri="{FF2B5EF4-FFF2-40B4-BE49-F238E27FC236}">
                <a16:creationId xmlns:a16="http://schemas.microsoft.com/office/drawing/2014/main" id="{B68AD652-69E2-3F3A-DE04-09A3308D6B29}"/>
              </a:ext>
            </a:extLst>
          </p:cNvPr>
          <p:cNvSpPr>
            <a:spLocks noGrp="1"/>
          </p:cNvSpPr>
          <p:nvPr>
            <p:ph type="dt" sz="half" idx="10"/>
          </p:nvPr>
        </p:nvSpPr>
        <p:spPr/>
        <p:txBody>
          <a:bodyPr/>
          <a:lstStyle/>
          <a:p>
            <a:fld id="{D49B7A33-677D-D646-A174-18F03F5C01E2}" type="datetime1">
              <a:rPr lang="en-US" smtClean="0"/>
              <a:t>3/1/2026</a:t>
            </a:fld>
            <a:endParaRPr lang="en-QA"/>
          </a:p>
        </p:txBody>
      </p:sp>
      <p:sp>
        <p:nvSpPr>
          <p:cNvPr id="4" name="Footer Placeholder 3">
            <a:extLst>
              <a:ext uri="{FF2B5EF4-FFF2-40B4-BE49-F238E27FC236}">
                <a16:creationId xmlns:a16="http://schemas.microsoft.com/office/drawing/2014/main" id="{BC1C56F8-623B-5DDF-7FA9-2D2CB427FE8D}"/>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762A13E5-3E1A-1937-8B03-47A07A4DEFB2}"/>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3395880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8576A4-B0EF-B3BE-C4FE-5B8E4F45AA85}"/>
              </a:ext>
            </a:extLst>
          </p:cNvPr>
          <p:cNvSpPr>
            <a:spLocks noGrp="1"/>
          </p:cNvSpPr>
          <p:nvPr>
            <p:ph type="dt" sz="half" idx="10"/>
          </p:nvPr>
        </p:nvSpPr>
        <p:spPr/>
        <p:txBody>
          <a:bodyPr/>
          <a:lstStyle/>
          <a:p>
            <a:fld id="{D7B263C3-8BFD-BA45-ABCD-36CAEDD04561}" type="datetime1">
              <a:rPr lang="en-US" smtClean="0"/>
              <a:t>3/1/2026</a:t>
            </a:fld>
            <a:endParaRPr lang="en-QA"/>
          </a:p>
        </p:txBody>
      </p:sp>
      <p:sp>
        <p:nvSpPr>
          <p:cNvPr id="3" name="Footer Placeholder 2">
            <a:extLst>
              <a:ext uri="{FF2B5EF4-FFF2-40B4-BE49-F238E27FC236}">
                <a16:creationId xmlns:a16="http://schemas.microsoft.com/office/drawing/2014/main" id="{C0B1B55F-CA8F-E338-D6EB-677225663F2B}"/>
              </a:ext>
            </a:extLst>
          </p:cNvPr>
          <p:cNvSpPr>
            <a:spLocks noGrp="1"/>
          </p:cNvSpPr>
          <p:nvPr>
            <p:ph type="ftr" sz="quarter" idx="11"/>
          </p:nvPr>
        </p:nvSpPr>
        <p:spPr/>
        <p:txBody>
          <a:bodyPr/>
          <a:lstStyle/>
          <a:p>
            <a:r>
              <a:rPr lang="en-US"/>
              <a:t>DSAI 4201 - Selected Topics in Data Science</a:t>
            </a:r>
            <a:endParaRPr lang="en-QA"/>
          </a:p>
        </p:txBody>
      </p:sp>
      <p:sp>
        <p:nvSpPr>
          <p:cNvPr id="4" name="Slide Number Placeholder 3">
            <a:extLst>
              <a:ext uri="{FF2B5EF4-FFF2-40B4-BE49-F238E27FC236}">
                <a16:creationId xmlns:a16="http://schemas.microsoft.com/office/drawing/2014/main" id="{337523C9-9ACF-88B1-CD87-153133C343D6}"/>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4054514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0FB25-9192-CC2F-B95F-346BE595A8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QA"/>
          </a:p>
        </p:txBody>
      </p:sp>
      <p:sp>
        <p:nvSpPr>
          <p:cNvPr id="3" name="Content Placeholder 2">
            <a:extLst>
              <a:ext uri="{FF2B5EF4-FFF2-40B4-BE49-F238E27FC236}">
                <a16:creationId xmlns:a16="http://schemas.microsoft.com/office/drawing/2014/main" id="{98219A6F-0F99-9170-052B-50E3EDF4EE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Text Placeholder 3">
            <a:extLst>
              <a:ext uri="{FF2B5EF4-FFF2-40B4-BE49-F238E27FC236}">
                <a16:creationId xmlns:a16="http://schemas.microsoft.com/office/drawing/2014/main" id="{330AA680-B870-A80E-1F97-8BAA400098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6A5144-4A5B-7138-8F33-61545C075955}"/>
              </a:ext>
            </a:extLst>
          </p:cNvPr>
          <p:cNvSpPr>
            <a:spLocks noGrp="1"/>
          </p:cNvSpPr>
          <p:nvPr>
            <p:ph type="dt" sz="half" idx="10"/>
          </p:nvPr>
        </p:nvSpPr>
        <p:spPr/>
        <p:txBody>
          <a:bodyPr/>
          <a:lstStyle/>
          <a:p>
            <a:fld id="{77A03587-2B69-104C-9AC5-30D4493045FE}" type="datetime1">
              <a:rPr lang="en-US" smtClean="0"/>
              <a:t>3/1/2026</a:t>
            </a:fld>
            <a:endParaRPr lang="en-QA"/>
          </a:p>
        </p:txBody>
      </p:sp>
      <p:sp>
        <p:nvSpPr>
          <p:cNvPr id="6" name="Footer Placeholder 5">
            <a:extLst>
              <a:ext uri="{FF2B5EF4-FFF2-40B4-BE49-F238E27FC236}">
                <a16:creationId xmlns:a16="http://schemas.microsoft.com/office/drawing/2014/main" id="{7D225AAF-8BE0-0D9D-4A97-618BD73967FA}"/>
              </a:ext>
            </a:extLst>
          </p:cNvPr>
          <p:cNvSpPr>
            <a:spLocks noGrp="1"/>
          </p:cNvSpPr>
          <p:nvPr>
            <p:ph type="ftr" sz="quarter" idx="11"/>
          </p:nvPr>
        </p:nvSpPr>
        <p:spPr/>
        <p:txBody>
          <a:bodyPr/>
          <a:lstStyle/>
          <a:p>
            <a:r>
              <a:rPr lang="en-US"/>
              <a:t>DSAI 4201 - Selected Topics in Data Science</a:t>
            </a:r>
            <a:endParaRPr lang="en-QA"/>
          </a:p>
        </p:txBody>
      </p:sp>
      <p:sp>
        <p:nvSpPr>
          <p:cNvPr id="7" name="Slide Number Placeholder 6">
            <a:extLst>
              <a:ext uri="{FF2B5EF4-FFF2-40B4-BE49-F238E27FC236}">
                <a16:creationId xmlns:a16="http://schemas.microsoft.com/office/drawing/2014/main" id="{5BBB6964-E8B1-D37E-2C5F-BC48D58D1468}"/>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2777861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F379A-3428-8F28-6438-1334942B7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QA"/>
          </a:p>
        </p:txBody>
      </p:sp>
      <p:sp>
        <p:nvSpPr>
          <p:cNvPr id="3" name="Picture Placeholder 2">
            <a:extLst>
              <a:ext uri="{FF2B5EF4-FFF2-40B4-BE49-F238E27FC236}">
                <a16:creationId xmlns:a16="http://schemas.microsoft.com/office/drawing/2014/main" id="{FE9905C7-A530-17E1-0B3D-40E9877154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QA"/>
          </a:p>
        </p:txBody>
      </p:sp>
      <p:sp>
        <p:nvSpPr>
          <p:cNvPr id="4" name="Text Placeholder 3">
            <a:extLst>
              <a:ext uri="{FF2B5EF4-FFF2-40B4-BE49-F238E27FC236}">
                <a16:creationId xmlns:a16="http://schemas.microsoft.com/office/drawing/2014/main" id="{CE6E6FDB-0AB5-440B-6F45-718C7E901C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41496-4A00-1D11-85D3-A6B9B0D630BF}"/>
              </a:ext>
            </a:extLst>
          </p:cNvPr>
          <p:cNvSpPr>
            <a:spLocks noGrp="1"/>
          </p:cNvSpPr>
          <p:nvPr>
            <p:ph type="dt" sz="half" idx="10"/>
          </p:nvPr>
        </p:nvSpPr>
        <p:spPr/>
        <p:txBody>
          <a:bodyPr/>
          <a:lstStyle/>
          <a:p>
            <a:fld id="{482EABB4-F4DA-574E-AB38-4C190D6B0B31}" type="datetime1">
              <a:rPr lang="en-US" smtClean="0"/>
              <a:t>3/1/2026</a:t>
            </a:fld>
            <a:endParaRPr lang="en-QA"/>
          </a:p>
        </p:txBody>
      </p:sp>
      <p:sp>
        <p:nvSpPr>
          <p:cNvPr id="6" name="Footer Placeholder 5">
            <a:extLst>
              <a:ext uri="{FF2B5EF4-FFF2-40B4-BE49-F238E27FC236}">
                <a16:creationId xmlns:a16="http://schemas.microsoft.com/office/drawing/2014/main" id="{C75AA9F1-EF40-9116-D904-0F50432877B8}"/>
              </a:ext>
            </a:extLst>
          </p:cNvPr>
          <p:cNvSpPr>
            <a:spLocks noGrp="1"/>
          </p:cNvSpPr>
          <p:nvPr>
            <p:ph type="ftr" sz="quarter" idx="11"/>
          </p:nvPr>
        </p:nvSpPr>
        <p:spPr/>
        <p:txBody>
          <a:bodyPr/>
          <a:lstStyle/>
          <a:p>
            <a:r>
              <a:rPr lang="en-US"/>
              <a:t>DSAI 4201 - Selected Topics in Data Science</a:t>
            </a:r>
            <a:endParaRPr lang="en-QA"/>
          </a:p>
        </p:txBody>
      </p:sp>
      <p:sp>
        <p:nvSpPr>
          <p:cNvPr id="7" name="Slide Number Placeholder 6">
            <a:extLst>
              <a:ext uri="{FF2B5EF4-FFF2-40B4-BE49-F238E27FC236}">
                <a16:creationId xmlns:a16="http://schemas.microsoft.com/office/drawing/2014/main" id="{290FE5D0-BA51-48CA-6C02-B07DFFB10578}"/>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2170596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B95CA-4311-32C9-7F77-BDEB40C7092F}"/>
              </a:ext>
            </a:extLst>
          </p:cNvPr>
          <p:cNvSpPr>
            <a:spLocks noGrp="1"/>
          </p:cNvSpPr>
          <p:nvPr>
            <p:ph type="title"/>
          </p:nvPr>
        </p:nvSpPr>
        <p:spPr/>
        <p:txBody>
          <a:bodyPr/>
          <a:lstStyle/>
          <a:p>
            <a:r>
              <a:rPr lang="en-US"/>
              <a:t>Click to edit Master title style</a:t>
            </a:r>
            <a:endParaRPr lang="en-QA"/>
          </a:p>
        </p:txBody>
      </p:sp>
      <p:sp>
        <p:nvSpPr>
          <p:cNvPr id="3" name="Vertical Text Placeholder 2">
            <a:extLst>
              <a:ext uri="{FF2B5EF4-FFF2-40B4-BE49-F238E27FC236}">
                <a16:creationId xmlns:a16="http://schemas.microsoft.com/office/drawing/2014/main" id="{AE91BB56-21D3-16A2-DD92-F146DEFE02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9877FD95-7566-A7D7-8FFB-C2DD30D00DA9}"/>
              </a:ext>
            </a:extLst>
          </p:cNvPr>
          <p:cNvSpPr>
            <a:spLocks noGrp="1"/>
          </p:cNvSpPr>
          <p:nvPr>
            <p:ph type="dt" sz="half" idx="10"/>
          </p:nvPr>
        </p:nvSpPr>
        <p:spPr/>
        <p:txBody>
          <a:bodyPr/>
          <a:lstStyle/>
          <a:p>
            <a:fld id="{2C150F36-B402-A646-9742-A1228DF68CC9}" type="datetime1">
              <a:rPr lang="en-US" smtClean="0"/>
              <a:t>3/1/2026</a:t>
            </a:fld>
            <a:endParaRPr lang="en-QA"/>
          </a:p>
        </p:txBody>
      </p:sp>
      <p:sp>
        <p:nvSpPr>
          <p:cNvPr id="5" name="Footer Placeholder 4">
            <a:extLst>
              <a:ext uri="{FF2B5EF4-FFF2-40B4-BE49-F238E27FC236}">
                <a16:creationId xmlns:a16="http://schemas.microsoft.com/office/drawing/2014/main" id="{8721AD26-8625-B04C-D555-E64A87E9EFA6}"/>
              </a:ext>
            </a:extLst>
          </p:cNvPr>
          <p:cNvSpPr>
            <a:spLocks noGrp="1"/>
          </p:cNvSpPr>
          <p:nvPr>
            <p:ph type="ftr" sz="quarter" idx="11"/>
          </p:nvPr>
        </p:nvSpPr>
        <p:spPr/>
        <p:txBody>
          <a:body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D5DE0EE4-14D9-C57D-0539-37C312796F59}"/>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2047860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E03FC-4201-BEA7-2D48-9AA5CC3EF3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QA"/>
          </a:p>
        </p:txBody>
      </p:sp>
      <p:sp>
        <p:nvSpPr>
          <p:cNvPr id="3" name="Vertical Text Placeholder 2">
            <a:extLst>
              <a:ext uri="{FF2B5EF4-FFF2-40B4-BE49-F238E27FC236}">
                <a16:creationId xmlns:a16="http://schemas.microsoft.com/office/drawing/2014/main" id="{40A6C451-EE27-43CF-F2DA-8D00B9E765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8E3E2D4C-0783-CC9D-E84D-99FA914A3DBE}"/>
              </a:ext>
            </a:extLst>
          </p:cNvPr>
          <p:cNvSpPr>
            <a:spLocks noGrp="1"/>
          </p:cNvSpPr>
          <p:nvPr>
            <p:ph type="dt" sz="half" idx="10"/>
          </p:nvPr>
        </p:nvSpPr>
        <p:spPr/>
        <p:txBody>
          <a:bodyPr/>
          <a:lstStyle/>
          <a:p>
            <a:fld id="{8C47BFEB-451F-304A-833B-27A9D727C334}" type="datetime1">
              <a:rPr lang="en-US" smtClean="0"/>
              <a:t>3/1/2026</a:t>
            </a:fld>
            <a:endParaRPr lang="en-QA"/>
          </a:p>
        </p:txBody>
      </p:sp>
      <p:sp>
        <p:nvSpPr>
          <p:cNvPr id="5" name="Footer Placeholder 4">
            <a:extLst>
              <a:ext uri="{FF2B5EF4-FFF2-40B4-BE49-F238E27FC236}">
                <a16:creationId xmlns:a16="http://schemas.microsoft.com/office/drawing/2014/main" id="{588BE7ED-366A-1294-2B7B-F34E5FC53478}"/>
              </a:ext>
            </a:extLst>
          </p:cNvPr>
          <p:cNvSpPr>
            <a:spLocks noGrp="1"/>
          </p:cNvSpPr>
          <p:nvPr>
            <p:ph type="ftr" sz="quarter" idx="11"/>
          </p:nvPr>
        </p:nvSpPr>
        <p:spPr/>
        <p:txBody>
          <a:body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79DE861C-106B-27D9-7A2E-6E57861038F9}"/>
              </a:ext>
            </a:extLst>
          </p:cNvPr>
          <p:cNvSpPr>
            <a:spLocks noGrp="1"/>
          </p:cNvSpPr>
          <p:nvPr>
            <p:ph type="sldNum" sz="quarter" idx="12"/>
          </p:nvPr>
        </p:nvSpPr>
        <p:spPr/>
        <p:txBody>
          <a:bodyPr/>
          <a:lstStyle/>
          <a:p>
            <a:fld id="{EB60BC02-D374-C843-982C-996C93B0F0E6}" type="slidenum">
              <a:rPr lang="en-QA" smtClean="0"/>
              <a:t>‹#›</a:t>
            </a:fld>
            <a:endParaRPr lang="en-QA"/>
          </a:p>
        </p:txBody>
      </p:sp>
    </p:spTree>
    <p:extLst>
      <p:ext uri="{BB962C8B-B14F-4D97-AF65-F5344CB8AC3E}">
        <p14:creationId xmlns:p14="http://schemas.microsoft.com/office/powerpoint/2010/main" val="587910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4318E8-1AFA-A69A-39BF-99F794C367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QA"/>
          </a:p>
        </p:txBody>
      </p:sp>
      <p:sp>
        <p:nvSpPr>
          <p:cNvPr id="3" name="Text Placeholder 2">
            <a:extLst>
              <a:ext uri="{FF2B5EF4-FFF2-40B4-BE49-F238E27FC236}">
                <a16:creationId xmlns:a16="http://schemas.microsoft.com/office/drawing/2014/main" id="{B6B49FD9-F137-7E77-341F-BF6372918D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QA"/>
          </a:p>
        </p:txBody>
      </p:sp>
      <p:sp>
        <p:nvSpPr>
          <p:cNvPr id="4" name="Date Placeholder 3">
            <a:extLst>
              <a:ext uri="{FF2B5EF4-FFF2-40B4-BE49-F238E27FC236}">
                <a16:creationId xmlns:a16="http://schemas.microsoft.com/office/drawing/2014/main" id="{DB17E211-5BBF-35F9-DA73-A538AF90E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76DFB4-107E-F24D-920F-4C6C23DDEF0C}" type="datetime1">
              <a:rPr lang="en-US" smtClean="0"/>
              <a:t>3/1/2026</a:t>
            </a:fld>
            <a:endParaRPr lang="en-QA"/>
          </a:p>
        </p:txBody>
      </p:sp>
      <p:sp>
        <p:nvSpPr>
          <p:cNvPr id="5" name="Footer Placeholder 4">
            <a:extLst>
              <a:ext uri="{FF2B5EF4-FFF2-40B4-BE49-F238E27FC236}">
                <a16:creationId xmlns:a16="http://schemas.microsoft.com/office/drawing/2014/main" id="{29087239-F3AC-ABA5-82C4-B10138643D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DSAI 4201 - Selected Topics in Data Science</a:t>
            </a:r>
            <a:endParaRPr lang="en-QA"/>
          </a:p>
        </p:txBody>
      </p:sp>
      <p:sp>
        <p:nvSpPr>
          <p:cNvPr id="6" name="Slide Number Placeholder 5">
            <a:extLst>
              <a:ext uri="{FF2B5EF4-FFF2-40B4-BE49-F238E27FC236}">
                <a16:creationId xmlns:a16="http://schemas.microsoft.com/office/drawing/2014/main" id="{192AA262-FE9C-27F2-0F42-6D5A56F8C5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0BC02-D374-C843-982C-996C93B0F0E6}" type="slidenum">
              <a:rPr lang="en-QA" smtClean="0"/>
              <a:t>‹#›</a:t>
            </a:fld>
            <a:endParaRPr lang="en-QA"/>
          </a:p>
        </p:txBody>
      </p:sp>
    </p:spTree>
    <p:extLst>
      <p:ext uri="{BB962C8B-B14F-4D97-AF65-F5344CB8AC3E}">
        <p14:creationId xmlns:p14="http://schemas.microsoft.com/office/powerpoint/2010/main" val="20534388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339E-2D56-03C1-7FF0-5105359B4F67}"/>
              </a:ext>
            </a:extLst>
          </p:cNvPr>
          <p:cNvSpPr>
            <a:spLocks noGrp="1"/>
          </p:cNvSpPr>
          <p:nvPr>
            <p:ph type="ctrTitle"/>
          </p:nvPr>
        </p:nvSpPr>
        <p:spPr>
          <a:xfrm>
            <a:off x="838200" y="2340430"/>
            <a:ext cx="4245429" cy="2206364"/>
          </a:xfrm>
        </p:spPr>
        <p:txBody>
          <a:bodyPr vert="horz" lIns="91440" tIns="45720" rIns="91440" bIns="45720" rtlCol="0" anchor="ctr">
            <a:normAutofit/>
          </a:bodyPr>
          <a:lstStyle/>
          <a:p>
            <a:pPr algn="l"/>
            <a:r>
              <a:rPr lang="en-US" sz="4400" b="1" kern="1200" dirty="0">
                <a:solidFill>
                  <a:schemeClr val="tx1"/>
                </a:solidFill>
                <a:latin typeface="+mj-lt"/>
                <a:ea typeface="+mj-ea"/>
                <a:cs typeface="+mj-cs"/>
              </a:rPr>
              <a:t>DSAI 4201 – Selected Topics </a:t>
            </a:r>
            <a:br>
              <a:rPr lang="en-US" sz="4400" b="1" kern="1200" dirty="0">
                <a:solidFill>
                  <a:schemeClr val="tx1"/>
                </a:solidFill>
                <a:latin typeface="+mj-lt"/>
                <a:ea typeface="+mj-ea"/>
                <a:cs typeface="+mj-cs"/>
              </a:rPr>
            </a:br>
            <a:r>
              <a:rPr lang="en-US" sz="4400" b="1" kern="1200" dirty="0">
                <a:solidFill>
                  <a:schemeClr val="tx1"/>
                </a:solidFill>
                <a:latin typeface="+mj-lt"/>
                <a:ea typeface="+mj-ea"/>
                <a:cs typeface="+mj-cs"/>
              </a:rPr>
              <a:t>in Data Science</a:t>
            </a:r>
          </a:p>
        </p:txBody>
      </p:sp>
      <p:sp>
        <p:nvSpPr>
          <p:cNvPr id="22" name="Freeform 5">
            <a:extLst>
              <a:ext uri="{FF2B5EF4-FFF2-40B4-BE49-F238E27FC236}">
                <a16:creationId xmlns:a16="http://schemas.microsoft.com/office/drawing/2014/main" id="{AF1E5E62-9EB9-408E-AE53-A04A4C8110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Picture 10" descr="A close-up of a logo&#10;&#10;Description automatically generated">
            <a:extLst>
              <a:ext uri="{FF2B5EF4-FFF2-40B4-BE49-F238E27FC236}">
                <a16:creationId xmlns:a16="http://schemas.microsoft.com/office/drawing/2014/main" id="{20F6517D-FA82-88C3-5901-C5A71D88CC21}"/>
              </a:ext>
            </a:extLst>
          </p:cNvPr>
          <p:cNvPicPr>
            <a:picLocks noChangeAspect="1"/>
          </p:cNvPicPr>
          <p:nvPr/>
        </p:nvPicPr>
        <p:blipFill>
          <a:blip r:embed="rId2"/>
          <a:stretch>
            <a:fillRect/>
          </a:stretch>
        </p:blipFill>
        <p:spPr>
          <a:xfrm>
            <a:off x="6085115" y="2320956"/>
            <a:ext cx="5466806" cy="1722043"/>
          </a:xfrm>
          <a:prstGeom prst="rect">
            <a:avLst/>
          </a:prstGeom>
        </p:spPr>
      </p:pic>
      <p:sp>
        <p:nvSpPr>
          <p:cNvPr id="23" name="Freeform 7">
            <a:extLst>
              <a:ext uri="{FF2B5EF4-FFF2-40B4-BE49-F238E27FC236}">
                <a16:creationId xmlns:a16="http://schemas.microsoft.com/office/drawing/2014/main" id="{9C5704B2-7C5B-4738-AF0D-4A2756A6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3319"/>
            <a:ext cx="5925190" cy="2174681"/>
          </a:xfrm>
          <a:custGeom>
            <a:avLst/>
            <a:gdLst>
              <a:gd name="connsiteX0" fmla="*/ 1007162 w 5925190"/>
              <a:gd name="connsiteY0" fmla="*/ 0 h 2174681"/>
              <a:gd name="connsiteX1" fmla="*/ 5925190 w 5925190"/>
              <a:gd name="connsiteY1" fmla="*/ 0 h 2174681"/>
              <a:gd name="connsiteX2" fmla="*/ 5925190 w 5925190"/>
              <a:gd name="connsiteY2" fmla="*/ 2174681 h 2174681"/>
              <a:gd name="connsiteX3" fmla="*/ 0 w 5925190"/>
              <a:gd name="connsiteY3" fmla="*/ 2174681 h 2174681"/>
            </a:gdLst>
            <a:ahLst/>
            <a:cxnLst>
              <a:cxn ang="0">
                <a:pos x="connsiteX0" y="connsiteY0"/>
              </a:cxn>
              <a:cxn ang="0">
                <a:pos x="connsiteX1" y="connsiteY1"/>
              </a:cxn>
              <a:cxn ang="0">
                <a:pos x="connsiteX2" y="connsiteY2"/>
              </a:cxn>
              <a:cxn ang="0">
                <a:pos x="connsiteX3" y="connsiteY3"/>
              </a:cxn>
            </a:cxnLst>
            <a:rect l="l" t="t" r="r" b="b"/>
            <a:pathLst>
              <a:path w="5925190" h="2174681">
                <a:moveTo>
                  <a:pt x="1007162" y="0"/>
                </a:moveTo>
                <a:lnTo>
                  <a:pt x="5925190" y="0"/>
                </a:lnTo>
                <a:lnTo>
                  <a:pt x="5925190" y="2174681"/>
                </a:lnTo>
                <a:lnTo>
                  <a:pt x="0" y="217468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6">
            <a:extLst>
              <a:ext uri="{FF2B5EF4-FFF2-40B4-BE49-F238E27FC236}">
                <a16:creationId xmlns:a16="http://schemas.microsoft.com/office/drawing/2014/main" id="{DFB36DC4-A410-4DF1-8453-1D85743F5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683319"/>
            <a:ext cx="7092887" cy="2174681"/>
          </a:xfrm>
          <a:custGeom>
            <a:avLst/>
            <a:gdLst>
              <a:gd name="connsiteX0" fmla="*/ 0 w 7092887"/>
              <a:gd name="connsiteY0" fmla="*/ 0 h 2174681"/>
              <a:gd name="connsiteX1" fmla="*/ 7092887 w 7092887"/>
              <a:gd name="connsiteY1" fmla="*/ 0 h 2174681"/>
              <a:gd name="connsiteX2" fmla="*/ 6085725 w 7092887"/>
              <a:gd name="connsiteY2" fmla="*/ 2174681 h 2174681"/>
              <a:gd name="connsiteX3" fmla="*/ 1524000 w 7092887"/>
              <a:gd name="connsiteY3" fmla="*/ 2174681 h 2174681"/>
              <a:gd name="connsiteX4" fmla="*/ 1200418 w 7092887"/>
              <a:gd name="connsiteY4" fmla="*/ 2174681 h 2174681"/>
              <a:gd name="connsiteX5" fmla="*/ 0 w 7092887"/>
              <a:gd name="connsiteY5" fmla="*/ 2174681 h 217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92887" h="2174681">
                <a:moveTo>
                  <a:pt x="0" y="0"/>
                </a:moveTo>
                <a:lnTo>
                  <a:pt x="7092887" y="0"/>
                </a:lnTo>
                <a:lnTo>
                  <a:pt x="6085725" y="2174681"/>
                </a:lnTo>
                <a:lnTo>
                  <a:pt x="1524000" y="2174681"/>
                </a:lnTo>
                <a:lnTo>
                  <a:pt x="1200418" y="2174681"/>
                </a:lnTo>
                <a:lnTo>
                  <a:pt x="0" y="2174681"/>
                </a:lnTo>
                <a:close/>
              </a:path>
            </a:pathLst>
          </a:custGeom>
          <a:solidFill>
            <a:srgbClr val="B2B2B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B2B2B2"/>
              </a:solidFill>
            </a:endParaRPr>
          </a:p>
        </p:txBody>
      </p:sp>
      <p:sp>
        <p:nvSpPr>
          <p:cNvPr id="3" name="TextBox 5">
            <a:extLst>
              <a:ext uri="{FF2B5EF4-FFF2-40B4-BE49-F238E27FC236}">
                <a16:creationId xmlns:a16="http://schemas.microsoft.com/office/drawing/2014/main" id="{B32D12AF-9CEF-B4EE-ECB2-0D3BCB5DFBF4}"/>
              </a:ext>
            </a:extLst>
          </p:cNvPr>
          <p:cNvSpPr txBox="1"/>
          <p:nvPr/>
        </p:nvSpPr>
        <p:spPr>
          <a:xfrm>
            <a:off x="1167698" y="5187114"/>
            <a:ext cx="3065101" cy="523220"/>
          </a:xfrm>
          <a:prstGeom prst="rect">
            <a:avLst/>
          </a:prstGeom>
          <a:noFill/>
        </p:spPr>
        <p:txBody>
          <a:bodyPr wrap="square">
            <a:spAutoFit/>
          </a:bodyPr>
          <a:lst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t>Dr. </a:t>
            </a:r>
            <a:r>
              <a:rPr lang="en-SE" sz="2800" dirty="0"/>
              <a:t>Uzair Ahmad</a:t>
            </a:r>
          </a:p>
        </p:txBody>
      </p:sp>
    </p:spTree>
    <p:extLst>
      <p:ext uri="{BB962C8B-B14F-4D97-AF65-F5344CB8AC3E}">
        <p14:creationId xmlns:p14="http://schemas.microsoft.com/office/powerpoint/2010/main" val="61450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339E-2D56-03C1-7FF0-5105359B4F67}"/>
              </a:ext>
            </a:extLst>
          </p:cNvPr>
          <p:cNvSpPr>
            <a:spLocks noGrp="1"/>
          </p:cNvSpPr>
          <p:nvPr>
            <p:ph type="ctrTitle"/>
          </p:nvPr>
        </p:nvSpPr>
        <p:spPr>
          <a:xfrm>
            <a:off x="1380378" y="1050324"/>
            <a:ext cx="8962228" cy="1083204"/>
          </a:xfrm>
        </p:spPr>
        <p:txBody>
          <a:bodyPr>
            <a:normAutofit/>
          </a:bodyPr>
          <a:lstStyle/>
          <a:p>
            <a:r>
              <a:rPr lang="en-QA" sz="6600" b="1" dirty="0"/>
              <a:t>Lecture </a:t>
            </a:r>
            <a:r>
              <a:rPr lang="en-US" sz="6600" b="1"/>
              <a:t>8 (A</a:t>
            </a:r>
            <a:r>
              <a:rPr lang="en-US" sz="6600" b="1" dirty="0"/>
              <a:t>)</a:t>
            </a:r>
            <a:endParaRPr lang="en-QA" sz="6600" b="1" dirty="0"/>
          </a:p>
        </p:txBody>
      </p:sp>
      <p:sp>
        <p:nvSpPr>
          <p:cNvPr id="5" name="TextBox 4">
            <a:extLst>
              <a:ext uri="{FF2B5EF4-FFF2-40B4-BE49-F238E27FC236}">
                <a16:creationId xmlns:a16="http://schemas.microsoft.com/office/drawing/2014/main" id="{4F46C5C0-08BC-6508-A593-746DD97718C4}"/>
              </a:ext>
            </a:extLst>
          </p:cNvPr>
          <p:cNvSpPr txBox="1"/>
          <p:nvPr/>
        </p:nvSpPr>
        <p:spPr>
          <a:xfrm>
            <a:off x="989594" y="2812182"/>
            <a:ext cx="9743795" cy="707886"/>
          </a:xfrm>
          <a:prstGeom prst="rect">
            <a:avLst/>
          </a:prstGeom>
          <a:noFill/>
        </p:spPr>
        <p:txBody>
          <a:bodyPr wrap="square">
            <a:spAutoFit/>
          </a:bodyPr>
          <a:lstStyle/>
          <a:p>
            <a:pPr algn="ctr"/>
            <a:r>
              <a:rPr lang="en-US" sz="4000" b="1" dirty="0">
                <a:latin typeface="Arial" panose="020B0604020202020204" pitchFamily="34" charset="0"/>
                <a:cs typeface="Arial" panose="020B0604020202020204" pitchFamily="34" charset="0"/>
              </a:rPr>
              <a:t>Explainability of AI Models</a:t>
            </a:r>
            <a:endParaRPr lang="en-QA" sz="4000" b="1" dirty="0">
              <a:latin typeface="Arial" panose="020B0604020202020204" pitchFamily="34" charset="0"/>
              <a:cs typeface="Arial" panose="020B0604020202020204" pitchFamily="34" charset="0"/>
            </a:endParaRPr>
          </a:p>
        </p:txBody>
      </p:sp>
      <p:pic>
        <p:nvPicPr>
          <p:cNvPr id="4" name="Picture 3" descr="A close-up of a logo&#10;&#10;Description automatically generated">
            <a:extLst>
              <a:ext uri="{FF2B5EF4-FFF2-40B4-BE49-F238E27FC236}">
                <a16:creationId xmlns:a16="http://schemas.microsoft.com/office/drawing/2014/main" id="{2CAB321D-B62D-EE32-2C24-9713E79D1AFC}"/>
              </a:ext>
            </a:extLst>
          </p:cNvPr>
          <p:cNvPicPr>
            <a:picLocks noChangeAspect="1"/>
          </p:cNvPicPr>
          <p:nvPr/>
        </p:nvPicPr>
        <p:blipFill>
          <a:blip r:embed="rId2"/>
          <a:stretch>
            <a:fillRect/>
          </a:stretch>
        </p:blipFill>
        <p:spPr>
          <a:xfrm>
            <a:off x="9571844" y="33864"/>
            <a:ext cx="2620156" cy="823191"/>
          </a:xfrm>
          <a:prstGeom prst="rect">
            <a:avLst/>
          </a:prstGeom>
        </p:spPr>
      </p:pic>
      <p:sp>
        <p:nvSpPr>
          <p:cNvPr id="8" name="Rectangle 2">
            <a:extLst>
              <a:ext uri="{FF2B5EF4-FFF2-40B4-BE49-F238E27FC236}">
                <a16:creationId xmlns:a16="http://schemas.microsoft.com/office/drawing/2014/main" id="{0EAF25D1-5A55-8F67-2451-B862BD541223}"/>
              </a:ext>
            </a:extLst>
          </p:cNvPr>
          <p:cNvSpPr>
            <a:spLocks noChangeArrowheads="1"/>
          </p:cNvSpPr>
          <p:nvPr/>
        </p:nvSpPr>
        <p:spPr bwMode="auto">
          <a:xfrm>
            <a:off x="838200" y="3863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QA" altLang="en-QA" sz="900" b="0" i="0" u="none" strike="noStrike" cap="none" normalizeH="0" baseline="0">
                <a:ln>
                  <a:noFill/>
                </a:ln>
                <a:solidFill>
                  <a:schemeClr val="tx1"/>
                </a:solidFill>
                <a:effectLst/>
                <a:latin typeface="Helvetica" pitchFamily="2" charset="0"/>
              </a:rPr>
            </a:br>
            <a:endParaRPr kumimoji="0" lang="en-QA" altLang="en-QA" sz="1800" b="0" i="0" u="none" strike="noStrike" cap="none" normalizeH="0" baseline="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CDEA6FA9-6D53-9F86-7428-616C6BEA0CC7}"/>
              </a:ext>
            </a:extLst>
          </p:cNvPr>
          <p:cNvSpPr>
            <a:spLocks noChangeArrowheads="1"/>
          </p:cNvSpPr>
          <p:nvPr/>
        </p:nvSpPr>
        <p:spPr bwMode="auto">
          <a:xfrm>
            <a:off x="838200" y="3863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QA" altLang="en-QA" sz="900" b="0" i="0" u="none" strike="noStrike" cap="none" normalizeH="0" baseline="0">
                <a:ln>
                  <a:noFill/>
                </a:ln>
                <a:solidFill>
                  <a:schemeClr val="tx1"/>
                </a:solidFill>
                <a:effectLst/>
                <a:latin typeface="Helvetica" pitchFamily="2" charset="0"/>
              </a:rPr>
            </a:br>
            <a:endParaRPr kumimoji="0" lang="en-QA" altLang="en-QA" sz="1800" b="0" i="0" u="none" strike="noStrike" cap="none" normalizeH="0" baseline="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431445B0-E009-3CCB-1887-56CBC0F7EF99}"/>
              </a:ext>
            </a:extLst>
          </p:cNvPr>
          <p:cNvSpPr txBox="1"/>
          <p:nvPr/>
        </p:nvSpPr>
        <p:spPr>
          <a:xfrm>
            <a:off x="1224102" y="3681852"/>
            <a:ext cx="9743795" cy="523220"/>
          </a:xfrm>
          <a:prstGeom prst="rect">
            <a:avLst/>
          </a:prstGeom>
          <a:noFill/>
        </p:spPr>
        <p:txBody>
          <a:bodyPr wrap="square">
            <a:spAutoFit/>
          </a:bodyPr>
          <a:lstStyle/>
          <a:p>
            <a:pPr algn="ctr"/>
            <a:r>
              <a:rPr lang="en-US" sz="2800" b="1" dirty="0"/>
              <a:t>Understanding, Interpreting, and Trusting AI Decisions</a:t>
            </a:r>
            <a:endParaRPr lang="en-QA" sz="2800"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7227980-AEB2-A4D9-7338-E42FCFBFC25D}"/>
              </a:ext>
            </a:extLst>
          </p:cNvPr>
          <p:cNvSpPr txBox="1"/>
          <p:nvPr/>
        </p:nvSpPr>
        <p:spPr>
          <a:xfrm>
            <a:off x="1167698" y="5187114"/>
            <a:ext cx="3065101" cy="523220"/>
          </a:xfrm>
          <a:prstGeom prst="rect">
            <a:avLst/>
          </a:prstGeom>
          <a:noFill/>
        </p:spPr>
        <p:txBody>
          <a:bodyPr wrap="square">
            <a:spAutoFit/>
          </a:bodyPr>
          <a:lstStyle>
            <a:defPPr>
              <a:defRPr lang="en-Q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t>Dr. </a:t>
            </a:r>
            <a:r>
              <a:rPr lang="en-SE" sz="2800" dirty="0"/>
              <a:t>Uzair Ahmad</a:t>
            </a:r>
          </a:p>
        </p:txBody>
      </p:sp>
    </p:spTree>
    <p:extLst>
      <p:ext uri="{BB962C8B-B14F-4D97-AF65-F5344CB8AC3E}">
        <p14:creationId xmlns:p14="http://schemas.microsoft.com/office/powerpoint/2010/main" val="3498036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DAEE5494-A8B9-F808-BBD8-DC17987723FE}"/>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3F256E53-3CBF-5216-2822-78B0C166A104}"/>
              </a:ext>
            </a:extLst>
          </p:cNvPr>
          <p:cNvPicPr>
            <a:picLocks noChangeAspect="1"/>
          </p:cNvPicPr>
          <p:nvPr/>
        </p:nvPicPr>
        <p:blipFill>
          <a:blip r:embed="rId2"/>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3068C0C8-33C5-97E3-F127-C72D57FF3AFF}"/>
              </a:ext>
            </a:extLst>
          </p:cNvPr>
          <p:cNvSpPr>
            <a:spLocks noGrp="1"/>
          </p:cNvSpPr>
          <p:nvPr>
            <p:ph type="sldNum" sz="quarter" idx="12"/>
          </p:nvPr>
        </p:nvSpPr>
        <p:spPr/>
        <p:txBody>
          <a:bodyPr/>
          <a:lstStyle/>
          <a:p>
            <a:fld id="{EB60BC02-D374-C843-982C-996C93B0F0E6}" type="slidenum">
              <a:rPr lang="en-QA" smtClean="0"/>
              <a:t>3</a:t>
            </a:fld>
            <a:endParaRPr lang="en-QA"/>
          </a:p>
        </p:txBody>
      </p:sp>
      <p:sp>
        <p:nvSpPr>
          <p:cNvPr id="29" name="Title 1">
            <a:extLst>
              <a:ext uri="{FF2B5EF4-FFF2-40B4-BE49-F238E27FC236}">
                <a16:creationId xmlns:a16="http://schemas.microsoft.com/office/drawing/2014/main" id="{5346590C-4071-2546-9479-DA776B060210}"/>
              </a:ext>
            </a:extLst>
          </p:cNvPr>
          <p:cNvSpPr>
            <a:spLocks noGrp="1"/>
          </p:cNvSpPr>
          <p:nvPr>
            <p:ph type="title"/>
          </p:nvPr>
        </p:nvSpPr>
        <p:spPr>
          <a:xfrm>
            <a:off x="684770" y="365125"/>
            <a:ext cx="8121027" cy="1325563"/>
          </a:xfrm>
        </p:spPr>
        <p:txBody>
          <a:bodyPr>
            <a:normAutofit/>
          </a:bodyPr>
          <a:lstStyle/>
          <a:p>
            <a:r>
              <a:rPr lang="en-US" sz="3200" b="1" dirty="0"/>
              <a:t>Introduction</a:t>
            </a:r>
            <a:endParaRPr lang="en-QA" sz="3200" b="1" dirty="0"/>
          </a:p>
        </p:txBody>
      </p:sp>
      <p:pic>
        <p:nvPicPr>
          <p:cNvPr id="3" name="Picture 2" descr="A diagram of a model&#10;&#10;AI-generated content may be incorrect.">
            <a:extLst>
              <a:ext uri="{FF2B5EF4-FFF2-40B4-BE49-F238E27FC236}">
                <a16:creationId xmlns:a16="http://schemas.microsoft.com/office/drawing/2014/main" id="{5C4C1AD3-6984-58D8-0629-344580E53600}"/>
              </a:ext>
            </a:extLst>
          </p:cNvPr>
          <p:cNvPicPr>
            <a:picLocks noChangeAspect="1"/>
          </p:cNvPicPr>
          <p:nvPr/>
        </p:nvPicPr>
        <p:blipFill>
          <a:blip r:embed="rId3"/>
          <a:stretch>
            <a:fillRect/>
          </a:stretch>
        </p:blipFill>
        <p:spPr>
          <a:xfrm>
            <a:off x="562296" y="1780313"/>
            <a:ext cx="11276731" cy="3237281"/>
          </a:xfrm>
          <a:prstGeom prst="rect">
            <a:avLst/>
          </a:prstGeom>
        </p:spPr>
      </p:pic>
      <p:sp>
        <p:nvSpPr>
          <p:cNvPr id="5" name="TextBox 4">
            <a:extLst>
              <a:ext uri="{FF2B5EF4-FFF2-40B4-BE49-F238E27FC236}">
                <a16:creationId xmlns:a16="http://schemas.microsoft.com/office/drawing/2014/main" id="{4C985D7C-1D6A-B43D-731D-4BBD2227A745}"/>
              </a:ext>
            </a:extLst>
          </p:cNvPr>
          <p:cNvSpPr txBox="1"/>
          <p:nvPr/>
        </p:nvSpPr>
        <p:spPr>
          <a:xfrm>
            <a:off x="6569804" y="5851227"/>
            <a:ext cx="5160234" cy="415498"/>
          </a:xfrm>
          <a:prstGeom prst="rect">
            <a:avLst/>
          </a:prstGeom>
          <a:noFill/>
        </p:spPr>
        <p:txBody>
          <a:bodyPr wrap="square">
            <a:spAutoFit/>
          </a:bodyPr>
          <a:lstStyle/>
          <a:p>
            <a:r>
              <a:rPr lang="en-US" sz="1050" i="1" dirty="0">
                <a:effectLst/>
                <a:latin typeface="+mj-lt"/>
              </a:rPr>
              <a:t>Ribeiro et al </a:t>
            </a:r>
            <a:r>
              <a:rPr lang="en-US" sz="1050" i="1" dirty="0">
                <a:latin typeface="+mj-lt"/>
              </a:rPr>
              <a:t>“Why</a:t>
            </a:r>
            <a:r>
              <a:rPr lang="en-US" sz="1050" dirty="0">
                <a:solidFill>
                  <a:srgbClr val="000000"/>
                </a:solidFill>
                <a:effectLst/>
                <a:latin typeface="Helvetica" pitchFamily="2" charset="0"/>
              </a:rPr>
              <a:t> </a:t>
            </a:r>
            <a:r>
              <a:rPr lang="en-US" sz="1050" i="1" dirty="0">
                <a:latin typeface="+mj-lt"/>
              </a:rPr>
              <a:t>Should I Trust You?” Explaining the Predictions of Any Classifier. KDD</a:t>
            </a:r>
            <a:r>
              <a:rPr lang="en-US" sz="1050" dirty="0">
                <a:solidFill>
                  <a:srgbClr val="000000"/>
                </a:solidFill>
                <a:effectLst/>
                <a:latin typeface="Helvetica" pitchFamily="2" charset="0"/>
              </a:rPr>
              <a:t> </a:t>
            </a:r>
            <a:r>
              <a:rPr lang="en-US" sz="1050" i="1" dirty="0">
                <a:latin typeface="+mj-lt"/>
              </a:rPr>
              <a:t>2016</a:t>
            </a:r>
            <a:r>
              <a:rPr lang="en-US" sz="1050" i="1" dirty="0">
                <a:effectLst/>
                <a:latin typeface="+mj-lt"/>
              </a:rPr>
              <a:t>.</a:t>
            </a:r>
            <a:endParaRPr lang="en-US" sz="1000" i="1" dirty="0">
              <a:effectLst/>
              <a:latin typeface="+mj-lt"/>
            </a:endParaRPr>
          </a:p>
        </p:txBody>
      </p:sp>
    </p:spTree>
    <p:extLst>
      <p:ext uri="{BB962C8B-B14F-4D97-AF65-F5344CB8AC3E}">
        <p14:creationId xmlns:p14="http://schemas.microsoft.com/office/powerpoint/2010/main" val="1808505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910DE-2323-33DA-E154-7A6A2F98BD05}"/>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FC73E0A6-96CC-A787-C246-1AF3B37513B3}"/>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A6CD59CB-0D1F-C7FA-79C6-DC9D3FBD2753}"/>
              </a:ext>
            </a:extLst>
          </p:cNvPr>
          <p:cNvPicPr>
            <a:picLocks noChangeAspect="1"/>
          </p:cNvPicPr>
          <p:nvPr/>
        </p:nvPicPr>
        <p:blipFill>
          <a:blip r:embed="rId2"/>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A51EBF89-DA24-42B4-B1B9-92E16EA47A5B}"/>
              </a:ext>
            </a:extLst>
          </p:cNvPr>
          <p:cNvSpPr>
            <a:spLocks noGrp="1"/>
          </p:cNvSpPr>
          <p:nvPr>
            <p:ph type="sldNum" sz="quarter" idx="12"/>
          </p:nvPr>
        </p:nvSpPr>
        <p:spPr/>
        <p:txBody>
          <a:bodyPr/>
          <a:lstStyle/>
          <a:p>
            <a:fld id="{EB60BC02-D374-C843-982C-996C93B0F0E6}" type="slidenum">
              <a:rPr lang="en-QA" smtClean="0"/>
              <a:t>4</a:t>
            </a:fld>
            <a:endParaRPr lang="en-QA"/>
          </a:p>
        </p:txBody>
      </p:sp>
      <p:sp>
        <p:nvSpPr>
          <p:cNvPr id="29" name="Title 1">
            <a:extLst>
              <a:ext uri="{FF2B5EF4-FFF2-40B4-BE49-F238E27FC236}">
                <a16:creationId xmlns:a16="http://schemas.microsoft.com/office/drawing/2014/main" id="{B71D14FF-81EF-7530-A723-DC94F3BF9871}"/>
              </a:ext>
            </a:extLst>
          </p:cNvPr>
          <p:cNvSpPr>
            <a:spLocks noGrp="1"/>
          </p:cNvSpPr>
          <p:nvPr>
            <p:ph type="title"/>
          </p:nvPr>
        </p:nvSpPr>
        <p:spPr>
          <a:xfrm>
            <a:off x="684770" y="365125"/>
            <a:ext cx="8121027" cy="1325563"/>
          </a:xfrm>
        </p:spPr>
        <p:txBody>
          <a:bodyPr>
            <a:normAutofit/>
          </a:bodyPr>
          <a:lstStyle/>
          <a:p>
            <a:r>
              <a:rPr lang="en-US" sz="3200" b="1" dirty="0"/>
              <a:t>Introduction</a:t>
            </a:r>
            <a:endParaRPr lang="en-QA" sz="3200" b="1" dirty="0"/>
          </a:p>
        </p:txBody>
      </p:sp>
      <p:sp>
        <p:nvSpPr>
          <p:cNvPr id="4" name="TextBox 3">
            <a:extLst>
              <a:ext uri="{FF2B5EF4-FFF2-40B4-BE49-F238E27FC236}">
                <a16:creationId xmlns:a16="http://schemas.microsoft.com/office/drawing/2014/main" id="{CDCF7D6D-81C1-4914-3177-8EBE92377705}"/>
              </a:ext>
            </a:extLst>
          </p:cNvPr>
          <p:cNvSpPr txBox="1"/>
          <p:nvPr/>
        </p:nvSpPr>
        <p:spPr>
          <a:xfrm>
            <a:off x="521494" y="1602576"/>
            <a:ext cx="8793956" cy="5062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mj-lt"/>
              </a:rPr>
              <a:t>AI models are becoming increasingly complex (e.g., deep learning).</a:t>
            </a:r>
          </a:p>
        </p:txBody>
      </p:sp>
      <p:sp>
        <p:nvSpPr>
          <p:cNvPr id="7" name="TextBox 6">
            <a:extLst>
              <a:ext uri="{FF2B5EF4-FFF2-40B4-BE49-F238E27FC236}">
                <a16:creationId xmlns:a16="http://schemas.microsoft.com/office/drawing/2014/main" id="{440E6B09-B147-BEA4-4BED-EDB36E382527}"/>
              </a:ext>
            </a:extLst>
          </p:cNvPr>
          <p:cNvSpPr txBox="1"/>
          <p:nvPr/>
        </p:nvSpPr>
        <p:spPr>
          <a:xfrm>
            <a:off x="521494" y="2266678"/>
            <a:ext cx="9131452" cy="50629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000" dirty="0">
                <a:latin typeface="+mj-lt"/>
              </a:rPr>
              <a:t>Explainability is critical for trust, fairness, and regulatory compliance.</a:t>
            </a:r>
            <a:endParaRPr lang="en-QA" sz="2000" dirty="0">
              <a:latin typeface="+mj-lt"/>
            </a:endParaRPr>
          </a:p>
        </p:txBody>
      </p:sp>
      <p:sp>
        <p:nvSpPr>
          <p:cNvPr id="11" name="TextBox 10">
            <a:extLst>
              <a:ext uri="{FF2B5EF4-FFF2-40B4-BE49-F238E27FC236}">
                <a16:creationId xmlns:a16="http://schemas.microsoft.com/office/drawing/2014/main" id="{025C2F19-1C15-6B38-F68E-59ACA3765579}"/>
              </a:ext>
            </a:extLst>
          </p:cNvPr>
          <p:cNvSpPr txBox="1"/>
          <p:nvPr/>
        </p:nvSpPr>
        <p:spPr>
          <a:xfrm>
            <a:off x="1064419" y="4911661"/>
            <a:ext cx="7546181" cy="369332"/>
          </a:xfrm>
          <a:prstGeom prst="rect">
            <a:avLst/>
          </a:prstGeom>
          <a:noFill/>
        </p:spPr>
        <p:txBody>
          <a:bodyPr wrap="square">
            <a:spAutoFit/>
          </a:bodyPr>
          <a:lstStyle/>
          <a:p>
            <a:pPr marL="285750" indent="-285750">
              <a:buFont typeface="Wingdings" pitchFamily="2" charset="2"/>
              <a:buChar char="Ø"/>
            </a:pPr>
            <a:r>
              <a:rPr lang="en-US" dirty="0">
                <a:latin typeface="+mj-lt"/>
              </a:rPr>
              <a:t>Interpretability </a:t>
            </a:r>
            <a:r>
              <a:rPr lang="en-US" dirty="0">
                <a:latin typeface="+mj-lt"/>
                <a:sym typeface="Wingdings" pitchFamily="2" charset="2"/>
              </a:rPr>
              <a:t> </a:t>
            </a:r>
            <a:r>
              <a:rPr lang="en-US" dirty="0">
                <a:latin typeface="+mj-lt"/>
              </a:rPr>
              <a:t>understanding a model’s logic</a:t>
            </a:r>
          </a:p>
        </p:txBody>
      </p:sp>
      <p:sp>
        <p:nvSpPr>
          <p:cNvPr id="13" name="TextBox 12">
            <a:extLst>
              <a:ext uri="{FF2B5EF4-FFF2-40B4-BE49-F238E27FC236}">
                <a16:creationId xmlns:a16="http://schemas.microsoft.com/office/drawing/2014/main" id="{50F0FEF7-98D5-51E6-F891-CCE53DB22744}"/>
              </a:ext>
            </a:extLst>
          </p:cNvPr>
          <p:cNvSpPr txBox="1"/>
          <p:nvPr/>
        </p:nvSpPr>
        <p:spPr>
          <a:xfrm>
            <a:off x="1064419" y="3659848"/>
            <a:ext cx="9131452" cy="369332"/>
          </a:xfrm>
          <a:prstGeom prst="rect">
            <a:avLst/>
          </a:prstGeom>
          <a:noFill/>
        </p:spPr>
        <p:txBody>
          <a:bodyPr wrap="square">
            <a:spAutoFit/>
          </a:bodyPr>
          <a:lstStyle/>
          <a:p>
            <a:pPr marL="285750" indent="-285750">
              <a:buFont typeface="Wingdings" pitchFamily="2" charset="2"/>
              <a:buChar char="Ø"/>
            </a:pPr>
            <a:r>
              <a:rPr lang="en-US" dirty="0">
                <a:latin typeface="+mj-lt"/>
              </a:rPr>
              <a:t>Explainability = The ability to describe how and why an AI model makes a decision.</a:t>
            </a:r>
            <a:endParaRPr lang="en-QA" dirty="0">
              <a:latin typeface="+mj-lt"/>
            </a:endParaRPr>
          </a:p>
        </p:txBody>
      </p:sp>
      <p:sp>
        <p:nvSpPr>
          <p:cNvPr id="14" name="TextBox 13">
            <a:extLst>
              <a:ext uri="{FF2B5EF4-FFF2-40B4-BE49-F238E27FC236}">
                <a16:creationId xmlns:a16="http://schemas.microsoft.com/office/drawing/2014/main" id="{F00431D5-EE5F-F078-6F66-22E17F5FE4F4}"/>
              </a:ext>
            </a:extLst>
          </p:cNvPr>
          <p:cNvSpPr txBox="1"/>
          <p:nvPr/>
        </p:nvSpPr>
        <p:spPr>
          <a:xfrm>
            <a:off x="521494" y="4263432"/>
            <a:ext cx="8230630" cy="400110"/>
          </a:xfrm>
          <a:prstGeom prst="rect">
            <a:avLst/>
          </a:prstGeom>
          <a:noFill/>
        </p:spPr>
        <p:txBody>
          <a:bodyPr wrap="square">
            <a:spAutoFit/>
          </a:bodyPr>
          <a:lstStyle/>
          <a:p>
            <a:r>
              <a:rPr lang="en-US" sz="2000" dirty="0">
                <a:latin typeface="+mj-lt"/>
              </a:rPr>
              <a:t>What is the difference between </a:t>
            </a:r>
            <a:r>
              <a:rPr lang="en-US" sz="2000" b="1" dirty="0">
                <a:latin typeface="+mj-lt"/>
              </a:rPr>
              <a:t>Explainability</a:t>
            </a:r>
            <a:r>
              <a:rPr lang="en-US" sz="2000" dirty="0">
                <a:latin typeface="+mj-lt"/>
              </a:rPr>
              <a:t> and </a:t>
            </a:r>
            <a:r>
              <a:rPr lang="en-US" sz="2000" b="1" dirty="0">
                <a:latin typeface="+mj-lt"/>
              </a:rPr>
              <a:t>Interpretability</a:t>
            </a:r>
            <a:r>
              <a:rPr lang="en-US" sz="2000" dirty="0">
                <a:latin typeface="+mj-lt"/>
              </a:rPr>
              <a:t>?</a:t>
            </a:r>
            <a:endParaRPr lang="en-QA" sz="2000" dirty="0">
              <a:latin typeface="+mj-lt"/>
            </a:endParaRPr>
          </a:p>
        </p:txBody>
      </p:sp>
      <p:sp>
        <p:nvSpPr>
          <p:cNvPr id="17" name="TextBox 16">
            <a:extLst>
              <a:ext uri="{FF2B5EF4-FFF2-40B4-BE49-F238E27FC236}">
                <a16:creationId xmlns:a16="http://schemas.microsoft.com/office/drawing/2014/main" id="{A630CFD0-715C-7BF2-06B8-76C8778D0CF0}"/>
              </a:ext>
            </a:extLst>
          </p:cNvPr>
          <p:cNvSpPr txBox="1"/>
          <p:nvPr/>
        </p:nvSpPr>
        <p:spPr>
          <a:xfrm>
            <a:off x="521494" y="3124180"/>
            <a:ext cx="3393282" cy="400110"/>
          </a:xfrm>
          <a:prstGeom prst="rect">
            <a:avLst/>
          </a:prstGeom>
          <a:noFill/>
        </p:spPr>
        <p:txBody>
          <a:bodyPr wrap="square">
            <a:spAutoFit/>
          </a:bodyPr>
          <a:lstStyle/>
          <a:p>
            <a:r>
              <a:rPr lang="en-US" sz="2000" dirty="0">
                <a:latin typeface="+mj-lt"/>
              </a:rPr>
              <a:t>What Is </a:t>
            </a:r>
            <a:r>
              <a:rPr lang="en-US" sz="2000" b="1" dirty="0">
                <a:latin typeface="+mj-lt"/>
              </a:rPr>
              <a:t>Explainability</a:t>
            </a:r>
            <a:r>
              <a:rPr lang="en-US" sz="2000" dirty="0">
                <a:latin typeface="+mj-lt"/>
              </a:rPr>
              <a:t>?</a:t>
            </a:r>
            <a:endParaRPr lang="en-QA" sz="2000" dirty="0">
              <a:latin typeface="+mj-lt"/>
            </a:endParaRPr>
          </a:p>
        </p:txBody>
      </p:sp>
      <p:sp>
        <p:nvSpPr>
          <p:cNvPr id="19" name="TextBox 18">
            <a:extLst>
              <a:ext uri="{FF2B5EF4-FFF2-40B4-BE49-F238E27FC236}">
                <a16:creationId xmlns:a16="http://schemas.microsoft.com/office/drawing/2014/main" id="{E53F2198-E545-836D-0E47-84C398B46CD5}"/>
              </a:ext>
            </a:extLst>
          </p:cNvPr>
          <p:cNvSpPr txBox="1"/>
          <p:nvPr/>
        </p:nvSpPr>
        <p:spPr>
          <a:xfrm>
            <a:off x="1064419" y="5402684"/>
            <a:ext cx="7265194" cy="369332"/>
          </a:xfrm>
          <a:prstGeom prst="rect">
            <a:avLst/>
          </a:prstGeom>
          <a:noFill/>
        </p:spPr>
        <p:txBody>
          <a:bodyPr wrap="square">
            <a:spAutoFit/>
          </a:bodyPr>
          <a:lstStyle/>
          <a:p>
            <a:pPr marL="285750" indent="-285750">
              <a:buFont typeface="Wingdings" pitchFamily="2" charset="2"/>
              <a:buChar char="Ø"/>
            </a:pPr>
            <a:r>
              <a:rPr lang="en-US" dirty="0">
                <a:latin typeface="+mj-lt"/>
              </a:rPr>
              <a:t>Explainability </a:t>
            </a:r>
            <a:r>
              <a:rPr lang="en-US" dirty="0">
                <a:latin typeface="+mj-lt"/>
                <a:sym typeface="Wingdings" pitchFamily="2" charset="2"/>
              </a:rPr>
              <a:t> </a:t>
            </a:r>
            <a:r>
              <a:rPr lang="en-US" dirty="0">
                <a:latin typeface="+mj-lt"/>
              </a:rPr>
              <a:t>describing the decision in human-understandable terms</a:t>
            </a:r>
            <a:endParaRPr lang="en-QA" dirty="0"/>
          </a:p>
        </p:txBody>
      </p:sp>
    </p:spTree>
    <p:extLst>
      <p:ext uri="{BB962C8B-B14F-4D97-AF65-F5344CB8AC3E}">
        <p14:creationId xmlns:p14="http://schemas.microsoft.com/office/powerpoint/2010/main" val="4158461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3" grpId="0"/>
      <p:bldP spid="14" grpId="0"/>
      <p:bldP spid="17"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3A49-D8F5-42B9-8B20-230A24C9512B}"/>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32DA6ADC-2F42-2B89-1937-CB394605411E}"/>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4E626B7C-4C4D-4A1E-C04D-8E8D21CB7DBC}"/>
              </a:ext>
            </a:extLst>
          </p:cNvPr>
          <p:cNvPicPr>
            <a:picLocks noChangeAspect="1"/>
          </p:cNvPicPr>
          <p:nvPr/>
        </p:nvPicPr>
        <p:blipFill>
          <a:blip r:embed="rId2"/>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925DBD85-40E4-2F55-3F0C-16100E3FB7D9}"/>
              </a:ext>
            </a:extLst>
          </p:cNvPr>
          <p:cNvSpPr>
            <a:spLocks noGrp="1"/>
          </p:cNvSpPr>
          <p:nvPr>
            <p:ph type="sldNum" sz="quarter" idx="12"/>
          </p:nvPr>
        </p:nvSpPr>
        <p:spPr/>
        <p:txBody>
          <a:bodyPr/>
          <a:lstStyle/>
          <a:p>
            <a:fld id="{EB60BC02-D374-C843-982C-996C93B0F0E6}" type="slidenum">
              <a:rPr lang="en-QA" smtClean="0"/>
              <a:t>5</a:t>
            </a:fld>
            <a:endParaRPr lang="en-QA" dirty="0"/>
          </a:p>
        </p:txBody>
      </p:sp>
      <p:sp>
        <p:nvSpPr>
          <p:cNvPr id="29" name="Title 1">
            <a:extLst>
              <a:ext uri="{FF2B5EF4-FFF2-40B4-BE49-F238E27FC236}">
                <a16:creationId xmlns:a16="http://schemas.microsoft.com/office/drawing/2014/main" id="{6476DF46-779D-90EB-B8B3-AEB21F292999}"/>
              </a:ext>
            </a:extLst>
          </p:cNvPr>
          <p:cNvSpPr>
            <a:spLocks noGrp="1"/>
          </p:cNvSpPr>
          <p:nvPr>
            <p:ph type="title"/>
          </p:nvPr>
        </p:nvSpPr>
        <p:spPr>
          <a:xfrm>
            <a:off x="684770" y="365125"/>
            <a:ext cx="8121027" cy="1325563"/>
          </a:xfrm>
        </p:spPr>
        <p:txBody>
          <a:bodyPr>
            <a:normAutofit/>
          </a:bodyPr>
          <a:lstStyle/>
          <a:p>
            <a:r>
              <a:rPr lang="en-US" sz="3200" b="1" dirty="0"/>
              <a:t>What is Explainable AI?</a:t>
            </a:r>
            <a:br>
              <a:rPr lang="en-US" sz="1200" dirty="0">
                <a:solidFill>
                  <a:srgbClr val="101010"/>
                </a:solidFill>
                <a:effectLst/>
                <a:latin typeface="Helvetica" pitchFamily="2" charset="0"/>
              </a:rPr>
            </a:br>
            <a:endParaRPr lang="en-QA" sz="3200" b="1" dirty="0"/>
          </a:p>
        </p:txBody>
      </p:sp>
      <p:pic>
        <p:nvPicPr>
          <p:cNvPr id="5" name="Picture 4" descr="A graph showing a graph&#10;&#10;AI-generated content may be incorrect.">
            <a:extLst>
              <a:ext uri="{FF2B5EF4-FFF2-40B4-BE49-F238E27FC236}">
                <a16:creationId xmlns:a16="http://schemas.microsoft.com/office/drawing/2014/main" id="{8E1A908F-0B62-AD64-EC6B-124E16FD680E}"/>
              </a:ext>
            </a:extLst>
          </p:cNvPr>
          <p:cNvPicPr>
            <a:picLocks noChangeAspect="1"/>
          </p:cNvPicPr>
          <p:nvPr/>
        </p:nvPicPr>
        <p:blipFill>
          <a:blip r:embed="rId3"/>
          <a:stretch>
            <a:fillRect/>
          </a:stretch>
        </p:blipFill>
        <p:spPr>
          <a:xfrm>
            <a:off x="1157288" y="1217888"/>
            <a:ext cx="9299346" cy="2783406"/>
          </a:xfrm>
          <a:prstGeom prst="rect">
            <a:avLst/>
          </a:prstGeom>
        </p:spPr>
      </p:pic>
      <p:sp>
        <p:nvSpPr>
          <p:cNvPr id="6" name="TextBox 5">
            <a:extLst>
              <a:ext uri="{FF2B5EF4-FFF2-40B4-BE49-F238E27FC236}">
                <a16:creationId xmlns:a16="http://schemas.microsoft.com/office/drawing/2014/main" id="{076805A4-6100-B9AD-DEF1-985412A34582}"/>
              </a:ext>
            </a:extLst>
          </p:cNvPr>
          <p:cNvSpPr txBox="1"/>
          <p:nvPr/>
        </p:nvSpPr>
        <p:spPr>
          <a:xfrm>
            <a:off x="7727534" y="6077377"/>
            <a:ext cx="4288696" cy="415498"/>
          </a:xfrm>
          <a:prstGeom prst="rect">
            <a:avLst/>
          </a:prstGeom>
          <a:noFill/>
        </p:spPr>
        <p:txBody>
          <a:bodyPr wrap="square">
            <a:spAutoFit/>
          </a:bodyPr>
          <a:lstStyle/>
          <a:p>
            <a:r>
              <a:rPr lang="en-US" sz="1050" i="1" dirty="0" err="1">
                <a:latin typeface="+mj-lt"/>
              </a:rPr>
              <a:t>Chinu</a:t>
            </a:r>
            <a:r>
              <a:rPr lang="en-US" sz="1050" i="1" dirty="0">
                <a:latin typeface="+mj-lt"/>
              </a:rPr>
              <a:t> and Bansal</a:t>
            </a:r>
            <a:r>
              <a:rPr lang="en-US" sz="1050" dirty="0">
                <a:solidFill>
                  <a:srgbClr val="101010"/>
                </a:solidFill>
                <a:effectLst/>
                <a:latin typeface="Helvetica" pitchFamily="2" charset="0"/>
              </a:rPr>
              <a:t>. </a:t>
            </a:r>
            <a:r>
              <a:rPr lang="en-US" sz="1050" i="1" dirty="0">
                <a:latin typeface="+mj-lt"/>
              </a:rPr>
              <a:t>Explainable AI: To Reveal the Logic of Black-Box Models. part of Springer Nature 2023.</a:t>
            </a:r>
          </a:p>
        </p:txBody>
      </p:sp>
      <p:sp>
        <p:nvSpPr>
          <p:cNvPr id="8" name="TextBox 7">
            <a:extLst>
              <a:ext uri="{FF2B5EF4-FFF2-40B4-BE49-F238E27FC236}">
                <a16:creationId xmlns:a16="http://schemas.microsoft.com/office/drawing/2014/main" id="{AFCFFD8A-7910-F0E7-5654-4A5FD83690E9}"/>
              </a:ext>
            </a:extLst>
          </p:cNvPr>
          <p:cNvSpPr txBox="1"/>
          <p:nvPr/>
        </p:nvSpPr>
        <p:spPr>
          <a:xfrm>
            <a:off x="484745" y="4416587"/>
            <a:ext cx="4015818" cy="400110"/>
          </a:xfrm>
          <a:prstGeom prst="rect">
            <a:avLst/>
          </a:prstGeom>
          <a:noFill/>
        </p:spPr>
        <p:txBody>
          <a:bodyPr wrap="square">
            <a:spAutoFit/>
          </a:bodyPr>
          <a:lstStyle/>
          <a:p>
            <a:r>
              <a:rPr lang="en-US" sz="2000" b="1" dirty="0">
                <a:latin typeface="+mj-lt"/>
              </a:rPr>
              <a:t>Who Needs Explainability?</a:t>
            </a:r>
            <a:endParaRPr lang="en-US" sz="2000" dirty="0">
              <a:latin typeface="+mj-lt"/>
            </a:endParaRPr>
          </a:p>
        </p:txBody>
      </p:sp>
      <p:sp>
        <p:nvSpPr>
          <p:cNvPr id="10" name="TextBox 9">
            <a:extLst>
              <a:ext uri="{FF2B5EF4-FFF2-40B4-BE49-F238E27FC236}">
                <a16:creationId xmlns:a16="http://schemas.microsoft.com/office/drawing/2014/main" id="{72696C88-2025-641F-FBBA-FB67DAF4C0D2}"/>
              </a:ext>
            </a:extLst>
          </p:cNvPr>
          <p:cNvSpPr txBox="1"/>
          <p:nvPr/>
        </p:nvSpPr>
        <p:spPr>
          <a:xfrm>
            <a:off x="6096000" y="4793803"/>
            <a:ext cx="6100762" cy="880369"/>
          </a:xfrm>
          <a:prstGeom prst="rect">
            <a:avLst/>
          </a:prstGeom>
          <a:noFill/>
        </p:spPr>
        <p:txBody>
          <a:bodyPr wrap="square">
            <a:spAutoFit/>
          </a:bodyPr>
          <a:lstStyle/>
          <a:p>
            <a:pPr>
              <a:lnSpc>
                <a:spcPct val="150000"/>
              </a:lnSpc>
              <a:buFont typeface="Arial" panose="020B0604020202020204" pitchFamily="34" charset="0"/>
              <a:buChar char="•"/>
            </a:pPr>
            <a:r>
              <a:rPr lang="en-US" b="1" dirty="0">
                <a:latin typeface="+mj-lt"/>
              </a:rPr>
              <a:t> Regulators &amp; Policymakers</a:t>
            </a:r>
            <a:r>
              <a:rPr lang="en-US" dirty="0">
                <a:latin typeface="+mj-lt"/>
              </a:rPr>
              <a:t> (ensuring fairness).</a:t>
            </a:r>
          </a:p>
          <a:p>
            <a:pPr>
              <a:lnSpc>
                <a:spcPct val="150000"/>
              </a:lnSpc>
              <a:buFont typeface="Arial" panose="020B0604020202020204" pitchFamily="34" charset="0"/>
              <a:buChar char="•"/>
            </a:pPr>
            <a:r>
              <a:rPr lang="en-US" b="1" dirty="0">
                <a:latin typeface="+mj-lt"/>
              </a:rPr>
              <a:t> Business Leaders</a:t>
            </a:r>
            <a:r>
              <a:rPr lang="en-US" dirty="0">
                <a:latin typeface="+mj-lt"/>
              </a:rPr>
              <a:t> (AI-driven decision-making transparency).</a:t>
            </a:r>
          </a:p>
        </p:txBody>
      </p:sp>
      <p:sp>
        <p:nvSpPr>
          <p:cNvPr id="12" name="TextBox 11">
            <a:extLst>
              <a:ext uri="{FF2B5EF4-FFF2-40B4-BE49-F238E27FC236}">
                <a16:creationId xmlns:a16="http://schemas.microsoft.com/office/drawing/2014/main" id="{D1245602-4FE0-0DE2-BBEC-5B02CCB3F9DE}"/>
              </a:ext>
            </a:extLst>
          </p:cNvPr>
          <p:cNvSpPr txBox="1"/>
          <p:nvPr/>
        </p:nvSpPr>
        <p:spPr>
          <a:xfrm>
            <a:off x="484745" y="4793804"/>
            <a:ext cx="6315074" cy="880369"/>
          </a:xfrm>
          <a:prstGeom prst="rect">
            <a:avLst/>
          </a:prstGeom>
          <a:noFill/>
        </p:spPr>
        <p:txBody>
          <a:bodyPr wrap="square">
            <a:spAutoFit/>
          </a:bodyPr>
          <a:lstStyle/>
          <a:p>
            <a:pPr>
              <a:lnSpc>
                <a:spcPct val="150000"/>
              </a:lnSpc>
              <a:buFont typeface="Arial" panose="020B0604020202020204" pitchFamily="34" charset="0"/>
              <a:buChar char="•"/>
            </a:pPr>
            <a:r>
              <a:rPr lang="en-US" b="1" dirty="0">
                <a:latin typeface="+mj-lt"/>
              </a:rPr>
              <a:t> End Users</a:t>
            </a:r>
            <a:r>
              <a:rPr lang="en-US" dirty="0">
                <a:latin typeface="+mj-lt"/>
              </a:rPr>
              <a:t> (e.g., medical doctors using AI for diagnosis).</a:t>
            </a:r>
          </a:p>
          <a:p>
            <a:pPr>
              <a:lnSpc>
                <a:spcPct val="150000"/>
              </a:lnSpc>
              <a:buFont typeface="Arial" panose="020B0604020202020204" pitchFamily="34" charset="0"/>
              <a:buChar char="•"/>
            </a:pPr>
            <a:r>
              <a:rPr lang="en-US" b="1" dirty="0">
                <a:latin typeface="+mj-lt"/>
              </a:rPr>
              <a:t> Developers &amp; Data Scientists</a:t>
            </a:r>
            <a:r>
              <a:rPr lang="en-US" dirty="0">
                <a:latin typeface="+mj-lt"/>
              </a:rPr>
              <a:t> (debugging models).</a:t>
            </a:r>
          </a:p>
        </p:txBody>
      </p:sp>
    </p:spTree>
    <p:extLst>
      <p:ext uri="{BB962C8B-B14F-4D97-AF65-F5344CB8AC3E}">
        <p14:creationId xmlns:p14="http://schemas.microsoft.com/office/powerpoint/2010/main" val="1084260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A3E10-51BB-97E2-B45B-D2D3D24C5B62}"/>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1F5920E7-8CC2-5F19-5F88-B55B1CE016E3}"/>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D3BF4B4E-7FD6-3446-9BCB-1EA881ED219A}"/>
              </a:ext>
            </a:extLst>
          </p:cNvPr>
          <p:cNvPicPr>
            <a:picLocks noChangeAspect="1"/>
          </p:cNvPicPr>
          <p:nvPr/>
        </p:nvPicPr>
        <p:blipFill>
          <a:blip r:embed="rId3"/>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7F1FBE3D-4187-05C8-4A9E-514E60384CE7}"/>
              </a:ext>
            </a:extLst>
          </p:cNvPr>
          <p:cNvSpPr>
            <a:spLocks noGrp="1"/>
          </p:cNvSpPr>
          <p:nvPr>
            <p:ph type="sldNum" sz="quarter" idx="12"/>
          </p:nvPr>
        </p:nvSpPr>
        <p:spPr/>
        <p:txBody>
          <a:bodyPr/>
          <a:lstStyle/>
          <a:p>
            <a:fld id="{EB60BC02-D374-C843-982C-996C93B0F0E6}" type="slidenum">
              <a:rPr lang="en-QA" smtClean="0"/>
              <a:t>6</a:t>
            </a:fld>
            <a:endParaRPr lang="en-QA" dirty="0"/>
          </a:p>
        </p:txBody>
      </p:sp>
      <p:sp>
        <p:nvSpPr>
          <p:cNvPr id="29" name="Title 1">
            <a:extLst>
              <a:ext uri="{FF2B5EF4-FFF2-40B4-BE49-F238E27FC236}">
                <a16:creationId xmlns:a16="http://schemas.microsoft.com/office/drawing/2014/main" id="{31170559-C915-B281-9942-8532BB30ADEA}"/>
              </a:ext>
            </a:extLst>
          </p:cNvPr>
          <p:cNvSpPr>
            <a:spLocks noGrp="1"/>
          </p:cNvSpPr>
          <p:nvPr>
            <p:ph type="title"/>
          </p:nvPr>
        </p:nvSpPr>
        <p:spPr>
          <a:xfrm>
            <a:off x="684770" y="365125"/>
            <a:ext cx="8121027" cy="1325563"/>
          </a:xfrm>
        </p:spPr>
        <p:txBody>
          <a:bodyPr>
            <a:normAutofit/>
          </a:bodyPr>
          <a:lstStyle/>
          <a:p>
            <a:r>
              <a:rPr lang="en-US" sz="3200" b="1" dirty="0"/>
              <a:t>What is Explainable AI?</a:t>
            </a:r>
            <a:br>
              <a:rPr lang="en-US" sz="1200" dirty="0">
                <a:solidFill>
                  <a:srgbClr val="101010"/>
                </a:solidFill>
                <a:effectLst/>
                <a:latin typeface="Helvetica" pitchFamily="2" charset="0"/>
              </a:rPr>
            </a:br>
            <a:endParaRPr lang="en-QA" sz="3200" b="1" dirty="0"/>
          </a:p>
        </p:txBody>
      </p:sp>
      <p:sp>
        <p:nvSpPr>
          <p:cNvPr id="6" name="TextBox 5">
            <a:extLst>
              <a:ext uri="{FF2B5EF4-FFF2-40B4-BE49-F238E27FC236}">
                <a16:creationId xmlns:a16="http://schemas.microsoft.com/office/drawing/2014/main" id="{6956D7D3-2E2F-CEE4-DE3F-1A2EB94EAC06}"/>
              </a:ext>
            </a:extLst>
          </p:cNvPr>
          <p:cNvSpPr txBox="1"/>
          <p:nvPr/>
        </p:nvSpPr>
        <p:spPr>
          <a:xfrm>
            <a:off x="7727534" y="6077377"/>
            <a:ext cx="4288696" cy="577081"/>
          </a:xfrm>
          <a:prstGeom prst="rect">
            <a:avLst/>
          </a:prstGeom>
          <a:noFill/>
        </p:spPr>
        <p:txBody>
          <a:bodyPr wrap="square">
            <a:spAutoFit/>
          </a:bodyPr>
          <a:lstStyle/>
          <a:p>
            <a:r>
              <a:rPr lang="en-US" sz="1050" i="1" dirty="0" err="1">
                <a:latin typeface="+mj-lt"/>
              </a:rPr>
              <a:t>Morocho-Cayamcela</a:t>
            </a:r>
            <a:r>
              <a:rPr lang="en-US" sz="1050" i="1" dirty="0">
                <a:latin typeface="+mj-lt"/>
              </a:rPr>
              <a:t> et al. Machine Learning for 5G/B5G Mobile and Wireless Communications: Potential, Limitations, and Future Directions. IEEE Access 2019.</a:t>
            </a:r>
          </a:p>
        </p:txBody>
      </p:sp>
      <p:pic>
        <p:nvPicPr>
          <p:cNvPr id="3" name="Picture 2" descr="A diagram of a graph&#10;&#10;AI-generated content may be incorrect.">
            <a:extLst>
              <a:ext uri="{FF2B5EF4-FFF2-40B4-BE49-F238E27FC236}">
                <a16:creationId xmlns:a16="http://schemas.microsoft.com/office/drawing/2014/main" id="{4B994371-A5F0-635D-05E7-EA03D03C7C85}"/>
              </a:ext>
            </a:extLst>
          </p:cNvPr>
          <p:cNvPicPr>
            <a:picLocks noChangeAspect="1"/>
          </p:cNvPicPr>
          <p:nvPr/>
        </p:nvPicPr>
        <p:blipFill>
          <a:blip r:embed="rId4"/>
          <a:stretch>
            <a:fillRect/>
          </a:stretch>
        </p:blipFill>
        <p:spPr>
          <a:xfrm>
            <a:off x="2816387" y="1608766"/>
            <a:ext cx="5989410" cy="3942120"/>
          </a:xfrm>
          <a:prstGeom prst="rect">
            <a:avLst/>
          </a:prstGeom>
        </p:spPr>
      </p:pic>
    </p:spTree>
    <p:extLst>
      <p:ext uri="{BB962C8B-B14F-4D97-AF65-F5344CB8AC3E}">
        <p14:creationId xmlns:p14="http://schemas.microsoft.com/office/powerpoint/2010/main" val="916955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DC270-1F1E-2E6D-E031-4A0D5A610269}"/>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8022B888-E494-6E56-0D07-7EEEB2C9636B}"/>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CFA5F81C-7379-A182-783A-BD9B05BD9D19}"/>
              </a:ext>
            </a:extLst>
          </p:cNvPr>
          <p:cNvPicPr>
            <a:picLocks noChangeAspect="1"/>
          </p:cNvPicPr>
          <p:nvPr/>
        </p:nvPicPr>
        <p:blipFill>
          <a:blip r:embed="rId3"/>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8EB7C39A-B9E8-50AC-A61D-4B7D1C1337A9}"/>
              </a:ext>
            </a:extLst>
          </p:cNvPr>
          <p:cNvSpPr>
            <a:spLocks noGrp="1"/>
          </p:cNvSpPr>
          <p:nvPr>
            <p:ph type="sldNum" sz="quarter" idx="12"/>
          </p:nvPr>
        </p:nvSpPr>
        <p:spPr/>
        <p:txBody>
          <a:bodyPr/>
          <a:lstStyle/>
          <a:p>
            <a:fld id="{EB60BC02-D374-C843-982C-996C93B0F0E6}" type="slidenum">
              <a:rPr lang="en-QA" smtClean="0"/>
              <a:t>7</a:t>
            </a:fld>
            <a:endParaRPr lang="en-QA" dirty="0"/>
          </a:p>
        </p:txBody>
      </p:sp>
      <p:sp>
        <p:nvSpPr>
          <p:cNvPr id="29" name="Title 1">
            <a:extLst>
              <a:ext uri="{FF2B5EF4-FFF2-40B4-BE49-F238E27FC236}">
                <a16:creationId xmlns:a16="http://schemas.microsoft.com/office/drawing/2014/main" id="{DAF20A29-FB3C-87D4-E9AD-77F54257648D}"/>
              </a:ext>
            </a:extLst>
          </p:cNvPr>
          <p:cNvSpPr>
            <a:spLocks noGrp="1"/>
          </p:cNvSpPr>
          <p:nvPr>
            <p:ph type="title"/>
          </p:nvPr>
        </p:nvSpPr>
        <p:spPr>
          <a:xfrm>
            <a:off x="684770" y="365125"/>
            <a:ext cx="8121027" cy="1325563"/>
          </a:xfrm>
        </p:spPr>
        <p:txBody>
          <a:bodyPr>
            <a:normAutofit/>
          </a:bodyPr>
          <a:lstStyle/>
          <a:p>
            <a:r>
              <a:rPr lang="en-US" sz="3200" b="1" dirty="0"/>
              <a:t>What is Explainable AI?</a:t>
            </a:r>
            <a:br>
              <a:rPr lang="en-US" sz="1200" dirty="0">
                <a:solidFill>
                  <a:srgbClr val="101010"/>
                </a:solidFill>
                <a:effectLst/>
                <a:latin typeface="Helvetica" pitchFamily="2" charset="0"/>
              </a:rPr>
            </a:br>
            <a:endParaRPr lang="en-QA" sz="3200" b="1" dirty="0"/>
          </a:p>
        </p:txBody>
      </p:sp>
      <p:pic>
        <p:nvPicPr>
          <p:cNvPr id="7" name="Picture 6" descr="A screenshot of a computer&#10;&#10;AI-generated content may be incorrect.">
            <a:extLst>
              <a:ext uri="{FF2B5EF4-FFF2-40B4-BE49-F238E27FC236}">
                <a16:creationId xmlns:a16="http://schemas.microsoft.com/office/drawing/2014/main" id="{B57E8660-DEFD-5FDF-DA28-08C4B7DCF82C}"/>
              </a:ext>
            </a:extLst>
          </p:cNvPr>
          <p:cNvPicPr>
            <a:picLocks noChangeAspect="1"/>
          </p:cNvPicPr>
          <p:nvPr/>
        </p:nvPicPr>
        <p:blipFill>
          <a:blip r:embed="rId4"/>
          <a:stretch>
            <a:fillRect/>
          </a:stretch>
        </p:blipFill>
        <p:spPr>
          <a:xfrm>
            <a:off x="2057400" y="1982563"/>
            <a:ext cx="7868367" cy="3668069"/>
          </a:xfrm>
          <a:prstGeom prst="rect">
            <a:avLst/>
          </a:prstGeom>
        </p:spPr>
      </p:pic>
      <p:sp>
        <p:nvSpPr>
          <p:cNvPr id="8" name="TextBox 7">
            <a:extLst>
              <a:ext uri="{FF2B5EF4-FFF2-40B4-BE49-F238E27FC236}">
                <a16:creationId xmlns:a16="http://schemas.microsoft.com/office/drawing/2014/main" id="{250AB6EE-BA10-251B-7451-EFFC9BFC21C7}"/>
              </a:ext>
            </a:extLst>
          </p:cNvPr>
          <p:cNvSpPr txBox="1"/>
          <p:nvPr/>
        </p:nvSpPr>
        <p:spPr>
          <a:xfrm>
            <a:off x="540163" y="1490633"/>
            <a:ext cx="4015818" cy="400110"/>
          </a:xfrm>
          <a:prstGeom prst="rect">
            <a:avLst/>
          </a:prstGeom>
          <a:noFill/>
        </p:spPr>
        <p:txBody>
          <a:bodyPr wrap="square">
            <a:spAutoFit/>
          </a:bodyPr>
          <a:lstStyle/>
          <a:p>
            <a:r>
              <a:rPr lang="en-US" sz="2000" b="1" dirty="0">
                <a:latin typeface="+mj-lt"/>
              </a:rPr>
              <a:t>Understanding ML models</a:t>
            </a:r>
            <a:endParaRPr lang="en-US" sz="2000" dirty="0">
              <a:latin typeface="+mj-lt"/>
            </a:endParaRPr>
          </a:p>
        </p:txBody>
      </p:sp>
    </p:spTree>
    <p:extLst>
      <p:ext uri="{BB962C8B-B14F-4D97-AF65-F5344CB8AC3E}">
        <p14:creationId xmlns:p14="http://schemas.microsoft.com/office/powerpoint/2010/main" val="685184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157B6-FF26-60B9-C026-591EB2FA4CDC}"/>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DB884C15-7EB4-001A-DE47-61C8F306C1A0}"/>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28721F0E-2C8C-FF56-3F02-96F8F08DDE8F}"/>
              </a:ext>
            </a:extLst>
          </p:cNvPr>
          <p:cNvPicPr>
            <a:picLocks noChangeAspect="1"/>
          </p:cNvPicPr>
          <p:nvPr/>
        </p:nvPicPr>
        <p:blipFill>
          <a:blip r:embed="rId3"/>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3A2AD59A-97ED-E94F-D8FC-12A3265D966E}"/>
              </a:ext>
            </a:extLst>
          </p:cNvPr>
          <p:cNvSpPr>
            <a:spLocks noGrp="1"/>
          </p:cNvSpPr>
          <p:nvPr>
            <p:ph type="sldNum" sz="quarter" idx="12"/>
          </p:nvPr>
        </p:nvSpPr>
        <p:spPr/>
        <p:txBody>
          <a:bodyPr/>
          <a:lstStyle/>
          <a:p>
            <a:fld id="{EB60BC02-D374-C843-982C-996C93B0F0E6}" type="slidenum">
              <a:rPr lang="en-QA" smtClean="0"/>
              <a:t>8</a:t>
            </a:fld>
            <a:endParaRPr lang="en-QA" dirty="0"/>
          </a:p>
        </p:txBody>
      </p:sp>
      <p:sp>
        <p:nvSpPr>
          <p:cNvPr id="29" name="Title 1">
            <a:extLst>
              <a:ext uri="{FF2B5EF4-FFF2-40B4-BE49-F238E27FC236}">
                <a16:creationId xmlns:a16="http://schemas.microsoft.com/office/drawing/2014/main" id="{8CA292E8-CA58-50FD-0E2B-1B8173E768E6}"/>
              </a:ext>
            </a:extLst>
          </p:cNvPr>
          <p:cNvSpPr>
            <a:spLocks noGrp="1"/>
          </p:cNvSpPr>
          <p:nvPr>
            <p:ph type="title"/>
          </p:nvPr>
        </p:nvSpPr>
        <p:spPr>
          <a:xfrm>
            <a:off x="684770" y="365125"/>
            <a:ext cx="8121027" cy="1325563"/>
          </a:xfrm>
        </p:spPr>
        <p:txBody>
          <a:bodyPr>
            <a:normAutofit/>
          </a:bodyPr>
          <a:lstStyle/>
          <a:p>
            <a:r>
              <a:rPr lang="en-US" sz="3200" b="1" dirty="0"/>
              <a:t>What is Explainable AI?</a:t>
            </a:r>
            <a:br>
              <a:rPr lang="en-US" sz="1200" dirty="0">
                <a:solidFill>
                  <a:srgbClr val="101010"/>
                </a:solidFill>
                <a:effectLst/>
                <a:latin typeface="Helvetica" pitchFamily="2" charset="0"/>
              </a:rPr>
            </a:br>
            <a:endParaRPr lang="en-QA" sz="3200" b="1" dirty="0"/>
          </a:p>
        </p:txBody>
      </p:sp>
      <p:graphicFrame>
        <p:nvGraphicFramePr>
          <p:cNvPr id="2" name="Table 1">
            <a:extLst>
              <a:ext uri="{FF2B5EF4-FFF2-40B4-BE49-F238E27FC236}">
                <a16:creationId xmlns:a16="http://schemas.microsoft.com/office/drawing/2014/main" id="{C3FE7D25-A0E4-3904-B760-6E0E6D7D82A6}"/>
              </a:ext>
            </a:extLst>
          </p:cNvPr>
          <p:cNvGraphicFramePr>
            <a:graphicFrameLocks noGrp="1"/>
          </p:cNvGraphicFramePr>
          <p:nvPr>
            <p:extLst>
              <p:ext uri="{D42A27DB-BD31-4B8C-83A1-F6EECF244321}">
                <p14:modId xmlns:p14="http://schemas.microsoft.com/office/powerpoint/2010/main" val="2590993560"/>
              </p:ext>
            </p:extLst>
          </p:nvPr>
        </p:nvGraphicFramePr>
        <p:xfrm>
          <a:off x="1060822" y="1538229"/>
          <a:ext cx="5418666" cy="2883211"/>
        </p:xfrm>
        <a:graphic>
          <a:graphicData uri="http://schemas.openxmlformats.org/drawingml/2006/table">
            <a:tbl>
              <a:tblPr firstRow="1" bandRow="1">
                <a:tableStyleId>{00A15C55-8517-42AA-B614-E9B94910E393}</a:tableStyleId>
              </a:tblPr>
              <a:tblGrid>
                <a:gridCol w="2635347">
                  <a:extLst>
                    <a:ext uri="{9D8B030D-6E8A-4147-A177-3AD203B41FA5}">
                      <a16:colId xmlns:a16="http://schemas.microsoft.com/office/drawing/2014/main" val="2459202118"/>
                    </a:ext>
                  </a:extLst>
                </a:gridCol>
                <a:gridCol w="2783319">
                  <a:extLst>
                    <a:ext uri="{9D8B030D-6E8A-4147-A177-3AD203B41FA5}">
                      <a16:colId xmlns:a16="http://schemas.microsoft.com/office/drawing/2014/main" val="365583081"/>
                    </a:ext>
                  </a:extLst>
                </a:gridCol>
              </a:tblGrid>
              <a:tr h="435301">
                <a:tc>
                  <a:txBody>
                    <a:bodyPr/>
                    <a:lstStyle/>
                    <a:p>
                      <a:r>
                        <a:rPr lang="en-US" dirty="0"/>
                        <a:t>Model</a:t>
                      </a:r>
                      <a:endParaRPr lang="en-QA" dirty="0">
                        <a:latin typeface="+mj-lt"/>
                      </a:endParaRPr>
                    </a:p>
                  </a:txBody>
                  <a:tcPr/>
                </a:tc>
                <a:tc>
                  <a:txBody>
                    <a:bodyPr/>
                    <a:lstStyle/>
                    <a:p>
                      <a:r>
                        <a:rPr lang="en-US" dirty="0"/>
                        <a:t>Explainability</a:t>
                      </a:r>
                      <a:endParaRPr lang="en-QA" dirty="0">
                        <a:latin typeface="+mj-lt"/>
                      </a:endParaRPr>
                    </a:p>
                  </a:txBody>
                  <a:tcPr/>
                </a:tc>
                <a:extLst>
                  <a:ext uri="{0D108BD9-81ED-4DB2-BD59-A6C34878D82A}">
                    <a16:rowId xmlns:a16="http://schemas.microsoft.com/office/drawing/2014/main" val="166145455"/>
                  </a:ext>
                </a:extLst>
              </a:tr>
              <a:tr h="541885">
                <a:tc>
                  <a:txBody>
                    <a:bodyPr/>
                    <a:lstStyle/>
                    <a:p>
                      <a:r>
                        <a:rPr lang="en-US" dirty="0"/>
                        <a:t>Linear Regression</a:t>
                      </a:r>
                      <a:endParaRPr lang="en-US" b="1" dirty="0">
                        <a:latin typeface="+mj-lt"/>
                      </a:endParaRPr>
                    </a:p>
                  </a:txBody>
                  <a:tcPr anchor="ctr"/>
                </a:tc>
                <a:tc>
                  <a:txBody>
                    <a:bodyPr/>
                    <a:lstStyle/>
                    <a:p>
                      <a:r>
                        <a:rPr lang="en-US" sz="1600" dirty="0"/>
                        <a:t>High</a:t>
                      </a:r>
                      <a:endParaRPr lang="en-US" sz="1600" dirty="0">
                        <a:latin typeface="+mj-lt"/>
                      </a:endParaRPr>
                    </a:p>
                  </a:txBody>
                  <a:tcPr anchor="ctr"/>
                </a:tc>
                <a:extLst>
                  <a:ext uri="{0D108BD9-81ED-4DB2-BD59-A6C34878D82A}">
                    <a16:rowId xmlns:a16="http://schemas.microsoft.com/office/drawing/2014/main" val="164930562"/>
                  </a:ext>
                </a:extLst>
              </a:tr>
              <a:tr h="535913">
                <a:tc>
                  <a:txBody>
                    <a:bodyPr/>
                    <a:lstStyle/>
                    <a:p>
                      <a:r>
                        <a:rPr lang="en-US" dirty="0"/>
                        <a:t>Decision Trees</a:t>
                      </a:r>
                      <a:endParaRPr lang="en-QA" b="1" dirty="0">
                        <a:latin typeface="+mj-lt"/>
                      </a:endParaRPr>
                    </a:p>
                  </a:txBody>
                  <a:tcPr/>
                </a:tc>
                <a:tc>
                  <a:txBody>
                    <a:bodyPr/>
                    <a:lstStyle/>
                    <a:p>
                      <a:r>
                        <a:rPr lang="en-US" sz="1600" dirty="0"/>
                        <a:t>High</a:t>
                      </a:r>
                      <a:endParaRPr lang="en-QA" sz="1600" dirty="0">
                        <a:latin typeface="+mj-lt"/>
                      </a:endParaRPr>
                    </a:p>
                  </a:txBody>
                  <a:tcPr/>
                </a:tc>
                <a:extLst>
                  <a:ext uri="{0D108BD9-81ED-4DB2-BD59-A6C34878D82A}">
                    <a16:rowId xmlns:a16="http://schemas.microsoft.com/office/drawing/2014/main" val="604497564"/>
                  </a:ext>
                </a:extLst>
              </a:tr>
              <a:tr h="499510">
                <a:tc>
                  <a:txBody>
                    <a:bodyPr/>
                    <a:lstStyle/>
                    <a:p>
                      <a:r>
                        <a:rPr lang="en-US" dirty="0"/>
                        <a:t>Random Forests</a:t>
                      </a:r>
                      <a:endParaRPr lang="en-QA" b="1" dirty="0">
                        <a:latin typeface="+mj-lt"/>
                      </a:endParaRPr>
                    </a:p>
                  </a:txBody>
                  <a:tcPr/>
                </a:tc>
                <a:tc>
                  <a:txBody>
                    <a:bodyPr/>
                    <a:lstStyle/>
                    <a:p>
                      <a:r>
                        <a:rPr lang="en-US" sz="1600" dirty="0"/>
                        <a:t>Medium</a:t>
                      </a:r>
                      <a:endParaRPr lang="en-QA" sz="1600" dirty="0">
                        <a:latin typeface="+mj-lt"/>
                      </a:endParaRPr>
                    </a:p>
                  </a:txBody>
                  <a:tcPr/>
                </a:tc>
                <a:extLst>
                  <a:ext uri="{0D108BD9-81ED-4DB2-BD59-A6C34878D82A}">
                    <a16:rowId xmlns:a16="http://schemas.microsoft.com/office/drawing/2014/main" val="3316806149"/>
                  </a:ext>
                </a:extLst>
              </a:tr>
              <a:tr h="435301">
                <a:tc>
                  <a:txBody>
                    <a:bodyPr/>
                    <a:lstStyle/>
                    <a:p>
                      <a:r>
                        <a:rPr lang="en-US" dirty="0"/>
                        <a:t>Deep Learning (DNNs)</a:t>
                      </a:r>
                      <a:endParaRPr lang="en-QA" b="1" dirty="0">
                        <a:latin typeface="+mj-lt"/>
                      </a:endParaRPr>
                    </a:p>
                  </a:txBody>
                  <a:tcPr/>
                </a:tc>
                <a:tc>
                  <a:txBody>
                    <a:bodyPr/>
                    <a:lstStyle/>
                    <a:p>
                      <a:r>
                        <a:rPr lang="en-US" sz="1600" dirty="0"/>
                        <a:t>Low</a:t>
                      </a:r>
                      <a:endParaRPr lang="en-QA" sz="1600" dirty="0">
                        <a:latin typeface="+mj-lt"/>
                      </a:endParaRPr>
                    </a:p>
                  </a:txBody>
                  <a:tcPr/>
                </a:tc>
                <a:extLst>
                  <a:ext uri="{0D108BD9-81ED-4DB2-BD59-A6C34878D82A}">
                    <a16:rowId xmlns:a16="http://schemas.microsoft.com/office/drawing/2014/main" val="3106684095"/>
                  </a:ext>
                </a:extLst>
              </a:tr>
              <a:tr h="435301">
                <a:tc>
                  <a:txBody>
                    <a:bodyPr/>
                    <a:lstStyle/>
                    <a:p>
                      <a:r>
                        <a:rPr lang="en-US" dirty="0"/>
                        <a:t>Transformers (e.g., GPT)</a:t>
                      </a:r>
                      <a:endParaRPr lang="en-QA" b="1" dirty="0">
                        <a:latin typeface="+mj-lt"/>
                      </a:endParaRPr>
                    </a:p>
                  </a:txBody>
                  <a:tcPr/>
                </a:tc>
                <a:tc>
                  <a:txBody>
                    <a:bodyPr/>
                    <a:lstStyle/>
                    <a:p>
                      <a:r>
                        <a:rPr lang="en-US" sz="1600" dirty="0"/>
                        <a:t>Very Low</a:t>
                      </a:r>
                      <a:endParaRPr lang="en-QA" sz="1600" dirty="0">
                        <a:latin typeface="+mj-lt"/>
                      </a:endParaRPr>
                    </a:p>
                  </a:txBody>
                  <a:tcPr/>
                </a:tc>
                <a:extLst>
                  <a:ext uri="{0D108BD9-81ED-4DB2-BD59-A6C34878D82A}">
                    <a16:rowId xmlns:a16="http://schemas.microsoft.com/office/drawing/2014/main" val="208002436"/>
                  </a:ext>
                </a:extLst>
              </a:tr>
            </a:tbl>
          </a:graphicData>
        </a:graphic>
      </p:graphicFrame>
    </p:spTree>
    <p:extLst>
      <p:ext uri="{BB962C8B-B14F-4D97-AF65-F5344CB8AC3E}">
        <p14:creationId xmlns:p14="http://schemas.microsoft.com/office/powerpoint/2010/main" val="305144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4A0D7-6540-5B28-4965-7B5711DE7240}"/>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9ED988AD-E3B1-A50B-4D95-38EDB1E8D314}"/>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A62D1E8E-01D3-229E-9A07-B55AA6BB4D7B}"/>
              </a:ext>
            </a:extLst>
          </p:cNvPr>
          <p:cNvPicPr>
            <a:picLocks noChangeAspect="1"/>
          </p:cNvPicPr>
          <p:nvPr/>
        </p:nvPicPr>
        <p:blipFill>
          <a:blip r:embed="rId3"/>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C6B35A9C-93FC-E856-5B5A-0A79F5BECFCB}"/>
              </a:ext>
            </a:extLst>
          </p:cNvPr>
          <p:cNvSpPr>
            <a:spLocks noGrp="1"/>
          </p:cNvSpPr>
          <p:nvPr>
            <p:ph type="sldNum" sz="quarter" idx="12"/>
          </p:nvPr>
        </p:nvSpPr>
        <p:spPr/>
        <p:txBody>
          <a:bodyPr/>
          <a:lstStyle/>
          <a:p>
            <a:fld id="{EB60BC02-D374-C843-982C-996C93B0F0E6}" type="slidenum">
              <a:rPr lang="en-QA" smtClean="0"/>
              <a:t>9</a:t>
            </a:fld>
            <a:endParaRPr lang="en-QA"/>
          </a:p>
        </p:txBody>
      </p:sp>
      <p:sp>
        <p:nvSpPr>
          <p:cNvPr id="29" name="Title 1">
            <a:extLst>
              <a:ext uri="{FF2B5EF4-FFF2-40B4-BE49-F238E27FC236}">
                <a16:creationId xmlns:a16="http://schemas.microsoft.com/office/drawing/2014/main" id="{BB0AD925-3883-FEAD-330A-6B994C842D2C}"/>
              </a:ext>
            </a:extLst>
          </p:cNvPr>
          <p:cNvSpPr>
            <a:spLocks noGrp="1"/>
          </p:cNvSpPr>
          <p:nvPr>
            <p:ph type="title"/>
          </p:nvPr>
        </p:nvSpPr>
        <p:spPr>
          <a:xfrm>
            <a:off x="684770" y="365125"/>
            <a:ext cx="8121027" cy="1325563"/>
          </a:xfrm>
        </p:spPr>
        <p:txBody>
          <a:bodyPr>
            <a:normAutofit/>
          </a:bodyPr>
          <a:lstStyle/>
          <a:p>
            <a:r>
              <a:rPr lang="en-US" sz="3200" b="1" dirty="0"/>
              <a:t>Why Explainability matters? </a:t>
            </a:r>
            <a:br>
              <a:rPr lang="en-US" sz="1200" dirty="0">
                <a:solidFill>
                  <a:srgbClr val="101010"/>
                </a:solidFill>
                <a:effectLst/>
                <a:latin typeface="Helvetica" pitchFamily="2" charset="0"/>
              </a:rPr>
            </a:br>
            <a:endParaRPr lang="en-QA" sz="3200" b="1" dirty="0"/>
          </a:p>
        </p:txBody>
      </p:sp>
      <p:sp>
        <p:nvSpPr>
          <p:cNvPr id="5" name="TextBox 4">
            <a:extLst>
              <a:ext uri="{FF2B5EF4-FFF2-40B4-BE49-F238E27FC236}">
                <a16:creationId xmlns:a16="http://schemas.microsoft.com/office/drawing/2014/main" id="{400336E6-57AA-5A85-8D40-5C37DD34283D}"/>
              </a:ext>
            </a:extLst>
          </p:cNvPr>
          <p:cNvSpPr txBox="1"/>
          <p:nvPr/>
        </p:nvSpPr>
        <p:spPr>
          <a:xfrm>
            <a:off x="684770" y="1690688"/>
            <a:ext cx="9692285" cy="1631216"/>
          </a:xfrm>
          <a:prstGeom prst="rect">
            <a:avLst/>
          </a:prstGeom>
          <a:noFill/>
        </p:spPr>
        <p:txBody>
          <a:bodyPr wrap="square">
            <a:spAutoFit/>
          </a:bodyPr>
          <a:lstStyle/>
          <a:p>
            <a:pPr>
              <a:buFont typeface="+mj-lt"/>
              <a:buAutoNum type="arabicPeriod"/>
            </a:pPr>
            <a:r>
              <a:rPr lang="en-US" b="1" dirty="0">
                <a:latin typeface="+mj-lt"/>
              </a:rPr>
              <a:t>   Transparency and User Trust</a:t>
            </a:r>
          </a:p>
          <a:p>
            <a:endParaRPr lang="en-US" sz="500" dirty="0">
              <a:latin typeface="+mj-lt"/>
            </a:endParaRPr>
          </a:p>
          <a:p>
            <a:pPr marL="742950" lvl="1" indent="-285750">
              <a:buFont typeface="Arial" panose="020B0604020202020204" pitchFamily="34" charset="0"/>
              <a:buChar char="•"/>
            </a:pPr>
            <a:r>
              <a:rPr lang="en-US" dirty="0">
                <a:latin typeface="+mj-lt"/>
              </a:rPr>
              <a:t>Users need to understand AI decisions, especially in high-stakes scenarios like loan approvals or medical diagnoses.</a:t>
            </a:r>
          </a:p>
          <a:p>
            <a:pPr lvl="1"/>
            <a:endParaRPr lang="en-US" sz="500" dirty="0">
              <a:latin typeface="+mj-lt"/>
            </a:endParaRPr>
          </a:p>
          <a:p>
            <a:pPr marL="742950" lvl="1" indent="-285750">
              <a:buFont typeface="Arial" panose="020B0604020202020204" pitchFamily="34" charset="0"/>
              <a:buChar char="•"/>
            </a:pPr>
            <a:r>
              <a:rPr lang="en-US" dirty="0">
                <a:latin typeface="+mj-lt"/>
              </a:rPr>
              <a:t>Example: A customer wants to know why their loan application was rejected, or a patient seeks clarity on why an AI model suggests cancer-related medication.</a:t>
            </a:r>
          </a:p>
        </p:txBody>
      </p:sp>
      <p:sp>
        <p:nvSpPr>
          <p:cNvPr id="8" name="TextBox 7">
            <a:extLst>
              <a:ext uri="{FF2B5EF4-FFF2-40B4-BE49-F238E27FC236}">
                <a16:creationId xmlns:a16="http://schemas.microsoft.com/office/drawing/2014/main" id="{0AEC8789-0CA1-F582-C112-187503EC1FFF}"/>
              </a:ext>
            </a:extLst>
          </p:cNvPr>
          <p:cNvSpPr txBox="1"/>
          <p:nvPr/>
        </p:nvSpPr>
        <p:spPr>
          <a:xfrm>
            <a:off x="684769" y="3594055"/>
            <a:ext cx="9692285" cy="2262158"/>
          </a:xfrm>
          <a:prstGeom prst="rect">
            <a:avLst/>
          </a:prstGeom>
          <a:noFill/>
        </p:spPr>
        <p:txBody>
          <a:bodyPr wrap="square">
            <a:spAutoFit/>
          </a:bodyPr>
          <a:lstStyle/>
          <a:p>
            <a:pPr marL="342900" indent="-342900">
              <a:buFont typeface="+mj-lt"/>
              <a:buAutoNum type="arabicPeriod" startAt="2"/>
            </a:pPr>
            <a:r>
              <a:rPr lang="en-US" b="1" dirty="0">
                <a:latin typeface="+mj-lt"/>
              </a:rPr>
              <a:t>Model Validation and Debugging</a:t>
            </a:r>
          </a:p>
          <a:p>
            <a:endParaRPr lang="en-US" sz="500" dirty="0">
              <a:latin typeface="+mj-lt"/>
            </a:endParaRPr>
          </a:p>
          <a:p>
            <a:pPr marL="800100" lvl="1" indent="-342900">
              <a:buFont typeface="Arial" panose="020B0604020202020204" pitchFamily="34" charset="0"/>
              <a:buChar char="•"/>
            </a:pPr>
            <a:r>
              <a:rPr lang="en-US" dirty="0">
                <a:latin typeface="+mj-lt"/>
              </a:rPr>
              <a:t>AI models can inherit biases from training data, leading to unfair and unethical decisions (e.g., gender bias in loan approvals).</a:t>
            </a:r>
          </a:p>
          <a:p>
            <a:pPr lvl="1"/>
            <a:endParaRPr lang="en-US" sz="500" dirty="0">
              <a:latin typeface="+mj-lt"/>
            </a:endParaRPr>
          </a:p>
          <a:p>
            <a:pPr marL="800100" lvl="1" indent="-342900">
              <a:buFont typeface="Arial" panose="020B0604020202020204" pitchFamily="34" charset="0"/>
              <a:buChar char="•"/>
            </a:pPr>
            <a:r>
              <a:rPr lang="en-US" dirty="0">
                <a:latin typeface="+mj-lt"/>
              </a:rPr>
              <a:t>Explainability helps validate models before deployment, ensuring compliance with legal and ethical standards.</a:t>
            </a:r>
          </a:p>
          <a:p>
            <a:pPr lvl="1"/>
            <a:endParaRPr lang="en-US" sz="500" dirty="0">
              <a:latin typeface="+mj-lt"/>
            </a:endParaRPr>
          </a:p>
          <a:p>
            <a:pPr marL="800100" lvl="1" indent="-342900">
              <a:buFont typeface="Arial" panose="020B0604020202020204" pitchFamily="34" charset="0"/>
              <a:buChar char="•"/>
            </a:pPr>
            <a:r>
              <a:rPr lang="en-US" dirty="0">
                <a:latin typeface="+mj-lt"/>
              </a:rPr>
              <a:t>AI explanations also assist in debugging errors and mitigating adversarial ML attacks, reducing incorrect decisions.</a:t>
            </a:r>
          </a:p>
        </p:txBody>
      </p:sp>
    </p:spTree>
    <p:extLst>
      <p:ext uri="{BB962C8B-B14F-4D97-AF65-F5344CB8AC3E}">
        <p14:creationId xmlns:p14="http://schemas.microsoft.com/office/powerpoint/2010/main" val="183064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C3504-0E7F-1F66-D25E-297D53A874F8}"/>
            </a:ext>
          </a:extLst>
        </p:cNvPr>
        <p:cNvGrpSpPr/>
        <p:nvPr/>
      </p:nvGrpSpPr>
      <p:grpSpPr>
        <a:xfrm>
          <a:off x="0" y="0"/>
          <a:ext cx="0" cy="0"/>
          <a:chOff x="0" y="0"/>
          <a:chExt cx="0" cy="0"/>
        </a:xfrm>
      </p:grpSpPr>
      <p:sp>
        <p:nvSpPr>
          <p:cNvPr id="15" name="Footer Placeholder 14">
            <a:extLst>
              <a:ext uri="{FF2B5EF4-FFF2-40B4-BE49-F238E27FC236}">
                <a16:creationId xmlns:a16="http://schemas.microsoft.com/office/drawing/2014/main" id="{E3844427-675D-C88C-3ED7-6ADC29A0FD40}"/>
              </a:ext>
            </a:extLst>
          </p:cNvPr>
          <p:cNvSpPr>
            <a:spLocks noGrp="1"/>
          </p:cNvSpPr>
          <p:nvPr>
            <p:ph type="ftr" sz="quarter" idx="11"/>
          </p:nvPr>
        </p:nvSpPr>
        <p:spPr>
          <a:xfrm>
            <a:off x="0" y="6311900"/>
            <a:ext cx="4114800" cy="365125"/>
          </a:xfrm>
        </p:spPr>
        <p:txBody>
          <a:bodyPr/>
          <a:lstStyle/>
          <a:p>
            <a:r>
              <a:rPr lang="en-US" sz="1400" i="1" dirty="0"/>
              <a:t>DSAI 4201 - Selected Topics in Data Science</a:t>
            </a:r>
            <a:endParaRPr lang="en-QA" sz="1400" i="1" dirty="0"/>
          </a:p>
        </p:txBody>
      </p:sp>
      <p:pic>
        <p:nvPicPr>
          <p:cNvPr id="16" name="Picture 15" descr="A close-up of a logo&#10;&#10;Description automatically generated">
            <a:extLst>
              <a:ext uri="{FF2B5EF4-FFF2-40B4-BE49-F238E27FC236}">
                <a16:creationId xmlns:a16="http://schemas.microsoft.com/office/drawing/2014/main" id="{44395E29-B469-0F2C-CFBB-660F9E885141}"/>
              </a:ext>
            </a:extLst>
          </p:cNvPr>
          <p:cNvPicPr>
            <a:picLocks noChangeAspect="1"/>
          </p:cNvPicPr>
          <p:nvPr/>
        </p:nvPicPr>
        <p:blipFill>
          <a:blip r:embed="rId2"/>
          <a:stretch>
            <a:fillRect/>
          </a:stretch>
        </p:blipFill>
        <p:spPr>
          <a:xfrm>
            <a:off x="9571844" y="33864"/>
            <a:ext cx="2620156" cy="823191"/>
          </a:xfrm>
          <a:prstGeom prst="rect">
            <a:avLst/>
          </a:prstGeom>
        </p:spPr>
      </p:pic>
      <p:sp>
        <p:nvSpPr>
          <p:cNvPr id="25" name="Slide Number Placeholder 24">
            <a:extLst>
              <a:ext uri="{FF2B5EF4-FFF2-40B4-BE49-F238E27FC236}">
                <a16:creationId xmlns:a16="http://schemas.microsoft.com/office/drawing/2014/main" id="{2D47EE35-F9F5-C7E6-A0D5-B52B80AB0FBA}"/>
              </a:ext>
            </a:extLst>
          </p:cNvPr>
          <p:cNvSpPr>
            <a:spLocks noGrp="1"/>
          </p:cNvSpPr>
          <p:nvPr>
            <p:ph type="sldNum" sz="quarter" idx="12"/>
          </p:nvPr>
        </p:nvSpPr>
        <p:spPr/>
        <p:txBody>
          <a:bodyPr/>
          <a:lstStyle/>
          <a:p>
            <a:fld id="{EB60BC02-D374-C843-982C-996C93B0F0E6}" type="slidenum">
              <a:rPr lang="en-QA" smtClean="0"/>
              <a:t>10</a:t>
            </a:fld>
            <a:endParaRPr lang="en-QA"/>
          </a:p>
        </p:txBody>
      </p:sp>
      <p:sp>
        <p:nvSpPr>
          <p:cNvPr id="29" name="Title 1">
            <a:extLst>
              <a:ext uri="{FF2B5EF4-FFF2-40B4-BE49-F238E27FC236}">
                <a16:creationId xmlns:a16="http://schemas.microsoft.com/office/drawing/2014/main" id="{CAEE8D6F-123C-2480-8A4A-A34AF764FA21}"/>
              </a:ext>
            </a:extLst>
          </p:cNvPr>
          <p:cNvSpPr>
            <a:spLocks noGrp="1"/>
          </p:cNvSpPr>
          <p:nvPr>
            <p:ph type="title"/>
          </p:nvPr>
        </p:nvSpPr>
        <p:spPr>
          <a:xfrm>
            <a:off x="684770" y="365125"/>
            <a:ext cx="8121027" cy="1325563"/>
          </a:xfrm>
        </p:spPr>
        <p:txBody>
          <a:bodyPr>
            <a:normAutofit/>
          </a:bodyPr>
          <a:lstStyle/>
          <a:p>
            <a:r>
              <a:rPr lang="en-US" sz="3200" b="1" dirty="0"/>
              <a:t>Why Explainability matters? </a:t>
            </a:r>
            <a:br>
              <a:rPr lang="en-US" sz="1200" dirty="0">
                <a:solidFill>
                  <a:srgbClr val="101010"/>
                </a:solidFill>
                <a:effectLst/>
                <a:latin typeface="Helvetica" pitchFamily="2" charset="0"/>
              </a:rPr>
            </a:br>
            <a:endParaRPr lang="en-QA" sz="3200" b="1" dirty="0"/>
          </a:p>
        </p:txBody>
      </p:sp>
      <p:sp>
        <p:nvSpPr>
          <p:cNvPr id="5" name="TextBox 4">
            <a:extLst>
              <a:ext uri="{FF2B5EF4-FFF2-40B4-BE49-F238E27FC236}">
                <a16:creationId xmlns:a16="http://schemas.microsoft.com/office/drawing/2014/main" id="{9444A330-E262-D1AD-DF12-8C91ECE8D42A}"/>
              </a:ext>
            </a:extLst>
          </p:cNvPr>
          <p:cNvSpPr txBox="1"/>
          <p:nvPr/>
        </p:nvSpPr>
        <p:spPr>
          <a:xfrm>
            <a:off x="684770" y="1666160"/>
            <a:ext cx="9476509" cy="1354217"/>
          </a:xfrm>
          <a:prstGeom prst="rect">
            <a:avLst/>
          </a:prstGeom>
          <a:noFill/>
        </p:spPr>
        <p:txBody>
          <a:bodyPr wrap="square">
            <a:spAutoFit/>
          </a:bodyPr>
          <a:lstStyle/>
          <a:p>
            <a:pPr marL="342900" indent="-342900">
              <a:buFont typeface="+mj-lt"/>
              <a:buAutoNum type="arabicPeriod" startAt="3"/>
            </a:pPr>
            <a:r>
              <a:rPr lang="en-US" b="1" dirty="0">
                <a:latin typeface="+mj-lt"/>
              </a:rPr>
              <a:t> Knowledge Discovery and Counterfactual Explanations</a:t>
            </a:r>
          </a:p>
          <a:p>
            <a:endParaRPr lang="en-US" sz="500" dirty="0">
              <a:latin typeface="+mj-lt"/>
            </a:endParaRPr>
          </a:p>
          <a:p>
            <a:pPr marL="800100" lvl="1" indent="-342900">
              <a:buFont typeface="Arial" panose="020B0604020202020204" pitchFamily="34" charset="0"/>
              <a:buChar char="•"/>
            </a:pPr>
            <a:r>
              <a:rPr lang="en-US" dirty="0">
                <a:latin typeface="+mj-lt"/>
              </a:rPr>
              <a:t>XAI can </a:t>
            </a:r>
            <a:r>
              <a:rPr lang="en-US" b="1" dirty="0">
                <a:latin typeface="+mj-lt"/>
              </a:rPr>
              <a:t>extract hidden insights</a:t>
            </a:r>
            <a:r>
              <a:rPr lang="en-US" dirty="0">
                <a:latin typeface="+mj-lt"/>
              </a:rPr>
              <a:t> from model data and suggest actionable changes.</a:t>
            </a:r>
          </a:p>
          <a:p>
            <a:pPr lvl="1"/>
            <a:endParaRPr lang="en-US" sz="500" dirty="0">
              <a:latin typeface="+mj-lt"/>
            </a:endParaRPr>
          </a:p>
          <a:p>
            <a:pPr marL="800100" lvl="1" indent="-342900">
              <a:buFont typeface="Arial" panose="020B0604020202020204" pitchFamily="34" charset="0"/>
              <a:buChar char="•"/>
            </a:pPr>
            <a:r>
              <a:rPr lang="en-US" dirty="0">
                <a:latin typeface="+mj-lt"/>
              </a:rPr>
              <a:t>Example: If a loan application is rejected, </a:t>
            </a:r>
            <a:r>
              <a:rPr lang="en-US" b="1" dirty="0">
                <a:latin typeface="+mj-lt"/>
              </a:rPr>
              <a:t>counterfactual explanations</a:t>
            </a:r>
            <a:r>
              <a:rPr lang="en-US" dirty="0">
                <a:latin typeface="+mj-lt"/>
              </a:rPr>
              <a:t> might suggest improving the credit score to increase approval chances.</a:t>
            </a:r>
          </a:p>
        </p:txBody>
      </p:sp>
      <p:sp>
        <p:nvSpPr>
          <p:cNvPr id="3" name="TextBox 2">
            <a:extLst>
              <a:ext uri="{FF2B5EF4-FFF2-40B4-BE49-F238E27FC236}">
                <a16:creationId xmlns:a16="http://schemas.microsoft.com/office/drawing/2014/main" id="{77487525-6296-406A-1069-0B813263C8C1}"/>
              </a:ext>
            </a:extLst>
          </p:cNvPr>
          <p:cNvSpPr txBox="1"/>
          <p:nvPr/>
        </p:nvSpPr>
        <p:spPr>
          <a:xfrm>
            <a:off x="684770" y="3455407"/>
            <a:ext cx="8265266" cy="1631216"/>
          </a:xfrm>
          <a:prstGeom prst="rect">
            <a:avLst/>
          </a:prstGeom>
          <a:noFill/>
        </p:spPr>
        <p:txBody>
          <a:bodyPr wrap="square">
            <a:spAutoFit/>
          </a:bodyPr>
          <a:lstStyle/>
          <a:p>
            <a:pPr marL="342900" indent="-342900">
              <a:buFont typeface="+mj-lt"/>
              <a:buAutoNum type="arabicPeriod" startAt="4"/>
            </a:pPr>
            <a:r>
              <a:rPr lang="en-US" b="1" dirty="0">
                <a:latin typeface="+mj-lt"/>
              </a:rPr>
              <a:t> Optimized Model Performance</a:t>
            </a:r>
          </a:p>
          <a:p>
            <a:endParaRPr lang="en-US" sz="500" dirty="0">
              <a:latin typeface="+mj-lt"/>
            </a:endParaRPr>
          </a:p>
          <a:p>
            <a:pPr marL="742950" lvl="1" indent="-285750">
              <a:buFont typeface="Arial" panose="020B0604020202020204" pitchFamily="34" charset="0"/>
              <a:buChar char="•"/>
            </a:pPr>
            <a:r>
              <a:rPr lang="en-US" dirty="0">
                <a:latin typeface="+mj-lt"/>
              </a:rPr>
              <a:t>AI models perform better when </a:t>
            </a:r>
            <a:r>
              <a:rPr lang="en-US" b="1" dirty="0">
                <a:latin typeface="+mj-lt"/>
              </a:rPr>
              <a:t>bias is reduced</a:t>
            </a:r>
            <a:r>
              <a:rPr lang="en-US" dirty="0">
                <a:latin typeface="+mj-lt"/>
              </a:rPr>
              <a:t>, and decisions are </a:t>
            </a:r>
            <a:r>
              <a:rPr lang="en-US" b="1" dirty="0">
                <a:latin typeface="+mj-lt"/>
              </a:rPr>
              <a:t>fair, interpretable, and legally compliant</a:t>
            </a:r>
            <a:r>
              <a:rPr lang="en-US" dirty="0">
                <a:latin typeface="+mj-lt"/>
              </a:rPr>
              <a:t>.</a:t>
            </a:r>
          </a:p>
          <a:p>
            <a:pPr marL="628650" lvl="1" indent="-171450">
              <a:buFont typeface="Arial" panose="020B0604020202020204" pitchFamily="34" charset="0"/>
              <a:buChar char="•"/>
            </a:pPr>
            <a:endParaRPr lang="en-US" sz="500" dirty="0">
              <a:latin typeface="+mj-lt"/>
            </a:endParaRPr>
          </a:p>
          <a:p>
            <a:pPr marL="742950" lvl="1" indent="-285750">
              <a:buFont typeface="Arial" panose="020B0604020202020204" pitchFamily="34" charset="0"/>
              <a:buChar char="•"/>
            </a:pPr>
            <a:r>
              <a:rPr lang="en-US" dirty="0">
                <a:latin typeface="+mj-lt"/>
              </a:rPr>
              <a:t>Trustworthy explanations improve </a:t>
            </a:r>
            <a:r>
              <a:rPr lang="en-US" b="1" dirty="0">
                <a:latin typeface="+mj-lt"/>
              </a:rPr>
              <a:t>model reliability and robustness</a:t>
            </a:r>
            <a:r>
              <a:rPr lang="en-US" dirty="0">
                <a:latin typeface="+mj-lt"/>
              </a:rPr>
              <a:t>, ensuring AI adoption in critical sectors.</a:t>
            </a:r>
          </a:p>
        </p:txBody>
      </p:sp>
    </p:spTree>
    <p:extLst>
      <p:ext uri="{BB962C8B-B14F-4D97-AF65-F5344CB8AC3E}">
        <p14:creationId xmlns:p14="http://schemas.microsoft.com/office/powerpoint/2010/main" val="4205241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36D936E-7D74-7450-5F73-2FCF6E8E58B1}"/>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E3E39C00-7436-7141-9A25-07C3CB172E23}"/>
              </a:ext>
            </a:extLst>
          </p:cNvPr>
          <p:cNvSpPr>
            <a:spLocks noGrp="1"/>
          </p:cNvSpPr>
          <p:nvPr>
            <p:ph type="sldNum" sz="quarter" idx="12"/>
          </p:nvPr>
        </p:nvSpPr>
        <p:spPr/>
        <p:txBody>
          <a:bodyPr/>
          <a:lstStyle/>
          <a:p>
            <a:fld id="{EB60BC02-D374-C843-982C-996C93B0F0E6}" type="slidenum">
              <a:rPr lang="en-QA" smtClean="0"/>
              <a:t>11</a:t>
            </a:fld>
            <a:endParaRPr lang="en-QA"/>
          </a:p>
        </p:txBody>
      </p:sp>
      <p:sp>
        <p:nvSpPr>
          <p:cNvPr id="6" name="Title 1">
            <a:extLst>
              <a:ext uri="{FF2B5EF4-FFF2-40B4-BE49-F238E27FC236}">
                <a16:creationId xmlns:a16="http://schemas.microsoft.com/office/drawing/2014/main" id="{24967438-1947-B92E-5947-50034D83A660}"/>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How to Make AI Models Explainable?</a:t>
            </a:r>
          </a:p>
        </p:txBody>
      </p:sp>
      <p:sp>
        <p:nvSpPr>
          <p:cNvPr id="2" name="TextBox 1">
            <a:extLst>
              <a:ext uri="{FF2B5EF4-FFF2-40B4-BE49-F238E27FC236}">
                <a16:creationId xmlns:a16="http://schemas.microsoft.com/office/drawing/2014/main" id="{1CFD740B-8922-A348-E32F-BE117EB1B198}"/>
              </a:ext>
            </a:extLst>
          </p:cNvPr>
          <p:cNvSpPr txBox="1"/>
          <p:nvPr/>
        </p:nvSpPr>
        <p:spPr>
          <a:xfrm>
            <a:off x="438367" y="1490633"/>
            <a:ext cx="3122251"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j-lt"/>
              </a:rPr>
              <a:t>Types of explanations</a:t>
            </a:r>
            <a:endParaRPr lang="en-QA" sz="2000" dirty="0">
              <a:latin typeface="+mj-lt"/>
            </a:endParaRPr>
          </a:p>
        </p:txBody>
      </p:sp>
      <p:sp>
        <p:nvSpPr>
          <p:cNvPr id="9" name="TextBox 8">
            <a:extLst>
              <a:ext uri="{FF2B5EF4-FFF2-40B4-BE49-F238E27FC236}">
                <a16:creationId xmlns:a16="http://schemas.microsoft.com/office/drawing/2014/main" id="{FBFDB862-FCA3-E405-07D5-260A968AA82E}"/>
              </a:ext>
            </a:extLst>
          </p:cNvPr>
          <p:cNvSpPr txBox="1"/>
          <p:nvPr/>
        </p:nvSpPr>
        <p:spPr>
          <a:xfrm>
            <a:off x="684770" y="1996420"/>
            <a:ext cx="9664574" cy="1077218"/>
          </a:xfrm>
          <a:prstGeom prst="rect">
            <a:avLst/>
          </a:prstGeom>
          <a:noFill/>
        </p:spPr>
        <p:txBody>
          <a:bodyPr wrap="square">
            <a:spAutoFit/>
          </a:bodyPr>
          <a:lstStyle/>
          <a:p>
            <a:pPr marL="342900" indent="-342900">
              <a:buFont typeface="+mj-lt"/>
              <a:buAutoNum type="arabicPeriod"/>
            </a:pPr>
            <a:r>
              <a:rPr lang="en-US" b="1" dirty="0">
                <a:latin typeface="+mj-lt"/>
              </a:rPr>
              <a:t>Text-Based Explanations</a:t>
            </a:r>
          </a:p>
          <a:p>
            <a:endParaRPr lang="en-US" sz="500" dirty="0">
              <a:latin typeface="+mj-lt"/>
            </a:endParaRPr>
          </a:p>
          <a:p>
            <a:pPr>
              <a:buFont typeface="Arial" panose="020B0604020202020204" pitchFamily="34" charset="0"/>
              <a:buChar char="•"/>
            </a:pPr>
            <a:r>
              <a:rPr lang="en-US" dirty="0">
                <a:latin typeface="+mj-lt"/>
              </a:rPr>
              <a:t> AI-generated natural language descriptions that explain model decisions.</a:t>
            </a:r>
          </a:p>
          <a:p>
            <a:endParaRPr lang="en-US" sz="500" dirty="0">
              <a:latin typeface="+mj-lt"/>
            </a:endParaRPr>
          </a:p>
          <a:p>
            <a:pPr>
              <a:buFont typeface="Arial" panose="020B0604020202020204" pitchFamily="34" charset="0"/>
              <a:buChar char="•"/>
            </a:pPr>
            <a:r>
              <a:rPr lang="en-US" dirty="0">
                <a:latin typeface="+mj-lt"/>
              </a:rPr>
              <a:t> Useful for human-readable transparency, making AI outputs more interpretable.</a:t>
            </a:r>
          </a:p>
        </p:txBody>
      </p:sp>
      <p:sp>
        <p:nvSpPr>
          <p:cNvPr id="15" name="TextBox 14">
            <a:extLst>
              <a:ext uri="{FF2B5EF4-FFF2-40B4-BE49-F238E27FC236}">
                <a16:creationId xmlns:a16="http://schemas.microsoft.com/office/drawing/2014/main" id="{0C567F49-059E-4937-25E8-54870855F8BE}"/>
              </a:ext>
            </a:extLst>
          </p:cNvPr>
          <p:cNvSpPr txBox="1"/>
          <p:nvPr/>
        </p:nvSpPr>
        <p:spPr>
          <a:xfrm>
            <a:off x="684769" y="3344734"/>
            <a:ext cx="9664575" cy="1354217"/>
          </a:xfrm>
          <a:prstGeom prst="rect">
            <a:avLst/>
          </a:prstGeom>
          <a:noFill/>
        </p:spPr>
        <p:txBody>
          <a:bodyPr wrap="square">
            <a:spAutoFit/>
          </a:bodyPr>
          <a:lstStyle/>
          <a:p>
            <a:pPr marL="342900" indent="-342900">
              <a:buFont typeface="+mj-lt"/>
              <a:buAutoNum type="arabicPeriod" startAt="2"/>
            </a:pPr>
            <a:r>
              <a:rPr lang="en-US" b="1" dirty="0">
                <a:latin typeface="+mj-lt"/>
              </a:rPr>
              <a:t>Visual Explanations</a:t>
            </a:r>
          </a:p>
          <a:p>
            <a:endParaRPr lang="en-US" sz="500" b="1" dirty="0">
              <a:latin typeface="+mj-lt"/>
            </a:endParaRPr>
          </a:p>
          <a:p>
            <a:pPr>
              <a:buFont typeface="Arial" panose="020B0604020202020204" pitchFamily="34" charset="0"/>
              <a:buChar char="•"/>
            </a:pPr>
            <a:r>
              <a:rPr lang="en-US" dirty="0">
                <a:latin typeface="+mj-lt"/>
              </a:rPr>
              <a:t> Explanations represented as </a:t>
            </a:r>
            <a:r>
              <a:rPr lang="en-US" b="1" dirty="0">
                <a:latin typeface="+mj-lt"/>
              </a:rPr>
              <a:t>graphs, heatmaps, or charts</a:t>
            </a:r>
            <a:r>
              <a:rPr lang="en-US" dirty="0">
                <a:latin typeface="+mj-lt"/>
              </a:rPr>
              <a:t>, making AI decisions </a:t>
            </a:r>
            <a:r>
              <a:rPr lang="en-US" b="1" dirty="0">
                <a:latin typeface="+mj-lt"/>
              </a:rPr>
              <a:t>easier to understand for non-experts</a:t>
            </a:r>
            <a:r>
              <a:rPr lang="en-US" dirty="0">
                <a:latin typeface="+mj-lt"/>
              </a:rPr>
              <a:t>.</a:t>
            </a:r>
          </a:p>
          <a:p>
            <a:endParaRPr lang="en-US" sz="500" dirty="0">
              <a:latin typeface="+mj-lt"/>
            </a:endParaRPr>
          </a:p>
          <a:p>
            <a:pPr>
              <a:buFont typeface="Arial" panose="020B0604020202020204" pitchFamily="34" charset="0"/>
              <a:buChar char="•"/>
            </a:pPr>
            <a:r>
              <a:rPr lang="en-US" dirty="0">
                <a:latin typeface="+mj-lt"/>
              </a:rPr>
              <a:t> Example: </a:t>
            </a:r>
            <a:r>
              <a:rPr lang="en-US" b="1" dirty="0">
                <a:latin typeface="+mj-lt"/>
              </a:rPr>
              <a:t>Saliency maps in deep learning</a:t>
            </a:r>
            <a:r>
              <a:rPr lang="en-US" dirty="0">
                <a:latin typeface="+mj-lt"/>
              </a:rPr>
              <a:t> that highlight important regions in an image.</a:t>
            </a:r>
          </a:p>
        </p:txBody>
      </p:sp>
      <p:sp>
        <p:nvSpPr>
          <p:cNvPr id="17" name="TextBox 16">
            <a:extLst>
              <a:ext uri="{FF2B5EF4-FFF2-40B4-BE49-F238E27FC236}">
                <a16:creationId xmlns:a16="http://schemas.microsoft.com/office/drawing/2014/main" id="{676D6929-25DC-0C40-6F8F-1FEE93E295A4}"/>
              </a:ext>
            </a:extLst>
          </p:cNvPr>
          <p:cNvSpPr txBox="1"/>
          <p:nvPr/>
        </p:nvSpPr>
        <p:spPr>
          <a:xfrm>
            <a:off x="684768" y="4970047"/>
            <a:ext cx="9664574" cy="1000274"/>
          </a:xfrm>
          <a:prstGeom prst="rect">
            <a:avLst/>
          </a:prstGeom>
          <a:noFill/>
        </p:spPr>
        <p:txBody>
          <a:bodyPr wrap="square">
            <a:spAutoFit/>
          </a:bodyPr>
          <a:lstStyle/>
          <a:p>
            <a:pPr marL="342900" indent="-342900">
              <a:buFont typeface="+mj-lt"/>
              <a:buAutoNum type="arabicPeriod" startAt="3"/>
            </a:pPr>
            <a:r>
              <a:rPr lang="en-US" b="1" dirty="0">
                <a:latin typeface="+mj-lt"/>
              </a:rPr>
              <a:t>Numerical Explanations</a:t>
            </a:r>
          </a:p>
          <a:p>
            <a:endParaRPr lang="en-US" sz="500" dirty="0">
              <a:latin typeface="+mj-lt"/>
            </a:endParaRPr>
          </a:p>
          <a:p>
            <a:pPr>
              <a:buFont typeface="Arial" panose="020B0604020202020204" pitchFamily="34" charset="0"/>
              <a:buChar char="•"/>
            </a:pPr>
            <a:r>
              <a:rPr lang="en-US" dirty="0">
                <a:latin typeface="+mj-lt"/>
              </a:rPr>
              <a:t> Explanations expressed in mathematical or statistical terms, often used in scientific or technical AI applications.</a:t>
            </a:r>
          </a:p>
        </p:txBody>
      </p:sp>
    </p:spTree>
    <p:extLst>
      <p:ext uri="{BB962C8B-B14F-4D97-AF65-F5344CB8AC3E}">
        <p14:creationId xmlns:p14="http://schemas.microsoft.com/office/powerpoint/2010/main" val="1975159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5" grpId="0"/>
      <p:bldP spid="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C48D-2310-39C7-E777-EF5588CF126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3A7068-1C33-BBD2-4F77-2D0B5903F6FC}"/>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7823D6AC-3849-F631-3B5A-AB1A54B0164F}"/>
              </a:ext>
            </a:extLst>
          </p:cNvPr>
          <p:cNvSpPr>
            <a:spLocks noGrp="1"/>
          </p:cNvSpPr>
          <p:nvPr>
            <p:ph type="sldNum" sz="quarter" idx="12"/>
          </p:nvPr>
        </p:nvSpPr>
        <p:spPr/>
        <p:txBody>
          <a:bodyPr/>
          <a:lstStyle/>
          <a:p>
            <a:fld id="{EB60BC02-D374-C843-982C-996C93B0F0E6}" type="slidenum">
              <a:rPr lang="en-QA" smtClean="0"/>
              <a:t>12</a:t>
            </a:fld>
            <a:endParaRPr lang="en-QA"/>
          </a:p>
        </p:txBody>
      </p:sp>
      <p:sp>
        <p:nvSpPr>
          <p:cNvPr id="6" name="Title 1">
            <a:extLst>
              <a:ext uri="{FF2B5EF4-FFF2-40B4-BE49-F238E27FC236}">
                <a16:creationId xmlns:a16="http://schemas.microsoft.com/office/drawing/2014/main" id="{F1AA1466-676C-992D-424C-EB43A7D7FEB1}"/>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How to Make AI Models Explainable?</a:t>
            </a:r>
          </a:p>
        </p:txBody>
      </p:sp>
      <p:sp>
        <p:nvSpPr>
          <p:cNvPr id="2" name="TextBox 1">
            <a:extLst>
              <a:ext uri="{FF2B5EF4-FFF2-40B4-BE49-F238E27FC236}">
                <a16:creationId xmlns:a16="http://schemas.microsoft.com/office/drawing/2014/main" id="{A9DBDFD4-34BE-F6F7-95F0-EA066B2186AB}"/>
              </a:ext>
            </a:extLst>
          </p:cNvPr>
          <p:cNvSpPr txBox="1"/>
          <p:nvPr/>
        </p:nvSpPr>
        <p:spPr>
          <a:xfrm>
            <a:off x="438367" y="1490633"/>
            <a:ext cx="3122251"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j-lt"/>
              </a:rPr>
              <a:t>Types of explanations</a:t>
            </a:r>
            <a:endParaRPr lang="en-QA" sz="2000" dirty="0">
              <a:latin typeface="+mj-lt"/>
            </a:endParaRPr>
          </a:p>
        </p:txBody>
      </p:sp>
      <p:sp>
        <p:nvSpPr>
          <p:cNvPr id="9" name="TextBox 8">
            <a:extLst>
              <a:ext uri="{FF2B5EF4-FFF2-40B4-BE49-F238E27FC236}">
                <a16:creationId xmlns:a16="http://schemas.microsoft.com/office/drawing/2014/main" id="{8CA04A4B-9011-D9C7-4721-9A0CDB893936}"/>
              </a:ext>
            </a:extLst>
          </p:cNvPr>
          <p:cNvSpPr txBox="1"/>
          <p:nvPr/>
        </p:nvSpPr>
        <p:spPr>
          <a:xfrm>
            <a:off x="684770" y="1996420"/>
            <a:ext cx="9664574" cy="1077218"/>
          </a:xfrm>
          <a:prstGeom prst="rect">
            <a:avLst/>
          </a:prstGeom>
          <a:noFill/>
        </p:spPr>
        <p:txBody>
          <a:bodyPr wrap="square">
            <a:spAutoFit/>
          </a:bodyPr>
          <a:lstStyle/>
          <a:p>
            <a:pPr marL="342900" indent="-342900">
              <a:buFont typeface="+mj-lt"/>
              <a:buAutoNum type="arabicPeriod" startAt="4"/>
            </a:pPr>
            <a:r>
              <a:rPr lang="en-US" b="1" dirty="0">
                <a:latin typeface="+mj-lt"/>
              </a:rPr>
              <a:t>Example-Based Explanations</a:t>
            </a:r>
          </a:p>
          <a:p>
            <a:endParaRPr lang="en-US" sz="500" dirty="0">
              <a:latin typeface="+mj-lt"/>
            </a:endParaRPr>
          </a:p>
          <a:p>
            <a:pPr>
              <a:buFont typeface="Arial" panose="020B0604020202020204" pitchFamily="34" charset="0"/>
              <a:buChar char="•"/>
            </a:pPr>
            <a:r>
              <a:rPr lang="en-US" dirty="0">
                <a:latin typeface="+mj-lt"/>
              </a:rPr>
              <a:t> The AI system retrieves and presents similar instances from the training data to justify a decision.</a:t>
            </a:r>
          </a:p>
          <a:p>
            <a:pPr>
              <a:buFont typeface="Arial" panose="020B0604020202020204" pitchFamily="34" charset="0"/>
              <a:buChar char="•"/>
            </a:pPr>
            <a:endParaRPr lang="en-US" sz="500" dirty="0">
              <a:latin typeface="+mj-lt"/>
            </a:endParaRPr>
          </a:p>
          <a:p>
            <a:pPr>
              <a:buFont typeface="Arial" panose="020B0604020202020204" pitchFamily="34" charset="0"/>
              <a:buChar char="•"/>
            </a:pPr>
            <a:r>
              <a:rPr lang="en-US" dirty="0">
                <a:latin typeface="+mj-lt"/>
              </a:rPr>
              <a:t> Example: If an AI classifies a tumor as malignant, it shows similar past cases to support its decision.</a:t>
            </a:r>
          </a:p>
        </p:txBody>
      </p:sp>
      <p:sp>
        <p:nvSpPr>
          <p:cNvPr id="15" name="TextBox 14">
            <a:extLst>
              <a:ext uri="{FF2B5EF4-FFF2-40B4-BE49-F238E27FC236}">
                <a16:creationId xmlns:a16="http://schemas.microsoft.com/office/drawing/2014/main" id="{F9EFAF31-39CA-7653-9B1F-9F6C75AB54A9}"/>
              </a:ext>
            </a:extLst>
          </p:cNvPr>
          <p:cNvSpPr txBox="1"/>
          <p:nvPr/>
        </p:nvSpPr>
        <p:spPr>
          <a:xfrm>
            <a:off x="684769" y="3344734"/>
            <a:ext cx="9664575" cy="1354217"/>
          </a:xfrm>
          <a:prstGeom prst="rect">
            <a:avLst/>
          </a:prstGeom>
          <a:noFill/>
        </p:spPr>
        <p:txBody>
          <a:bodyPr wrap="square">
            <a:spAutoFit/>
          </a:bodyPr>
          <a:lstStyle/>
          <a:p>
            <a:pPr marL="342900" indent="-342900">
              <a:buFont typeface="+mj-lt"/>
              <a:buAutoNum type="arabicPeriod" startAt="5"/>
            </a:pPr>
            <a:r>
              <a:rPr lang="en-US" b="1" dirty="0">
                <a:latin typeface="+mj-lt"/>
              </a:rPr>
              <a:t>Simplification-Based Explanations</a:t>
            </a:r>
          </a:p>
          <a:p>
            <a:endParaRPr lang="en-US" sz="500" b="1" dirty="0">
              <a:latin typeface="+mj-lt"/>
            </a:endParaRPr>
          </a:p>
          <a:p>
            <a:pPr>
              <a:buFont typeface="Arial" panose="020B0604020202020204" pitchFamily="34" charset="0"/>
              <a:buChar char="•"/>
            </a:pPr>
            <a:r>
              <a:rPr lang="en-US" dirty="0">
                <a:latin typeface="+mj-lt"/>
              </a:rPr>
              <a:t> Complex models are compared with simpler models (e.g., decision trees vs. deep learning) to evaluate accuracy trade-offs.</a:t>
            </a:r>
          </a:p>
          <a:p>
            <a:endParaRPr lang="en-US" sz="500" dirty="0">
              <a:latin typeface="+mj-lt"/>
            </a:endParaRPr>
          </a:p>
          <a:p>
            <a:pPr>
              <a:buFont typeface="Arial" panose="020B0604020202020204" pitchFamily="34" charset="0"/>
              <a:buChar char="•"/>
            </a:pPr>
            <a:r>
              <a:rPr lang="en-US" dirty="0">
                <a:latin typeface="+mj-lt"/>
              </a:rPr>
              <a:t> Helps users balance interpretability and performance.</a:t>
            </a:r>
          </a:p>
        </p:txBody>
      </p:sp>
      <p:sp>
        <p:nvSpPr>
          <p:cNvPr id="3" name="TextBox 2">
            <a:extLst>
              <a:ext uri="{FF2B5EF4-FFF2-40B4-BE49-F238E27FC236}">
                <a16:creationId xmlns:a16="http://schemas.microsoft.com/office/drawing/2014/main" id="{CF539766-2C9C-438B-DFA8-CEF8D7D15AFE}"/>
              </a:ext>
            </a:extLst>
          </p:cNvPr>
          <p:cNvSpPr txBox="1"/>
          <p:nvPr/>
        </p:nvSpPr>
        <p:spPr>
          <a:xfrm>
            <a:off x="684769" y="4970047"/>
            <a:ext cx="9664574" cy="1354217"/>
          </a:xfrm>
          <a:prstGeom prst="rect">
            <a:avLst/>
          </a:prstGeom>
          <a:noFill/>
        </p:spPr>
        <p:txBody>
          <a:bodyPr wrap="square">
            <a:spAutoFit/>
          </a:bodyPr>
          <a:lstStyle/>
          <a:p>
            <a:pPr marL="342900" indent="-342900">
              <a:buFont typeface="+mj-lt"/>
              <a:buAutoNum type="arabicPeriod" startAt="6"/>
            </a:pPr>
            <a:r>
              <a:rPr lang="en-US" b="1" dirty="0">
                <a:latin typeface="+mj-lt"/>
              </a:rPr>
              <a:t>Feature Relevance Explanations</a:t>
            </a:r>
          </a:p>
          <a:p>
            <a:pPr marL="342900" indent="-342900">
              <a:buFont typeface="+mj-lt"/>
              <a:buAutoNum type="arabicPeriod" startAt="6"/>
            </a:pPr>
            <a:endParaRPr lang="en-US" sz="500" b="1" dirty="0">
              <a:latin typeface="+mj-lt"/>
            </a:endParaRPr>
          </a:p>
          <a:p>
            <a:pPr marL="53975" indent="-53975">
              <a:buFont typeface="Arial" panose="020B0604020202020204" pitchFamily="34" charset="0"/>
              <a:buChar char="•"/>
            </a:pPr>
            <a:r>
              <a:rPr lang="en-US" dirty="0">
                <a:latin typeface="+mj-lt"/>
              </a:rPr>
              <a:t> Highlights which input features (variables) most influenced the AI decision. It highlights the ranking of important ratings. The higher score in ranking indicates a more important input variable.</a:t>
            </a:r>
          </a:p>
          <a:p>
            <a:endParaRPr lang="en-US" sz="500" dirty="0">
              <a:latin typeface="+mj-lt"/>
            </a:endParaRPr>
          </a:p>
          <a:p>
            <a:pPr>
              <a:buFont typeface="Arial" panose="020B0604020202020204" pitchFamily="34" charset="0"/>
              <a:buChar char="•"/>
            </a:pPr>
            <a:r>
              <a:rPr lang="en-US" dirty="0">
                <a:latin typeface="+mj-lt"/>
              </a:rPr>
              <a:t> Example: In credit scoring, income and credit history may have the highest feature importance scores.</a:t>
            </a:r>
          </a:p>
        </p:txBody>
      </p:sp>
    </p:spTree>
    <p:extLst>
      <p:ext uri="{BB962C8B-B14F-4D97-AF65-F5344CB8AC3E}">
        <p14:creationId xmlns:p14="http://schemas.microsoft.com/office/powerpoint/2010/main" val="179509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49CCF-81A8-E049-4BD9-97A029292C1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589D085-92ED-F4C5-446C-F7701CF3E2A7}"/>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B4D87B68-034D-1457-F92D-56C861D039BF}"/>
              </a:ext>
            </a:extLst>
          </p:cNvPr>
          <p:cNvSpPr>
            <a:spLocks noGrp="1"/>
          </p:cNvSpPr>
          <p:nvPr>
            <p:ph type="sldNum" sz="quarter" idx="12"/>
          </p:nvPr>
        </p:nvSpPr>
        <p:spPr/>
        <p:txBody>
          <a:bodyPr/>
          <a:lstStyle/>
          <a:p>
            <a:fld id="{EB60BC02-D374-C843-982C-996C93B0F0E6}" type="slidenum">
              <a:rPr lang="en-QA" smtClean="0"/>
              <a:t>13</a:t>
            </a:fld>
            <a:endParaRPr lang="en-QA"/>
          </a:p>
        </p:txBody>
      </p:sp>
      <p:sp>
        <p:nvSpPr>
          <p:cNvPr id="6" name="Title 1">
            <a:extLst>
              <a:ext uri="{FF2B5EF4-FFF2-40B4-BE49-F238E27FC236}">
                <a16:creationId xmlns:a16="http://schemas.microsoft.com/office/drawing/2014/main" id="{CAD6492A-7225-6D11-ABD9-8AEC56B91FBC}"/>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How to Make AI Models Explainable?</a:t>
            </a:r>
          </a:p>
        </p:txBody>
      </p:sp>
      <p:sp>
        <p:nvSpPr>
          <p:cNvPr id="2" name="TextBox 1">
            <a:extLst>
              <a:ext uri="{FF2B5EF4-FFF2-40B4-BE49-F238E27FC236}">
                <a16:creationId xmlns:a16="http://schemas.microsoft.com/office/drawing/2014/main" id="{732CB481-88D7-BC31-1C8E-C2B6D29C33D9}"/>
              </a:ext>
            </a:extLst>
          </p:cNvPr>
          <p:cNvSpPr txBox="1"/>
          <p:nvPr/>
        </p:nvSpPr>
        <p:spPr>
          <a:xfrm>
            <a:off x="438367" y="1490633"/>
            <a:ext cx="3122251"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j-lt"/>
              </a:rPr>
              <a:t>Types of explanations</a:t>
            </a:r>
            <a:endParaRPr lang="en-QA" sz="2000" dirty="0">
              <a:latin typeface="+mj-lt"/>
            </a:endParaRPr>
          </a:p>
        </p:txBody>
      </p:sp>
      <p:sp>
        <p:nvSpPr>
          <p:cNvPr id="17" name="TextBox 16">
            <a:extLst>
              <a:ext uri="{FF2B5EF4-FFF2-40B4-BE49-F238E27FC236}">
                <a16:creationId xmlns:a16="http://schemas.microsoft.com/office/drawing/2014/main" id="{B2A16D41-8B81-8688-5D2D-7C6495D18D8D}"/>
              </a:ext>
            </a:extLst>
          </p:cNvPr>
          <p:cNvSpPr txBox="1"/>
          <p:nvPr/>
        </p:nvSpPr>
        <p:spPr>
          <a:xfrm>
            <a:off x="684770" y="3659207"/>
            <a:ext cx="10915434" cy="1708160"/>
          </a:xfrm>
          <a:prstGeom prst="rect">
            <a:avLst/>
          </a:prstGeom>
          <a:noFill/>
        </p:spPr>
        <p:txBody>
          <a:bodyPr wrap="square">
            <a:spAutoFit/>
          </a:bodyPr>
          <a:lstStyle/>
          <a:p>
            <a:pPr marL="342900" indent="-342900">
              <a:buFont typeface="+mj-lt"/>
              <a:buAutoNum type="arabicPeriod" startAt="8"/>
            </a:pPr>
            <a:r>
              <a:rPr lang="en-US" b="1" dirty="0">
                <a:latin typeface="+mj-lt"/>
              </a:rPr>
              <a:t>Counterfactual Explanations</a:t>
            </a:r>
          </a:p>
          <a:p>
            <a:pPr marL="342900" indent="-342900">
              <a:buFont typeface="+mj-lt"/>
              <a:buAutoNum type="arabicPeriod" startAt="8"/>
            </a:pPr>
            <a:endParaRPr lang="en-US" sz="500" b="1" dirty="0">
              <a:latin typeface="+mj-lt"/>
            </a:endParaRPr>
          </a:p>
          <a:p>
            <a:pPr marL="285750" indent="-285750">
              <a:buFont typeface="Arial" panose="020B0604020202020204" pitchFamily="34" charset="0"/>
              <a:buChar char="•"/>
            </a:pPr>
            <a:r>
              <a:rPr lang="en-US" dirty="0">
                <a:latin typeface="+mj-lt"/>
              </a:rPr>
              <a:t> Instead of justifying why a decision was made, it answers: "What would need to change for a different outcome?”</a:t>
            </a:r>
          </a:p>
          <a:p>
            <a:pPr marL="285750" indent="-285750">
              <a:buFont typeface="Arial" panose="020B0604020202020204" pitchFamily="34" charset="0"/>
              <a:buChar char="•"/>
            </a:pPr>
            <a:endParaRPr lang="en-US" sz="500" dirty="0">
              <a:latin typeface="+mj-lt"/>
            </a:endParaRPr>
          </a:p>
          <a:p>
            <a:pPr>
              <a:buFont typeface="Arial" panose="020B0604020202020204" pitchFamily="34" charset="0"/>
              <a:buChar char="•"/>
            </a:pPr>
            <a:r>
              <a:rPr lang="en-US" dirty="0">
                <a:latin typeface="+mj-lt"/>
              </a:rPr>
              <a:t>  Example: If a loan was denied, the system might suggest:</a:t>
            </a:r>
            <a:br>
              <a:rPr lang="en-US" dirty="0">
                <a:latin typeface="+mj-lt"/>
              </a:rPr>
            </a:br>
            <a:r>
              <a:rPr lang="en-US" i="1" dirty="0">
                <a:latin typeface="+mj-lt"/>
              </a:rPr>
              <a:t>"Your application would have been approved if your credit score was 50 points higher.”</a:t>
            </a:r>
          </a:p>
          <a:p>
            <a:endParaRPr lang="en-US" sz="500" i="1" dirty="0">
              <a:latin typeface="+mj-lt"/>
            </a:endParaRPr>
          </a:p>
          <a:p>
            <a:pPr>
              <a:buFont typeface="Arial" panose="020B0604020202020204" pitchFamily="34" charset="0"/>
              <a:buChar char="•"/>
            </a:pPr>
            <a:r>
              <a:rPr lang="en-US" i="1" dirty="0">
                <a:latin typeface="+mj-lt"/>
              </a:rPr>
              <a:t> </a:t>
            </a:r>
            <a:r>
              <a:rPr lang="en-US" dirty="0">
                <a:latin typeface="+mj-lt"/>
              </a:rPr>
              <a:t>Useful for understanding model decisions and offering actionable feedback.</a:t>
            </a:r>
          </a:p>
        </p:txBody>
      </p:sp>
      <p:sp>
        <p:nvSpPr>
          <p:cNvPr id="3" name="TextBox 2">
            <a:extLst>
              <a:ext uri="{FF2B5EF4-FFF2-40B4-BE49-F238E27FC236}">
                <a16:creationId xmlns:a16="http://schemas.microsoft.com/office/drawing/2014/main" id="{B6D62A21-2D5B-8FD0-610C-C2CC56154FEE}"/>
              </a:ext>
            </a:extLst>
          </p:cNvPr>
          <p:cNvSpPr txBox="1"/>
          <p:nvPr/>
        </p:nvSpPr>
        <p:spPr>
          <a:xfrm>
            <a:off x="684770" y="2054582"/>
            <a:ext cx="10669030" cy="1354217"/>
          </a:xfrm>
          <a:prstGeom prst="rect">
            <a:avLst/>
          </a:prstGeom>
          <a:noFill/>
        </p:spPr>
        <p:txBody>
          <a:bodyPr wrap="square">
            <a:spAutoFit/>
          </a:bodyPr>
          <a:lstStyle/>
          <a:p>
            <a:pPr marL="342900" indent="-342900">
              <a:buFont typeface="+mj-lt"/>
              <a:buAutoNum type="arabicPeriod" startAt="7"/>
            </a:pPr>
            <a:r>
              <a:rPr lang="en-US" b="1" dirty="0">
                <a:latin typeface="+mj-lt"/>
              </a:rPr>
              <a:t>Local Explanations</a:t>
            </a:r>
          </a:p>
          <a:p>
            <a:pPr marL="342900" indent="-342900">
              <a:buFont typeface="+mj-lt"/>
              <a:buAutoNum type="arabicPeriod" startAt="7"/>
            </a:pPr>
            <a:endParaRPr lang="en-US" sz="500" b="1" dirty="0">
              <a:latin typeface="+mj-lt"/>
            </a:endParaRPr>
          </a:p>
          <a:p>
            <a:pPr>
              <a:buFont typeface="Arial" panose="020B0604020202020204" pitchFamily="34" charset="0"/>
              <a:buChar char="•"/>
            </a:pPr>
            <a:r>
              <a:rPr lang="en-US" dirty="0">
                <a:latin typeface="+mj-lt"/>
              </a:rPr>
              <a:t> Explainability for </a:t>
            </a:r>
            <a:r>
              <a:rPr lang="en-US" b="1" dirty="0">
                <a:latin typeface="+mj-lt"/>
              </a:rPr>
              <a:t>specific instances</a:t>
            </a:r>
            <a:r>
              <a:rPr lang="en-US" dirty="0">
                <a:latin typeface="+mj-lt"/>
              </a:rPr>
              <a:t> rather than the entire model.</a:t>
            </a:r>
          </a:p>
          <a:p>
            <a:pPr>
              <a:buFont typeface="Arial" panose="020B0604020202020204" pitchFamily="34" charset="0"/>
              <a:buChar char="•"/>
            </a:pPr>
            <a:endParaRPr lang="en-US" sz="500" dirty="0">
              <a:latin typeface="+mj-lt"/>
            </a:endParaRPr>
          </a:p>
          <a:p>
            <a:pPr>
              <a:buFont typeface="Arial" panose="020B0604020202020204" pitchFamily="34" charset="0"/>
              <a:buChar char="•"/>
            </a:pPr>
            <a:r>
              <a:rPr lang="en-US" dirty="0">
                <a:latin typeface="+mj-lt"/>
              </a:rPr>
              <a:t> Example: </a:t>
            </a:r>
            <a:r>
              <a:rPr lang="en-US" b="1" dirty="0">
                <a:latin typeface="+mj-lt"/>
              </a:rPr>
              <a:t>LIME (Local Interpretable Model-agnostic Explanations)</a:t>
            </a:r>
            <a:r>
              <a:rPr lang="en-US" dirty="0">
                <a:latin typeface="+mj-lt"/>
              </a:rPr>
              <a:t> explains why a single loan application was rejected.</a:t>
            </a:r>
          </a:p>
        </p:txBody>
      </p:sp>
    </p:spTree>
    <p:extLst>
      <p:ext uri="{BB962C8B-B14F-4D97-AF65-F5344CB8AC3E}">
        <p14:creationId xmlns:p14="http://schemas.microsoft.com/office/powerpoint/2010/main" val="285121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55762-CEB0-F50B-70B6-5F03663EC5E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2D1B2DD-A6C6-3DA1-B892-9E0712BDD6E2}"/>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75F66031-AE97-6424-F37C-3F3FA3E9CD2B}"/>
              </a:ext>
            </a:extLst>
          </p:cNvPr>
          <p:cNvSpPr>
            <a:spLocks noGrp="1"/>
          </p:cNvSpPr>
          <p:nvPr>
            <p:ph type="sldNum" sz="quarter" idx="12"/>
          </p:nvPr>
        </p:nvSpPr>
        <p:spPr/>
        <p:txBody>
          <a:bodyPr/>
          <a:lstStyle/>
          <a:p>
            <a:fld id="{EB60BC02-D374-C843-982C-996C93B0F0E6}" type="slidenum">
              <a:rPr lang="en-QA" smtClean="0"/>
              <a:t>14</a:t>
            </a:fld>
            <a:endParaRPr lang="en-QA"/>
          </a:p>
        </p:txBody>
      </p:sp>
      <p:sp>
        <p:nvSpPr>
          <p:cNvPr id="6" name="Title 1">
            <a:extLst>
              <a:ext uri="{FF2B5EF4-FFF2-40B4-BE49-F238E27FC236}">
                <a16:creationId xmlns:a16="http://schemas.microsoft.com/office/drawing/2014/main" id="{1813B666-E86A-C831-27AE-B1FA4F4926E9}"/>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How to Make AI Models Explainable?</a:t>
            </a:r>
          </a:p>
        </p:txBody>
      </p:sp>
      <p:sp>
        <p:nvSpPr>
          <p:cNvPr id="2" name="TextBox 1">
            <a:extLst>
              <a:ext uri="{FF2B5EF4-FFF2-40B4-BE49-F238E27FC236}">
                <a16:creationId xmlns:a16="http://schemas.microsoft.com/office/drawing/2014/main" id="{6EF581FB-5217-AB2C-DB0F-D8D61EB5BD8C}"/>
              </a:ext>
            </a:extLst>
          </p:cNvPr>
          <p:cNvSpPr txBox="1"/>
          <p:nvPr/>
        </p:nvSpPr>
        <p:spPr>
          <a:xfrm>
            <a:off x="438367" y="1490633"/>
            <a:ext cx="3122251" cy="400110"/>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mj-lt"/>
              </a:rPr>
              <a:t>Types of explanations</a:t>
            </a:r>
            <a:endParaRPr lang="en-QA" sz="2000" dirty="0">
              <a:latin typeface="+mj-lt"/>
            </a:endParaRPr>
          </a:p>
        </p:txBody>
      </p:sp>
      <p:grpSp>
        <p:nvGrpSpPr>
          <p:cNvPr id="10" name="Group 9">
            <a:extLst>
              <a:ext uri="{FF2B5EF4-FFF2-40B4-BE49-F238E27FC236}">
                <a16:creationId xmlns:a16="http://schemas.microsoft.com/office/drawing/2014/main" id="{F6631AFE-37B8-9D38-702A-B1326A5346F7}"/>
              </a:ext>
            </a:extLst>
          </p:cNvPr>
          <p:cNvGrpSpPr/>
          <p:nvPr/>
        </p:nvGrpSpPr>
        <p:grpSpPr>
          <a:xfrm>
            <a:off x="3200399" y="1385455"/>
            <a:ext cx="6650183" cy="5107420"/>
            <a:chOff x="3048001" y="1316181"/>
            <a:chExt cx="7194355" cy="5358072"/>
          </a:xfrm>
        </p:grpSpPr>
        <p:pic>
          <p:nvPicPr>
            <p:cNvPr id="8" name="Picture 7" descr="A table of text with black text&#10;&#10;AI-generated content may be incorrect.">
              <a:extLst>
                <a:ext uri="{FF2B5EF4-FFF2-40B4-BE49-F238E27FC236}">
                  <a16:creationId xmlns:a16="http://schemas.microsoft.com/office/drawing/2014/main" id="{2B455D46-FFE3-B14F-2AF3-7F845635F445}"/>
                </a:ext>
              </a:extLst>
            </p:cNvPr>
            <p:cNvPicPr>
              <a:picLocks noChangeAspect="1"/>
            </p:cNvPicPr>
            <p:nvPr/>
          </p:nvPicPr>
          <p:blipFill>
            <a:blip r:embed="rId3"/>
            <a:stretch>
              <a:fillRect/>
            </a:stretch>
          </p:blipFill>
          <p:spPr>
            <a:xfrm>
              <a:off x="3048001" y="1467680"/>
              <a:ext cx="7194355" cy="5206573"/>
            </a:xfrm>
            <a:prstGeom prst="rect">
              <a:avLst/>
            </a:prstGeom>
          </p:spPr>
        </p:pic>
        <p:sp>
          <p:nvSpPr>
            <p:cNvPr id="9" name="Rectangle 8">
              <a:extLst>
                <a:ext uri="{FF2B5EF4-FFF2-40B4-BE49-F238E27FC236}">
                  <a16:creationId xmlns:a16="http://schemas.microsoft.com/office/drawing/2014/main" id="{F64BDA91-AC0E-F39C-5E07-035844DF8545}"/>
                </a:ext>
              </a:extLst>
            </p:cNvPr>
            <p:cNvSpPr/>
            <p:nvPr/>
          </p:nvSpPr>
          <p:spPr>
            <a:xfrm>
              <a:off x="4038600" y="1316181"/>
              <a:ext cx="1101436" cy="2493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QA"/>
            </a:p>
          </p:txBody>
        </p:sp>
      </p:grpSp>
      <p:sp>
        <p:nvSpPr>
          <p:cNvPr id="11" name="TextBox 10">
            <a:extLst>
              <a:ext uri="{FF2B5EF4-FFF2-40B4-BE49-F238E27FC236}">
                <a16:creationId xmlns:a16="http://schemas.microsoft.com/office/drawing/2014/main" id="{9D3C1C81-1E45-0A08-D1DE-6CB4A42C314E}"/>
              </a:ext>
            </a:extLst>
          </p:cNvPr>
          <p:cNvSpPr txBox="1"/>
          <p:nvPr/>
        </p:nvSpPr>
        <p:spPr>
          <a:xfrm>
            <a:off x="7934834" y="6221789"/>
            <a:ext cx="4288696" cy="415498"/>
          </a:xfrm>
          <a:prstGeom prst="rect">
            <a:avLst/>
          </a:prstGeom>
          <a:noFill/>
        </p:spPr>
        <p:txBody>
          <a:bodyPr wrap="square">
            <a:spAutoFit/>
          </a:bodyPr>
          <a:lstStyle/>
          <a:p>
            <a:r>
              <a:rPr lang="en-US" sz="1050" i="1" dirty="0" err="1">
                <a:latin typeface="+mj-lt"/>
              </a:rPr>
              <a:t>Chinu</a:t>
            </a:r>
            <a:r>
              <a:rPr lang="en-US" sz="1050" i="1" dirty="0">
                <a:latin typeface="+mj-lt"/>
              </a:rPr>
              <a:t> and Bansal</a:t>
            </a:r>
            <a:r>
              <a:rPr lang="en-US" sz="1050" dirty="0">
                <a:solidFill>
                  <a:srgbClr val="101010"/>
                </a:solidFill>
                <a:effectLst/>
                <a:latin typeface="Helvetica" pitchFamily="2" charset="0"/>
              </a:rPr>
              <a:t>. </a:t>
            </a:r>
            <a:r>
              <a:rPr lang="en-US" sz="1050" i="1" dirty="0">
                <a:latin typeface="+mj-lt"/>
              </a:rPr>
              <a:t>Explainable AI: To Reveal the Logic of Black-Box Models. part of Springer Nature 2023.</a:t>
            </a:r>
          </a:p>
        </p:txBody>
      </p:sp>
      <p:grpSp>
        <p:nvGrpSpPr>
          <p:cNvPr id="15" name="Group 14">
            <a:extLst>
              <a:ext uri="{FF2B5EF4-FFF2-40B4-BE49-F238E27FC236}">
                <a16:creationId xmlns:a16="http://schemas.microsoft.com/office/drawing/2014/main" id="{84CD6334-6C50-AE10-60E7-18801634D633}"/>
              </a:ext>
            </a:extLst>
          </p:cNvPr>
          <p:cNvGrpSpPr/>
          <p:nvPr/>
        </p:nvGrpSpPr>
        <p:grpSpPr>
          <a:xfrm>
            <a:off x="438367" y="2118286"/>
            <a:ext cx="4507705" cy="2205370"/>
            <a:chOff x="438367" y="2118286"/>
            <a:chExt cx="4507705" cy="2205370"/>
          </a:xfrm>
        </p:grpSpPr>
        <p:sp>
          <p:nvSpPr>
            <p:cNvPr id="12" name="Oval 11">
              <a:extLst>
                <a:ext uri="{FF2B5EF4-FFF2-40B4-BE49-F238E27FC236}">
                  <a16:creationId xmlns:a16="http://schemas.microsoft.com/office/drawing/2014/main" id="{C52C6C92-1594-422B-8C5A-9298EB2E925E}"/>
                </a:ext>
              </a:extLst>
            </p:cNvPr>
            <p:cNvSpPr/>
            <p:nvPr/>
          </p:nvSpPr>
          <p:spPr>
            <a:xfrm>
              <a:off x="3172689" y="2118286"/>
              <a:ext cx="1773383" cy="580636"/>
            </a:xfrm>
            <a:prstGeom prst="ellipse">
              <a:avLst/>
            </a:prstGeom>
            <a:noFill/>
            <a:ln w="28575">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QA"/>
            </a:p>
          </p:txBody>
        </p:sp>
        <p:sp>
          <p:nvSpPr>
            <p:cNvPr id="14" name="TextBox 13">
              <a:extLst>
                <a:ext uri="{FF2B5EF4-FFF2-40B4-BE49-F238E27FC236}">
                  <a16:creationId xmlns:a16="http://schemas.microsoft.com/office/drawing/2014/main" id="{72D9B6BB-7C74-2DFC-1B51-7C4DA20CFC4B}"/>
                </a:ext>
              </a:extLst>
            </p:cNvPr>
            <p:cNvSpPr txBox="1"/>
            <p:nvPr/>
          </p:nvSpPr>
          <p:spPr>
            <a:xfrm>
              <a:off x="438367" y="2261553"/>
              <a:ext cx="2296391" cy="2062103"/>
            </a:xfrm>
            <a:prstGeom prst="rect">
              <a:avLst/>
            </a:prstGeom>
            <a:noFill/>
          </p:spPr>
          <p:txBody>
            <a:bodyPr wrap="square">
              <a:spAutoFit/>
            </a:bodyPr>
            <a:lstStyle/>
            <a:p>
              <a:r>
                <a:rPr lang="en-US" sz="1600" dirty="0">
                  <a:solidFill>
                    <a:srgbClr val="101010"/>
                  </a:solidFill>
                  <a:effectLst/>
                  <a:latin typeface="+mj-lt"/>
                </a:rPr>
                <a:t>Attributive explanations provide heatmaps and generate scores and</a:t>
              </a:r>
            </a:p>
            <a:p>
              <a:r>
                <a:rPr lang="en-US" sz="1600" dirty="0">
                  <a:solidFill>
                    <a:srgbClr val="101010"/>
                  </a:solidFill>
                  <a:effectLst/>
                  <a:latin typeface="+mj-lt"/>
                </a:rPr>
                <a:t>attention weights to explain the decision made by models. They</a:t>
              </a:r>
            </a:p>
            <a:p>
              <a:r>
                <a:rPr lang="en-US" sz="1600" dirty="0">
                  <a:solidFill>
                    <a:srgbClr val="101010"/>
                  </a:solidFill>
                  <a:effectLst/>
                  <a:latin typeface="+mj-lt"/>
                </a:rPr>
                <a:t>use text and image data as input.</a:t>
              </a:r>
            </a:p>
          </p:txBody>
        </p:sp>
      </p:grpSp>
    </p:spTree>
    <p:extLst>
      <p:ext uri="{BB962C8B-B14F-4D97-AF65-F5344CB8AC3E}">
        <p14:creationId xmlns:p14="http://schemas.microsoft.com/office/powerpoint/2010/main" val="153988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E44EE-8607-87ED-E23E-1B383AE44811}"/>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F60C02C-EAB6-E5C1-AC31-952D3599055B}"/>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53FE4B20-B630-F8B4-69D7-BD1E246B8C47}"/>
              </a:ext>
            </a:extLst>
          </p:cNvPr>
          <p:cNvSpPr>
            <a:spLocks noGrp="1"/>
          </p:cNvSpPr>
          <p:nvPr>
            <p:ph type="sldNum" sz="quarter" idx="12"/>
          </p:nvPr>
        </p:nvSpPr>
        <p:spPr/>
        <p:txBody>
          <a:bodyPr/>
          <a:lstStyle/>
          <a:p>
            <a:fld id="{EB60BC02-D374-C843-982C-996C93B0F0E6}" type="slidenum">
              <a:rPr lang="en-QA" smtClean="0"/>
              <a:t>15</a:t>
            </a:fld>
            <a:endParaRPr lang="en-QA"/>
          </a:p>
        </p:txBody>
      </p:sp>
      <p:sp>
        <p:nvSpPr>
          <p:cNvPr id="6" name="Title 1">
            <a:extLst>
              <a:ext uri="{FF2B5EF4-FFF2-40B4-BE49-F238E27FC236}">
                <a16:creationId xmlns:a16="http://schemas.microsoft.com/office/drawing/2014/main" id="{CB7EA7DA-9ACC-2A30-AD2D-8019E8980547}"/>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Taxonomy of Explainable AI?</a:t>
            </a:r>
          </a:p>
        </p:txBody>
      </p:sp>
      <p:sp>
        <p:nvSpPr>
          <p:cNvPr id="11" name="TextBox 10">
            <a:extLst>
              <a:ext uri="{FF2B5EF4-FFF2-40B4-BE49-F238E27FC236}">
                <a16:creationId xmlns:a16="http://schemas.microsoft.com/office/drawing/2014/main" id="{1961E611-676E-DD34-B415-ABCE7DE0726A}"/>
              </a:ext>
            </a:extLst>
          </p:cNvPr>
          <p:cNvSpPr txBox="1"/>
          <p:nvPr/>
        </p:nvSpPr>
        <p:spPr>
          <a:xfrm>
            <a:off x="7934834" y="6221789"/>
            <a:ext cx="4288696" cy="415498"/>
          </a:xfrm>
          <a:prstGeom prst="rect">
            <a:avLst/>
          </a:prstGeom>
          <a:noFill/>
        </p:spPr>
        <p:txBody>
          <a:bodyPr wrap="square">
            <a:spAutoFit/>
          </a:bodyPr>
          <a:lstStyle/>
          <a:p>
            <a:r>
              <a:rPr lang="en-US" sz="1050" i="1" dirty="0" err="1">
                <a:latin typeface="+mj-lt"/>
              </a:rPr>
              <a:t>Chinu</a:t>
            </a:r>
            <a:r>
              <a:rPr lang="en-US" sz="1050" i="1" dirty="0">
                <a:latin typeface="+mj-lt"/>
              </a:rPr>
              <a:t> and Bansal</a:t>
            </a:r>
            <a:r>
              <a:rPr lang="en-US" sz="1050" dirty="0">
                <a:solidFill>
                  <a:srgbClr val="101010"/>
                </a:solidFill>
                <a:effectLst/>
                <a:latin typeface="Helvetica" pitchFamily="2" charset="0"/>
              </a:rPr>
              <a:t>. </a:t>
            </a:r>
            <a:r>
              <a:rPr lang="en-US" sz="1050" i="1" dirty="0">
                <a:latin typeface="+mj-lt"/>
              </a:rPr>
              <a:t>Explainable AI: To Reveal the Logic of Black-Box Models. part of Springer Nature 2023.</a:t>
            </a:r>
          </a:p>
        </p:txBody>
      </p:sp>
      <p:pic>
        <p:nvPicPr>
          <p:cNvPr id="17" name="Picture 16" descr="A diagram of a company&#10;&#10;AI-generated content may be incorrect.">
            <a:extLst>
              <a:ext uri="{FF2B5EF4-FFF2-40B4-BE49-F238E27FC236}">
                <a16:creationId xmlns:a16="http://schemas.microsoft.com/office/drawing/2014/main" id="{858DE3B8-A9C7-330F-3824-4ABE0B9CA339}"/>
              </a:ext>
            </a:extLst>
          </p:cNvPr>
          <p:cNvPicPr>
            <a:picLocks noChangeAspect="1"/>
          </p:cNvPicPr>
          <p:nvPr/>
        </p:nvPicPr>
        <p:blipFill>
          <a:blip r:embed="rId3"/>
          <a:stretch>
            <a:fillRect/>
          </a:stretch>
        </p:blipFill>
        <p:spPr>
          <a:xfrm>
            <a:off x="1946563" y="1234574"/>
            <a:ext cx="8555181" cy="4984982"/>
          </a:xfrm>
          <a:prstGeom prst="rect">
            <a:avLst/>
          </a:prstGeom>
        </p:spPr>
      </p:pic>
    </p:spTree>
    <p:extLst>
      <p:ext uri="{BB962C8B-B14F-4D97-AF65-F5344CB8AC3E}">
        <p14:creationId xmlns:p14="http://schemas.microsoft.com/office/powerpoint/2010/main" val="3498817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E239-A4FB-0B33-E07F-AA0E256CF73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C198DC3-973B-D71A-E1F7-AB9AC89B50CB}"/>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AC4DFE31-68EF-9F43-6902-177A866BD5F2}"/>
              </a:ext>
            </a:extLst>
          </p:cNvPr>
          <p:cNvSpPr>
            <a:spLocks noGrp="1"/>
          </p:cNvSpPr>
          <p:nvPr>
            <p:ph type="sldNum" sz="quarter" idx="12"/>
          </p:nvPr>
        </p:nvSpPr>
        <p:spPr/>
        <p:txBody>
          <a:bodyPr/>
          <a:lstStyle/>
          <a:p>
            <a:fld id="{EB60BC02-D374-C843-982C-996C93B0F0E6}" type="slidenum">
              <a:rPr lang="en-QA" smtClean="0"/>
              <a:t>16</a:t>
            </a:fld>
            <a:endParaRPr lang="en-QA"/>
          </a:p>
        </p:txBody>
      </p:sp>
      <p:sp>
        <p:nvSpPr>
          <p:cNvPr id="6" name="Title 1">
            <a:extLst>
              <a:ext uri="{FF2B5EF4-FFF2-40B4-BE49-F238E27FC236}">
                <a16:creationId xmlns:a16="http://schemas.microsoft.com/office/drawing/2014/main" id="{BD3BF185-3670-69D1-21D0-B90FD929322B}"/>
              </a:ext>
            </a:extLst>
          </p:cNvPr>
          <p:cNvSpPr>
            <a:spLocks noGrp="1"/>
          </p:cNvSpPr>
          <p:nvPr>
            <p:ph type="title"/>
          </p:nvPr>
        </p:nvSpPr>
        <p:spPr>
          <a:xfrm>
            <a:off x="684770" y="365125"/>
            <a:ext cx="8121027" cy="1325563"/>
          </a:xfrm>
        </p:spPr>
        <p:txBody>
          <a:bodyPr>
            <a:normAutofit/>
          </a:bodyPr>
          <a:lstStyle/>
          <a:p>
            <a:r>
              <a:rPr lang="en-US" sz="3200" b="1" dirty="0">
                <a:solidFill>
                  <a:srgbClr val="101010"/>
                </a:solidFill>
                <a:effectLst/>
              </a:rPr>
              <a:t>Techniques/Methods Used for Explainable AI</a:t>
            </a:r>
          </a:p>
        </p:txBody>
      </p:sp>
      <p:sp>
        <p:nvSpPr>
          <p:cNvPr id="11" name="TextBox 10">
            <a:extLst>
              <a:ext uri="{FF2B5EF4-FFF2-40B4-BE49-F238E27FC236}">
                <a16:creationId xmlns:a16="http://schemas.microsoft.com/office/drawing/2014/main" id="{D0B630C2-CFA3-CB81-2586-C80AF3F40A59}"/>
              </a:ext>
            </a:extLst>
          </p:cNvPr>
          <p:cNvSpPr txBox="1"/>
          <p:nvPr/>
        </p:nvSpPr>
        <p:spPr>
          <a:xfrm>
            <a:off x="7903304" y="5940852"/>
            <a:ext cx="4288696" cy="415498"/>
          </a:xfrm>
          <a:prstGeom prst="rect">
            <a:avLst/>
          </a:prstGeom>
          <a:noFill/>
        </p:spPr>
        <p:txBody>
          <a:bodyPr wrap="square">
            <a:spAutoFit/>
          </a:bodyPr>
          <a:lstStyle/>
          <a:p>
            <a:r>
              <a:rPr lang="en-US" sz="1050" i="1" dirty="0" err="1">
                <a:latin typeface="+mj-lt"/>
              </a:rPr>
              <a:t>Chinu</a:t>
            </a:r>
            <a:r>
              <a:rPr lang="en-US" sz="1050" i="1" dirty="0">
                <a:latin typeface="+mj-lt"/>
              </a:rPr>
              <a:t> and Bansal</a:t>
            </a:r>
            <a:r>
              <a:rPr lang="en-US" sz="1050" dirty="0">
                <a:solidFill>
                  <a:srgbClr val="101010"/>
                </a:solidFill>
                <a:effectLst/>
                <a:latin typeface="Helvetica" pitchFamily="2" charset="0"/>
              </a:rPr>
              <a:t>. </a:t>
            </a:r>
            <a:r>
              <a:rPr lang="en-US" sz="1050" i="1" dirty="0">
                <a:latin typeface="+mj-lt"/>
              </a:rPr>
              <a:t>Explainable AI: To Reveal the Logic of Black-Box Models. part of Springer Nature 2023.</a:t>
            </a:r>
          </a:p>
        </p:txBody>
      </p:sp>
      <p:pic>
        <p:nvPicPr>
          <p:cNvPr id="3" name="Picture 2" descr="A table of text with letters&#10;&#10;AI-generated content may be incorrect.">
            <a:extLst>
              <a:ext uri="{FF2B5EF4-FFF2-40B4-BE49-F238E27FC236}">
                <a16:creationId xmlns:a16="http://schemas.microsoft.com/office/drawing/2014/main" id="{214AEA85-814F-5404-C501-8CEC9C9D392B}"/>
              </a:ext>
            </a:extLst>
          </p:cNvPr>
          <p:cNvPicPr>
            <a:picLocks noChangeAspect="1"/>
          </p:cNvPicPr>
          <p:nvPr/>
        </p:nvPicPr>
        <p:blipFill>
          <a:blip r:embed="rId3"/>
          <a:stretch>
            <a:fillRect/>
          </a:stretch>
        </p:blipFill>
        <p:spPr>
          <a:xfrm>
            <a:off x="900392" y="1558963"/>
            <a:ext cx="9592542" cy="4174866"/>
          </a:xfrm>
          <a:prstGeom prst="rect">
            <a:avLst/>
          </a:prstGeom>
        </p:spPr>
      </p:pic>
      <p:grpSp>
        <p:nvGrpSpPr>
          <p:cNvPr id="9" name="Group 8">
            <a:extLst>
              <a:ext uri="{FF2B5EF4-FFF2-40B4-BE49-F238E27FC236}">
                <a16:creationId xmlns:a16="http://schemas.microsoft.com/office/drawing/2014/main" id="{D562F48C-9269-9E5B-A0A8-60D7599E861A}"/>
              </a:ext>
            </a:extLst>
          </p:cNvPr>
          <p:cNvGrpSpPr/>
          <p:nvPr/>
        </p:nvGrpSpPr>
        <p:grpSpPr>
          <a:xfrm>
            <a:off x="900391" y="1967345"/>
            <a:ext cx="609754" cy="3172691"/>
            <a:chOff x="900391" y="1967345"/>
            <a:chExt cx="609754" cy="3172691"/>
          </a:xfrm>
        </p:grpSpPr>
        <p:sp>
          <p:nvSpPr>
            <p:cNvPr id="7" name="Oval 6">
              <a:extLst>
                <a:ext uri="{FF2B5EF4-FFF2-40B4-BE49-F238E27FC236}">
                  <a16:creationId xmlns:a16="http://schemas.microsoft.com/office/drawing/2014/main" id="{0FFA34B4-4639-7712-2019-4D10613F6278}"/>
                </a:ext>
              </a:extLst>
            </p:cNvPr>
            <p:cNvSpPr/>
            <p:nvPr/>
          </p:nvSpPr>
          <p:spPr>
            <a:xfrm>
              <a:off x="900392" y="1967345"/>
              <a:ext cx="609753" cy="304800"/>
            </a:xfrm>
            <a:prstGeom prst="ellipse">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QA" dirty="0"/>
            </a:p>
          </p:txBody>
        </p:sp>
        <p:sp>
          <p:nvSpPr>
            <p:cNvPr id="8" name="Oval 7">
              <a:extLst>
                <a:ext uri="{FF2B5EF4-FFF2-40B4-BE49-F238E27FC236}">
                  <a16:creationId xmlns:a16="http://schemas.microsoft.com/office/drawing/2014/main" id="{A49E1281-E704-A460-8A69-E10B064B8182}"/>
                </a:ext>
              </a:extLst>
            </p:cNvPr>
            <p:cNvSpPr/>
            <p:nvPr/>
          </p:nvSpPr>
          <p:spPr>
            <a:xfrm>
              <a:off x="900391" y="4835236"/>
              <a:ext cx="609753" cy="304800"/>
            </a:xfrm>
            <a:prstGeom prst="ellipse">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QA" dirty="0"/>
            </a:p>
          </p:txBody>
        </p:sp>
      </p:grpSp>
    </p:spTree>
    <p:extLst>
      <p:ext uri="{BB962C8B-B14F-4D97-AF65-F5344CB8AC3E}">
        <p14:creationId xmlns:p14="http://schemas.microsoft.com/office/powerpoint/2010/main" val="112022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C80E0-ADF4-C6A6-2168-B84D6D382E5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09F06006-CA6E-FC6E-B85A-64903135A008}"/>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7B7490FF-95C2-45BF-D8E0-3DDA11CF34B1}"/>
              </a:ext>
            </a:extLst>
          </p:cNvPr>
          <p:cNvSpPr>
            <a:spLocks noGrp="1"/>
          </p:cNvSpPr>
          <p:nvPr>
            <p:ph type="sldNum" sz="quarter" idx="12"/>
          </p:nvPr>
        </p:nvSpPr>
        <p:spPr/>
        <p:txBody>
          <a:bodyPr/>
          <a:lstStyle/>
          <a:p>
            <a:fld id="{EB60BC02-D374-C843-982C-996C93B0F0E6}" type="slidenum">
              <a:rPr lang="en-QA" smtClean="0"/>
              <a:t>17</a:t>
            </a:fld>
            <a:endParaRPr lang="en-QA"/>
          </a:p>
        </p:txBody>
      </p:sp>
      <p:sp>
        <p:nvSpPr>
          <p:cNvPr id="6" name="Title 1">
            <a:extLst>
              <a:ext uri="{FF2B5EF4-FFF2-40B4-BE49-F238E27FC236}">
                <a16:creationId xmlns:a16="http://schemas.microsoft.com/office/drawing/2014/main" id="{FA8370E5-6A01-89C2-0A59-FB26BA6FCE91}"/>
              </a:ext>
            </a:extLst>
          </p:cNvPr>
          <p:cNvSpPr>
            <a:spLocks noGrp="1"/>
          </p:cNvSpPr>
          <p:nvPr>
            <p:ph type="title"/>
          </p:nvPr>
        </p:nvSpPr>
        <p:spPr>
          <a:xfrm>
            <a:off x="684770" y="365125"/>
            <a:ext cx="8121027" cy="1325563"/>
          </a:xfrm>
        </p:spPr>
        <p:txBody>
          <a:bodyPr>
            <a:normAutofit/>
          </a:bodyPr>
          <a:lstStyle/>
          <a:p>
            <a:r>
              <a:rPr lang="en-US" sz="3200" b="1" dirty="0"/>
              <a:t>Model-Agnostic Explainability Techniques</a:t>
            </a:r>
            <a:endParaRPr lang="en-US" sz="3200" b="1" dirty="0">
              <a:solidFill>
                <a:srgbClr val="101010"/>
              </a:solidFill>
              <a:effectLst/>
            </a:endParaRPr>
          </a:p>
        </p:txBody>
      </p:sp>
      <p:sp>
        <p:nvSpPr>
          <p:cNvPr id="11" name="TextBox 10">
            <a:extLst>
              <a:ext uri="{FF2B5EF4-FFF2-40B4-BE49-F238E27FC236}">
                <a16:creationId xmlns:a16="http://schemas.microsoft.com/office/drawing/2014/main" id="{34B6A203-202A-FE0C-98BF-2C638509CD16}"/>
              </a:ext>
            </a:extLst>
          </p:cNvPr>
          <p:cNvSpPr txBox="1"/>
          <p:nvPr/>
        </p:nvSpPr>
        <p:spPr>
          <a:xfrm>
            <a:off x="7903304" y="5940852"/>
            <a:ext cx="4288696" cy="415498"/>
          </a:xfrm>
          <a:prstGeom prst="rect">
            <a:avLst/>
          </a:prstGeom>
          <a:noFill/>
        </p:spPr>
        <p:txBody>
          <a:bodyPr wrap="square">
            <a:spAutoFit/>
          </a:bodyPr>
          <a:lstStyle/>
          <a:p>
            <a:r>
              <a:rPr lang="en-US" sz="1050" i="1" dirty="0" err="1">
                <a:latin typeface="+mj-lt"/>
              </a:rPr>
              <a:t>Chinu</a:t>
            </a:r>
            <a:r>
              <a:rPr lang="en-US" sz="1050" i="1" dirty="0">
                <a:latin typeface="+mj-lt"/>
              </a:rPr>
              <a:t> and Bansal</a:t>
            </a:r>
            <a:r>
              <a:rPr lang="en-US" sz="1050" dirty="0">
                <a:solidFill>
                  <a:srgbClr val="101010"/>
                </a:solidFill>
                <a:effectLst/>
                <a:latin typeface="Helvetica" pitchFamily="2" charset="0"/>
              </a:rPr>
              <a:t>. </a:t>
            </a:r>
            <a:r>
              <a:rPr lang="en-US" sz="1050" i="1" dirty="0">
                <a:latin typeface="+mj-lt"/>
              </a:rPr>
              <a:t>Explainable AI: To Reveal the Logic of Black-Box Models. part of Springer Nature 2023.</a:t>
            </a:r>
          </a:p>
        </p:txBody>
      </p:sp>
      <p:sp>
        <p:nvSpPr>
          <p:cNvPr id="10" name="TextBox 9">
            <a:extLst>
              <a:ext uri="{FF2B5EF4-FFF2-40B4-BE49-F238E27FC236}">
                <a16:creationId xmlns:a16="http://schemas.microsoft.com/office/drawing/2014/main" id="{E4909A9F-A0DB-E07F-F392-3F94ED96A431}"/>
              </a:ext>
            </a:extLst>
          </p:cNvPr>
          <p:cNvSpPr txBox="1"/>
          <p:nvPr/>
        </p:nvSpPr>
        <p:spPr>
          <a:xfrm>
            <a:off x="795403" y="1691831"/>
            <a:ext cx="7815197" cy="1237262"/>
          </a:xfrm>
          <a:prstGeom prst="rect">
            <a:avLst/>
          </a:prstGeom>
          <a:noFill/>
        </p:spPr>
        <p:txBody>
          <a:bodyPr wrap="square">
            <a:spAutoFit/>
          </a:bodyPr>
          <a:lstStyle/>
          <a:p>
            <a:pPr marL="342900" indent="-342900">
              <a:lnSpc>
                <a:spcPct val="200000"/>
              </a:lnSpc>
              <a:buFont typeface="Arial" panose="020B0604020202020204" pitchFamily="34" charset="0"/>
              <a:buChar char="•"/>
            </a:pPr>
            <a:r>
              <a:rPr lang="en-US" sz="2000" b="1" dirty="0">
                <a:latin typeface="+mj-lt"/>
              </a:rPr>
              <a:t>LIME (Local Interpretable Model-Agnostic Explanations)</a:t>
            </a:r>
          </a:p>
          <a:p>
            <a:pPr marL="342900" indent="-342900">
              <a:lnSpc>
                <a:spcPct val="200000"/>
              </a:lnSpc>
              <a:buFont typeface="Arial" panose="020B0604020202020204" pitchFamily="34" charset="0"/>
              <a:buChar char="•"/>
            </a:pPr>
            <a:r>
              <a:rPr lang="en-US" sz="2000" b="1" dirty="0">
                <a:latin typeface="+mj-lt"/>
              </a:rPr>
              <a:t>SHAP (</a:t>
            </a:r>
            <a:r>
              <a:rPr lang="en-US" sz="2000" b="1" dirty="0" err="1">
                <a:latin typeface="+mj-lt"/>
              </a:rPr>
              <a:t>SHapley</a:t>
            </a:r>
            <a:r>
              <a:rPr lang="en-US" sz="2000" b="1" dirty="0">
                <a:latin typeface="+mj-lt"/>
              </a:rPr>
              <a:t> Additive Explanations)</a:t>
            </a:r>
            <a:endParaRPr lang="en-QA" sz="2000" dirty="0">
              <a:latin typeface="+mj-lt"/>
            </a:endParaRPr>
          </a:p>
        </p:txBody>
      </p:sp>
    </p:spTree>
    <p:extLst>
      <p:ext uri="{BB962C8B-B14F-4D97-AF65-F5344CB8AC3E}">
        <p14:creationId xmlns:p14="http://schemas.microsoft.com/office/powerpoint/2010/main" val="1120257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2155E-DDB3-1924-C2D2-4E27A2207D7A}"/>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1E7AA94-460E-8F2A-AE7C-9085F904CBF7}"/>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0749743F-AFA7-A005-3C15-7CAB25051ECA}"/>
              </a:ext>
            </a:extLst>
          </p:cNvPr>
          <p:cNvSpPr>
            <a:spLocks noGrp="1"/>
          </p:cNvSpPr>
          <p:nvPr>
            <p:ph type="sldNum" sz="quarter" idx="12"/>
          </p:nvPr>
        </p:nvSpPr>
        <p:spPr/>
        <p:txBody>
          <a:bodyPr/>
          <a:lstStyle/>
          <a:p>
            <a:fld id="{EB60BC02-D374-C843-982C-996C93B0F0E6}" type="slidenum">
              <a:rPr lang="en-QA" smtClean="0"/>
              <a:t>18</a:t>
            </a:fld>
            <a:endParaRPr lang="en-QA"/>
          </a:p>
        </p:txBody>
      </p:sp>
      <p:sp>
        <p:nvSpPr>
          <p:cNvPr id="6" name="Title 1">
            <a:extLst>
              <a:ext uri="{FF2B5EF4-FFF2-40B4-BE49-F238E27FC236}">
                <a16:creationId xmlns:a16="http://schemas.microsoft.com/office/drawing/2014/main" id="{E906BEA6-5FE5-5EED-1961-1018929FAF2F}"/>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LIME (Local Interpretable Model-Agnostic Explanations)</a:t>
            </a:r>
          </a:p>
        </p:txBody>
      </p:sp>
      <p:sp>
        <p:nvSpPr>
          <p:cNvPr id="3" name="TextBox 2">
            <a:extLst>
              <a:ext uri="{FF2B5EF4-FFF2-40B4-BE49-F238E27FC236}">
                <a16:creationId xmlns:a16="http://schemas.microsoft.com/office/drawing/2014/main" id="{5A2C3C0C-6893-93A5-0241-8C1AE6CBD3B3}"/>
              </a:ext>
            </a:extLst>
          </p:cNvPr>
          <p:cNvSpPr txBox="1"/>
          <p:nvPr/>
        </p:nvSpPr>
        <p:spPr>
          <a:xfrm>
            <a:off x="684768" y="1783020"/>
            <a:ext cx="10024793" cy="646331"/>
          </a:xfrm>
          <a:prstGeom prst="rect">
            <a:avLst/>
          </a:prstGeom>
          <a:noFill/>
        </p:spPr>
        <p:txBody>
          <a:bodyPr wrap="square">
            <a:spAutoFit/>
          </a:bodyPr>
          <a:lstStyle/>
          <a:p>
            <a:pPr marL="285750" indent="-285750">
              <a:buFont typeface="Arial" panose="020B0604020202020204" pitchFamily="34" charset="0"/>
              <a:buChar char="•"/>
            </a:pPr>
            <a:r>
              <a:rPr lang="en-US" b="1" dirty="0">
                <a:latin typeface="+mj-lt"/>
              </a:rPr>
              <a:t>Used to explain individual AI model predictions by approximating the complex model with a simpler, interpretable model (such as linear regression) in a local neighborhood of the prediction.</a:t>
            </a:r>
            <a:endParaRPr lang="en-QA" b="1" dirty="0">
              <a:latin typeface="+mj-lt"/>
            </a:endParaRPr>
          </a:p>
        </p:txBody>
      </p:sp>
      <p:sp>
        <p:nvSpPr>
          <p:cNvPr id="8" name="TextBox 7">
            <a:extLst>
              <a:ext uri="{FF2B5EF4-FFF2-40B4-BE49-F238E27FC236}">
                <a16:creationId xmlns:a16="http://schemas.microsoft.com/office/drawing/2014/main" id="{A92E4680-1104-5A06-22E4-3ECA44754315}"/>
              </a:ext>
            </a:extLst>
          </p:cNvPr>
          <p:cNvSpPr txBox="1"/>
          <p:nvPr/>
        </p:nvSpPr>
        <p:spPr>
          <a:xfrm>
            <a:off x="684768" y="2646997"/>
            <a:ext cx="10024793" cy="646331"/>
          </a:xfrm>
          <a:prstGeom prst="rect">
            <a:avLst/>
          </a:prstGeom>
          <a:noFill/>
        </p:spPr>
        <p:txBody>
          <a:bodyPr wrap="square">
            <a:spAutoFit/>
          </a:bodyPr>
          <a:lstStyle/>
          <a:p>
            <a:pPr marL="285750" indent="-285750">
              <a:buFont typeface="Arial" panose="020B0604020202020204" pitchFamily="34" charset="0"/>
              <a:buChar char="•"/>
            </a:pPr>
            <a:r>
              <a:rPr lang="en-US" dirty="0"/>
              <a:t>Is</a:t>
            </a:r>
            <a:r>
              <a:rPr lang="en-US" b="1" dirty="0"/>
              <a:t> </a:t>
            </a:r>
            <a:r>
              <a:rPr lang="en-US" dirty="0"/>
              <a:t>model-agnostic, meaning it can be applied to any machine learning model (e.g., deep learning, decision trees, support vector machines).</a:t>
            </a:r>
            <a:endParaRPr lang="en-QA" dirty="0"/>
          </a:p>
        </p:txBody>
      </p:sp>
      <p:pic>
        <p:nvPicPr>
          <p:cNvPr id="14" name="Picture 13" descr="A black text on a white background&#10;&#10;AI-generated content may be incorrect.">
            <a:extLst>
              <a:ext uri="{FF2B5EF4-FFF2-40B4-BE49-F238E27FC236}">
                <a16:creationId xmlns:a16="http://schemas.microsoft.com/office/drawing/2014/main" id="{77ED1706-4D66-031D-5401-F118551CA9FB}"/>
              </a:ext>
            </a:extLst>
          </p:cNvPr>
          <p:cNvPicPr>
            <a:picLocks noChangeAspect="1"/>
          </p:cNvPicPr>
          <p:nvPr/>
        </p:nvPicPr>
        <p:blipFill>
          <a:blip r:embed="rId3"/>
          <a:stretch>
            <a:fillRect/>
          </a:stretch>
        </p:blipFill>
        <p:spPr>
          <a:xfrm>
            <a:off x="3954909" y="3776114"/>
            <a:ext cx="5599640" cy="1058469"/>
          </a:xfrm>
          <a:prstGeom prst="rect">
            <a:avLst/>
          </a:prstGeom>
        </p:spPr>
      </p:pic>
      <p:sp>
        <p:nvSpPr>
          <p:cNvPr id="15" name="TextBox 14">
            <a:extLst>
              <a:ext uri="{FF2B5EF4-FFF2-40B4-BE49-F238E27FC236}">
                <a16:creationId xmlns:a16="http://schemas.microsoft.com/office/drawing/2014/main" id="{08159864-271B-3FDF-6BD7-D79CF21436D0}"/>
              </a:ext>
            </a:extLst>
          </p:cNvPr>
          <p:cNvSpPr txBox="1"/>
          <p:nvPr/>
        </p:nvSpPr>
        <p:spPr>
          <a:xfrm>
            <a:off x="684768" y="3992595"/>
            <a:ext cx="3028249" cy="369332"/>
          </a:xfrm>
          <a:prstGeom prst="rect">
            <a:avLst/>
          </a:prstGeom>
          <a:noFill/>
        </p:spPr>
        <p:txBody>
          <a:bodyPr wrap="square">
            <a:spAutoFit/>
          </a:bodyPr>
          <a:lstStyle/>
          <a:p>
            <a:pPr marL="285750" indent="-285750">
              <a:buFont typeface="Arial" panose="020B0604020202020204" pitchFamily="34" charset="0"/>
              <a:buChar char="•"/>
            </a:pPr>
            <a:r>
              <a:rPr lang="en-US" dirty="0"/>
              <a:t>Objective function of LIME</a:t>
            </a:r>
            <a:endParaRPr lang="en-QA" dirty="0"/>
          </a:p>
        </p:txBody>
      </p:sp>
      <p:grpSp>
        <p:nvGrpSpPr>
          <p:cNvPr id="22" name="Group 21">
            <a:extLst>
              <a:ext uri="{FF2B5EF4-FFF2-40B4-BE49-F238E27FC236}">
                <a16:creationId xmlns:a16="http://schemas.microsoft.com/office/drawing/2014/main" id="{7521812E-5086-3973-DC09-4B7403E514C7}"/>
              </a:ext>
            </a:extLst>
          </p:cNvPr>
          <p:cNvGrpSpPr/>
          <p:nvPr/>
        </p:nvGrpSpPr>
        <p:grpSpPr>
          <a:xfrm>
            <a:off x="3954909" y="4705161"/>
            <a:ext cx="2390940" cy="873155"/>
            <a:chOff x="4038600" y="4577074"/>
            <a:chExt cx="2390940" cy="873155"/>
          </a:xfrm>
        </p:grpSpPr>
        <p:cxnSp>
          <p:nvCxnSpPr>
            <p:cNvPr id="17" name="Straight Arrow Connector 16">
              <a:extLst>
                <a:ext uri="{FF2B5EF4-FFF2-40B4-BE49-F238E27FC236}">
                  <a16:creationId xmlns:a16="http://schemas.microsoft.com/office/drawing/2014/main" id="{7E473CDF-FC2A-EA00-1093-A38B9FDCC9F9}"/>
                </a:ext>
              </a:extLst>
            </p:cNvPr>
            <p:cNvCxnSpPr>
              <a:cxnSpLocks/>
            </p:cNvCxnSpPr>
            <p:nvPr/>
          </p:nvCxnSpPr>
          <p:spPr>
            <a:xfrm flipV="1">
              <a:off x="5514699" y="4577074"/>
              <a:ext cx="581301" cy="426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6F5BEAE-D58D-F0AD-4AB3-F5082EAFC77B}"/>
                </a:ext>
              </a:extLst>
            </p:cNvPr>
            <p:cNvSpPr txBox="1"/>
            <p:nvPr/>
          </p:nvSpPr>
          <p:spPr>
            <a:xfrm>
              <a:off x="4038600" y="4927009"/>
              <a:ext cx="2390940" cy="523220"/>
            </a:xfrm>
            <a:prstGeom prst="rect">
              <a:avLst/>
            </a:prstGeom>
            <a:noFill/>
          </p:spPr>
          <p:txBody>
            <a:bodyPr wrap="square">
              <a:spAutoFit/>
            </a:bodyPr>
            <a:lstStyle/>
            <a:p>
              <a:pPr algn="ctr"/>
              <a:r>
                <a:rPr lang="en-US" sz="1400" dirty="0">
                  <a:solidFill>
                    <a:srgbClr val="0070C0"/>
                  </a:solidFill>
                </a:rPr>
                <a:t>Family of interpretable models </a:t>
              </a:r>
              <a:endParaRPr lang="en-QA" sz="1400" dirty="0">
                <a:solidFill>
                  <a:srgbClr val="0070C0"/>
                </a:solidFill>
              </a:endParaRPr>
            </a:p>
          </p:txBody>
        </p:sp>
      </p:grpSp>
      <p:grpSp>
        <p:nvGrpSpPr>
          <p:cNvPr id="36" name="Group 35">
            <a:extLst>
              <a:ext uri="{FF2B5EF4-FFF2-40B4-BE49-F238E27FC236}">
                <a16:creationId xmlns:a16="http://schemas.microsoft.com/office/drawing/2014/main" id="{0C422D83-541E-BAAF-3FD0-FA59E7E174E9}"/>
              </a:ext>
            </a:extLst>
          </p:cNvPr>
          <p:cNvGrpSpPr/>
          <p:nvPr/>
        </p:nvGrpSpPr>
        <p:grpSpPr>
          <a:xfrm>
            <a:off x="5888234" y="4463524"/>
            <a:ext cx="1529010" cy="895450"/>
            <a:chOff x="5971925" y="4335437"/>
            <a:chExt cx="1529010" cy="895450"/>
          </a:xfrm>
        </p:grpSpPr>
        <p:sp>
          <p:nvSpPr>
            <p:cNvPr id="23" name="TextBox 22">
              <a:extLst>
                <a:ext uri="{FF2B5EF4-FFF2-40B4-BE49-F238E27FC236}">
                  <a16:creationId xmlns:a16="http://schemas.microsoft.com/office/drawing/2014/main" id="{017431F4-6624-3F70-A0F0-08E64B75887E}"/>
                </a:ext>
              </a:extLst>
            </p:cNvPr>
            <p:cNvSpPr txBox="1"/>
            <p:nvPr/>
          </p:nvSpPr>
          <p:spPr>
            <a:xfrm>
              <a:off x="5971925" y="4707667"/>
              <a:ext cx="1529010" cy="523220"/>
            </a:xfrm>
            <a:prstGeom prst="rect">
              <a:avLst/>
            </a:prstGeom>
            <a:noFill/>
          </p:spPr>
          <p:txBody>
            <a:bodyPr wrap="square">
              <a:spAutoFit/>
            </a:bodyPr>
            <a:lstStyle/>
            <a:p>
              <a:pPr algn="ctr"/>
              <a:r>
                <a:rPr lang="en-US" sz="1400" dirty="0">
                  <a:solidFill>
                    <a:srgbClr val="0070C0"/>
                  </a:solidFill>
                </a:rPr>
                <a:t>Complex </a:t>
              </a:r>
            </a:p>
            <a:p>
              <a:pPr algn="ctr"/>
              <a:r>
                <a:rPr lang="en-US" sz="1400" dirty="0">
                  <a:solidFill>
                    <a:srgbClr val="0070C0"/>
                  </a:solidFill>
                </a:rPr>
                <a:t>model </a:t>
              </a:r>
              <a:endParaRPr lang="en-QA" sz="1400" dirty="0">
                <a:solidFill>
                  <a:srgbClr val="0070C0"/>
                </a:solidFill>
              </a:endParaRPr>
            </a:p>
          </p:txBody>
        </p:sp>
        <p:cxnSp>
          <p:nvCxnSpPr>
            <p:cNvPr id="24" name="Straight Arrow Connector 23">
              <a:extLst>
                <a:ext uri="{FF2B5EF4-FFF2-40B4-BE49-F238E27FC236}">
                  <a16:creationId xmlns:a16="http://schemas.microsoft.com/office/drawing/2014/main" id="{E7573A4A-EC94-9EAE-F791-A6ACF7D3C488}"/>
                </a:ext>
              </a:extLst>
            </p:cNvPr>
            <p:cNvCxnSpPr>
              <a:cxnSpLocks/>
              <a:stCxn id="23" idx="0"/>
            </p:cNvCxnSpPr>
            <p:nvPr/>
          </p:nvCxnSpPr>
          <p:spPr>
            <a:xfrm flipV="1">
              <a:off x="6736430" y="4335437"/>
              <a:ext cx="238085" cy="372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6AFEDC7C-8A53-2C0D-E996-E0C0FC7C9DBF}"/>
              </a:ext>
            </a:extLst>
          </p:cNvPr>
          <p:cNvGrpSpPr/>
          <p:nvPr/>
        </p:nvGrpSpPr>
        <p:grpSpPr>
          <a:xfrm>
            <a:off x="6940174" y="4443252"/>
            <a:ext cx="1529010" cy="967321"/>
            <a:chOff x="7023865" y="4315165"/>
            <a:chExt cx="1529010" cy="967321"/>
          </a:xfrm>
        </p:grpSpPr>
        <p:sp>
          <p:nvSpPr>
            <p:cNvPr id="26" name="TextBox 25">
              <a:extLst>
                <a:ext uri="{FF2B5EF4-FFF2-40B4-BE49-F238E27FC236}">
                  <a16:creationId xmlns:a16="http://schemas.microsoft.com/office/drawing/2014/main" id="{ED6B8FE5-A03A-32C4-570F-58155BF795B1}"/>
                </a:ext>
              </a:extLst>
            </p:cNvPr>
            <p:cNvSpPr txBox="1"/>
            <p:nvPr/>
          </p:nvSpPr>
          <p:spPr>
            <a:xfrm>
              <a:off x="7023865" y="4543822"/>
              <a:ext cx="1529010" cy="738664"/>
            </a:xfrm>
            <a:prstGeom prst="rect">
              <a:avLst/>
            </a:prstGeom>
            <a:noFill/>
          </p:spPr>
          <p:txBody>
            <a:bodyPr wrap="square">
              <a:spAutoFit/>
            </a:bodyPr>
            <a:lstStyle/>
            <a:p>
              <a:pPr algn="ctr"/>
              <a:r>
                <a:rPr lang="en-US" sz="1400" dirty="0">
                  <a:solidFill>
                    <a:srgbClr val="0070C0"/>
                  </a:solidFill>
                </a:rPr>
                <a:t>Simpler interpretable model </a:t>
              </a:r>
              <a:endParaRPr lang="en-QA" sz="1400" dirty="0">
                <a:solidFill>
                  <a:srgbClr val="0070C0"/>
                </a:solidFill>
              </a:endParaRPr>
            </a:p>
          </p:txBody>
        </p:sp>
        <p:cxnSp>
          <p:nvCxnSpPr>
            <p:cNvPr id="29" name="Straight Arrow Connector 28">
              <a:extLst>
                <a:ext uri="{FF2B5EF4-FFF2-40B4-BE49-F238E27FC236}">
                  <a16:creationId xmlns:a16="http://schemas.microsoft.com/office/drawing/2014/main" id="{8A429E43-665D-E97C-AA8F-661D76B9B200}"/>
                </a:ext>
              </a:extLst>
            </p:cNvPr>
            <p:cNvCxnSpPr>
              <a:cxnSpLocks/>
            </p:cNvCxnSpPr>
            <p:nvPr/>
          </p:nvCxnSpPr>
          <p:spPr>
            <a:xfrm flipH="1" flipV="1">
              <a:off x="7347047" y="4315165"/>
              <a:ext cx="327904" cy="3000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EEE8ED04-6BDC-D19E-3E5D-7946C30712EF}"/>
              </a:ext>
            </a:extLst>
          </p:cNvPr>
          <p:cNvGrpSpPr/>
          <p:nvPr/>
        </p:nvGrpSpPr>
        <p:grpSpPr>
          <a:xfrm>
            <a:off x="7914442" y="4457107"/>
            <a:ext cx="1576629" cy="520591"/>
            <a:chOff x="7998133" y="4329020"/>
            <a:chExt cx="1576629" cy="520591"/>
          </a:xfrm>
        </p:grpSpPr>
        <p:sp>
          <p:nvSpPr>
            <p:cNvPr id="32" name="TextBox 31">
              <a:extLst>
                <a:ext uri="{FF2B5EF4-FFF2-40B4-BE49-F238E27FC236}">
                  <a16:creationId xmlns:a16="http://schemas.microsoft.com/office/drawing/2014/main" id="{AD07EC4D-F002-2CDC-F51D-E59CEDFD4C8A}"/>
                </a:ext>
              </a:extLst>
            </p:cNvPr>
            <p:cNvSpPr txBox="1"/>
            <p:nvPr/>
          </p:nvSpPr>
          <p:spPr>
            <a:xfrm>
              <a:off x="8045752" y="4541834"/>
              <a:ext cx="1529010" cy="307777"/>
            </a:xfrm>
            <a:prstGeom prst="rect">
              <a:avLst/>
            </a:prstGeom>
            <a:noFill/>
          </p:spPr>
          <p:txBody>
            <a:bodyPr wrap="square">
              <a:spAutoFit/>
            </a:bodyPr>
            <a:lstStyle/>
            <a:p>
              <a:pPr algn="ctr"/>
              <a:r>
                <a:rPr lang="en-US" sz="1400" dirty="0">
                  <a:solidFill>
                    <a:srgbClr val="0070C0"/>
                  </a:solidFill>
                </a:rPr>
                <a:t>Proximity</a:t>
              </a:r>
              <a:endParaRPr lang="en-QA" sz="1400" dirty="0">
                <a:solidFill>
                  <a:srgbClr val="0070C0"/>
                </a:solidFill>
              </a:endParaRPr>
            </a:p>
          </p:txBody>
        </p:sp>
        <p:cxnSp>
          <p:nvCxnSpPr>
            <p:cNvPr id="33" name="Straight Arrow Connector 32">
              <a:extLst>
                <a:ext uri="{FF2B5EF4-FFF2-40B4-BE49-F238E27FC236}">
                  <a16:creationId xmlns:a16="http://schemas.microsoft.com/office/drawing/2014/main" id="{B24D5557-78D8-F2AA-64F2-BBA8E15762A5}"/>
                </a:ext>
              </a:extLst>
            </p:cNvPr>
            <p:cNvCxnSpPr>
              <a:cxnSpLocks/>
            </p:cNvCxnSpPr>
            <p:nvPr/>
          </p:nvCxnSpPr>
          <p:spPr>
            <a:xfrm flipH="1" flipV="1">
              <a:off x="7998133" y="4329020"/>
              <a:ext cx="812124" cy="2480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44" name="Group 43">
            <a:extLst>
              <a:ext uri="{FF2B5EF4-FFF2-40B4-BE49-F238E27FC236}">
                <a16:creationId xmlns:a16="http://schemas.microsoft.com/office/drawing/2014/main" id="{E604AFE1-7E68-EA01-F21C-11C0275EB44D}"/>
              </a:ext>
            </a:extLst>
          </p:cNvPr>
          <p:cNvGrpSpPr/>
          <p:nvPr/>
        </p:nvGrpSpPr>
        <p:grpSpPr>
          <a:xfrm>
            <a:off x="5319584" y="3392557"/>
            <a:ext cx="2640323" cy="659839"/>
            <a:chOff x="5319584" y="3392557"/>
            <a:chExt cx="2640323" cy="659839"/>
          </a:xfrm>
        </p:grpSpPr>
        <p:sp>
          <p:nvSpPr>
            <p:cNvPr id="39" name="Right Brace 38">
              <a:extLst>
                <a:ext uri="{FF2B5EF4-FFF2-40B4-BE49-F238E27FC236}">
                  <a16:creationId xmlns:a16="http://schemas.microsoft.com/office/drawing/2014/main" id="{39597D1A-3049-E16A-A440-B4850BDF4B87}"/>
                </a:ext>
              </a:extLst>
            </p:cNvPr>
            <p:cNvSpPr/>
            <p:nvPr/>
          </p:nvSpPr>
          <p:spPr>
            <a:xfrm rot="16200000">
              <a:off x="6470971" y="2563459"/>
              <a:ext cx="337550" cy="264032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QA"/>
            </a:p>
          </p:txBody>
        </p:sp>
        <p:sp>
          <p:nvSpPr>
            <p:cNvPr id="41" name="TextBox 40">
              <a:extLst>
                <a:ext uri="{FF2B5EF4-FFF2-40B4-BE49-F238E27FC236}">
                  <a16:creationId xmlns:a16="http://schemas.microsoft.com/office/drawing/2014/main" id="{EC15DCA0-63B3-1624-D43B-EF2D93964D33}"/>
                </a:ext>
              </a:extLst>
            </p:cNvPr>
            <p:cNvSpPr txBox="1"/>
            <p:nvPr/>
          </p:nvSpPr>
          <p:spPr>
            <a:xfrm>
              <a:off x="5431008" y="3392557"/>
              <a:ext cx="2390940" cy="307777"/>
            </a:xfrm>
            <a:prstGeom prst="rect">
              <a:avLst/>
            </a:prstGeom>
            <a:noFill/>
          </p:spPr>
          <p:txBody>
            <a:bodyPr wrap="square">
              <a:spAutoFit/>
            </a:bodyPr>
            <a:lstStyle/>
            <a:p>
              <a:pPr algn="ctr"/>
              <a:r>
                <a:rPr lang="en-US" sz="1400" dirty="0">
                  <a:solidFill>
                    <a:srgbClr val="0070C0"/>
                  </a:solidFill>
                </a:rPr>
                <a:t>Good approximation</a:t>
              </a:r>
              <a:endParaRPr lang="en-QA" sz="1400" dirty="0">
                <a:solidFill>
                  <a:srgbClr val="0070C0"/>
                </a:solidFill>
              </a:endParaRPr>
            </a:p>
          </p:txBody>
        </p:sp>
      </p:grpSp>
      <p:grpSp>
        <p:nvGrpSpPr>
          <p:cNvPr id="43" name="Group 42">
            <a:extLst>
              <a:ext uri="{FF2B5EF4-FFF2-40B4-BE49-F238E27FC236}">
                <a16:creationId xmlns:a16="http://schemas.microsoft.com/office/drawing/2014/main" id="{B781E5A3-6132-5DE1-1B98-8F3C84ED2616}"/>
              </a:ext>
            </a:extLst>
          </p:cNvPr>
          <p:cNvGrpSpPr/>
          <p:nvPr/>
        </p:nvGrpSpPr>
        <p:grpSpPr>
          <a:xfrm>
            <a:off x="7591260" y="3433834"/>
            <a:ext cx="2390940" cy="682775"/>
            <a:chOff x="7591260" y="3433834"/>
            <a:chExt cx="2390940" cy="682775"/>
          </a:xfrm>
        </p:grpSpPr>
        <p:sp>
          <p:nvSpPr>
            <p:cNvPr id="40" name="Right Brace 39">
              <a:extLst>
                <a:ext uri="{FF2B5EF4-FFF2-40B4-BE49-F238E27FC236}">
                  <a16:creationId xmlns:a16="http://schemas.microsoft.com/office/drawing/2014/main" id="{1CB47FA5-95F7-BF9C-B170-E0F880D204B5}"/>
                </a:ext>
              </a:extLst>
            </p:cNvPr>
            <p:cNvSpPr/>
            <p:nvPr/>
          </p:nvSpPr>
          <p:spPr>
            <a:xfrm rot="16200000">
              <a:off x="8481774" y="3541772"/>
              <a:ext cx="337549" cy="812125"/>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QA" dirty="0"/>
            </a:p>
          </p:txBody>
        </p:sp>
        <p:sp>
          <p:nvSpPr>
            <p:cNvPr id="42" name="TextBox 41">
              <a:extLst>
                <a:ext uri="{FF2B5EF4-FFF2-40B4-BE49-F238E27FC236}">
                  <a16:creationId xmlns:a16="http://schemas.microsoft.com/office/drawing/2014/main" id="{0A47B4BC-A35E-E306-701F-B1920251F4F9}"/>
                </a:ext>
              </a:extLst>
            </p:cNvPr>
            <p:cNvSpPr txBox="1"/>
            <p:nvPr/>
          </p:nvSpPr>
          <p:spPr>
            <a:xfrm>
              <a:off x="7591260" y="3433834"/>
              <a:ext cx="2390940" cy="307777"/>
            </a:xfrm>
            <a:prstGeom prst="rect">
              <a:avLst/>
            </a:prstGeom>
            <a:noFill/>
          </p:spPr>
          <p:txBody>
            <a:bodyPr wrap="square">
              <a:spAutoFit/>
            </a:bodyPr>
            <a:lstStyle/>
            <a:p>
              <a:pPr algn="ctr"/>
              <a:r>
                <a:rPr lang="en-US" sz="1400" dirty="0">
                  <a:solidFill>
                    <a:srgbClr val="0070C0"/>
                  </a:solidFill>
                </a:rPr>
                <a:t>Stay simple</a:t>
              </a:r>
              <a:endParaRPr lang="en-QA" sz="1400" dirty="0">
                <a:solidFill>
                  <a:srgbClr val="0070C0"/>
                </a:solidFill>
              </a:endParaRPr>
            </a:p>
          </p:txBody>
        </p:sp>
      </p:grpSp>
    </p:spTree>
    <p:extLst>
      <p:ext uri="{BB962C8B-B14F-4D97-AF65-F5344CB8AC3E}">
        <p14:creationId xmlns:p14="http://schemas.microsoft.com/office/powerpoint/2010/main" val="50641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48916-B10F-7F68-6E61-8B424A5A7742}"/>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C0938DA-1AB1-B317-645D-4747334EB732}"/>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553E5E72-61B2-7AF4-BD83-7BFA1695DDE7}"/>
              </a:ext>
            </a:extLst>
          </p:cNvPr>
          <p:cNvSpPr>
            <a:spLocks noGrp="1"/>
          </p:cNvSpPr>
          <p:nvPr>
            <p:ph type="sldNum" sz="quarter" idx="12"/>
          </p:nvPr>
        </p:nvSpPr>
        <p:spPr/>
        <p:txBody>
          <a:bodyPr/>
          <a:lstStyle/>
          <a:p>
            <a:fld id="{EB60BC02-D374-C843-982C-996C93B0F0E6}" type="slidenum">
              <a:rPr lang="en-QA" smtClean="0"/>
              <a:t>19</a:t>
            </a:fld>
            <a:endParaRPr lang="en-QA"/>
          </a:p>
        </p:txBody>
      </p:sp>
      <p:sp>
        <p:nvSpPr>
          <p:cNvPr id="6" name="Title 1">
            <a:extLst>
              <a:ext uri="{FF2B5EF4-FFF2-40B4-BE49-F238E27FC236}">
                <a16:creationId xmlns:a16="http://schemas.microsoft.com/office/drawing/2014/main" id="{BC252A4B-E5E5-8FAE-CE3A-0B9C9F197036}"/>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Example: LIME on a credit scoring model</a:t>
            </a:r>
          </a:p>
        </p:txBody>
      </p:sp>
      <p:sp>
        <p:nvSpPr>
          <p:cNvPr id="7" name="TextBox 6">
            <a:extLst>
              <a:ext uri="{FF2B5EF4-FFF2-40B4-BE49-F238E27FC236}">
                <a16:creationId xmlns:a16="http://schemas.microsoft.com/office/drawing/2014/main" id="{3F4E8038-3BC8-452E-0A8E-B454F1120660}"/>
              </a:ext>
            </a:extLst>
          </p:cNvPr>
          <p:cNvSpPr txBox="1"/>
          <p:nvPr/>
        </p:nvSpPr>
        <p:spPr>
          <a:xfrm>
            <a:off x="248864" y="2875242"/>
            <a:ext cx="10446846" cy="584775"/>
          </a:xfrm>
          <a:prstGeom prst="rect">
            <a:avLst/>
          </a:prstGeom>
          <a:noFill/>
        </p:spPr>
        <p:txBody>
          <a:bodyPr wrap="square">
            <a:spAutoFit/>
          </a:bodyPr>
          <a:lstStyle/>
          <a:p>
            <a:pPr marL="342900" indent="-342900">
              <a:buFont typeface="+mj-lt"/>
              <a:buAutoNum type="arabicPeriod"/>
            </a:pPr>
            <a:r>
              <a:rPr lang="en-US" sz="1600" dirty="0">
                <a:latin typeface="+mj-lt"/>
              </a:rPr>
              <a:t>LIME will </a:t>
            </a:r>
            <a:r>
              <a:rPr lang="en-US" sz="1600" b="1" dirty="0">
                <a:latin typeface="+mj-lt"/>
              </a:rPr>
              <a:t>perturb</a:t>
            </a:r>
            <a:r>
              <a:rPr lang="en-US" sz="1600" dirty="0">
                <a:latin typeface="+mj-lt"/>
              </a:rPr>
              <a:t> these features (e.g., changing income to $55,000 or debt ratio to 30%) to generate nearby instances. The modifications introduce small random changes in the input while keeping it in the same neighborhood.</a:t>
            </a:r>
          </a:p>
        </p:txBody>
      </p:sp>
      <p:sp>
        <p:nvSpPr>
          <p:cNvPr id="19" name="TextBox 18">
            <a:extLst>
              <a:ext uri="{FF2B5EF4-FFF2-40B4-BE49-F238E27FC236}">
                <a16:creationId xmlns:a16="http://schemas.microsoft.com/office/drawing/2014/main" id="{356D1959-4B78-78B2-FFDB-F15A98F05C8F}"/>
              </a:ext>
            </a:extLst>
          </p:cNvPr>
          <p:cNvSpPr txBox="1"/>
          <p:nvPr/>
        </p:nvSpPr>
        <p:spPr>
          <a:xfrm>
            <a:off x="252478" y="5123651"/>
            <a:ext cx="10443231" cy="584775"/>
          </a:xfrm>
          <a:prstGeom prst="rect">
            <a:avLst/>
          </a:prstGeom>
          <a:noFill/>
        </p:spPr>
        <p:txBody>
          <a:bodyPr wrap="square">
            <a:spAutoFit/>
          </a:bodyPr>
          <a:lstStyle/>
          <a:p>
            <a:pPr marL="342900" indent="-342900">
              <a:buFont typeface="+mj-lt"/>
              <a:buAutoNum type="arabicPeriod" startAt="4"/>
            </a:pPr>
            <a:r>
              <a:rPr lang="en-US" sz="1600" dirty="0">
                <a:latin typeface="+mj-lt"/>
              </a:rPr>
              <a:t>Interpret the Model Explanation; The linear model coefficients represent feature importance, helping explain the original prediction.</a:t>
            </a:r>
          </a:p>
        </p:txBody>
      </p:sp>
      <p:grpSp>
        <p:nvGrpSpPr>
          <p:cNvPr id="50" name="Group 49">
            <a:extLst>
              <a:ext uri="{FF2B5EF4-FFF2-40B4-BE49-F238E27FC236}">
                <a16:creationId xmlns:a16="http://schemas.microsoft.com/office/drawing/2014/main" id="{FADB6548-40E7-F5B0-ABAE-3C4D881F114E}"/>
              </a:ext>
            </a:extLst>
          </p:cNvPr>
          <p:cNvGrpSpPr/>
          <p:nvPr/>
        </p:nvGrpSpPr>
        <p:grpSpPr>
          <a:xfrm>
            <a:off x="7368104" y="1651293"/>
            <a:ext cx="3001813" cy="1144299"/>
            <a:chOff x="7368104" y="1651293"/>
            <a:chExt cx="3001813" cy="1144299"/>
          </a:xfrm>
        </p:grpSpPr>
        <p:grpSp>
          <p:nvGrpSpPr>
            <p:cNvPr id="45" name="Group 44">
              <a:extLst>
                <a:ext uri="{FF2B5EF4-FFF2-40B4-BE49-F238E27FC236}">
                  <a16:creationId xmlns:a16="http://schemas.microsoft.com/office/drawing/2014/main" id="{3CB5D479-BD8D-D450-F9E9-592489583D80}"/>
                </a:ext>
              </a:extLst>
            </p:cNvPr>
            <p:cNvGrpSpPr/>
            <p:nvPr/>
          </p:nvGrpSpPr>
          <p:grpSpPr>
            <a:xfrm>
              <a:off x="7368104" y="1651293"/>
              <a:ext cx="3001813" cy="981182"/>
              <a:chOff x="6999767" y="1402765"/>
              <a:chExt cx="3001813" cy="981182"/>
            </a:xfrm>
          </p:grpSpPr>
          <p:pic>
            <p:nvPicPr>
              <p:cNvPr id="28" name="Graphic 27" descr="Male profile with solid fill">
                <a:extLst>
                  <a:ext uri="{FF2B5EF4-FFF2-40B4-BE49-F238E27FC236}">
                    <a16:creationId xmlns:a16="http://schemas.microsoft.com/office/drawing/2014/main" id="{1C5AFD5A-453C-64B9-BAD4-5496629446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9767" y="1402765"/>
                <a:ext cx="914400" cy="914400"/>
              </a:xfrm>
              <a:prstGeom prst="rect">
                <a:avLst/>
              </a:prstGeom>
            </p:spPr>
          </p:pic>
          <p:sp>
            <p:nvSpPr>
              <p:cNvPr id="31" name="TextBox 30">
                <a:extLst>
                  <a:ext uri="{FF2B5EF4-FFF2-40B4-BE49-F238E27FC236}">
                    <a16:creationId xmlns:a16="http://schemas.microsoft.com/office/drawing/2014/main" id="{B7636FDE-5E78-0342-9A10-FB3AE72DEC17}"/>
                  </a:ext>
                </a:extLst>
              </p:cNvPr>
              <p:cNvSpPr txBox="1"/>
              <p:nvPr/>
            </p:nvSpPr>
            <p:spPr>
              <a:xfrm>
                <a:off x="7937253" y="1491032"/>
                <a:ext cx="1981200" cy="307777"/>
              </a:xfrm>
              <a:prstGeom prst="rect">
                <a:avLst/>
              </a:prstGeom>
              <a:noFill/>
            </p:spPr>
            <p:txBody>
              <a:bodyPr wrap="square">
                <a:spAutoFit/>
              </a:bodyPr>
              <a:lstStyle/>
              <a:p>
                <a:r>
                  <a:rPr lang="en-US" sz="1400" dirty="0">
                    <a:latin typeface="+mj-lt"/>
                  </a:rPr>
                  <a:t>Income = $50,000</a:t>
                </a:r>
                <a:endParaRPr lang="en-QA" sz="1400" dirty="0"/>
              </a:p>
            </p:txBody>
          </p:sp>
          <p:sp>
            <p:nvSpPr>
              <p:cNvPr id="35" name="TextBox 34">
                <a:extLst>
                  <a:ext uri="{FF2B5EF4-FFF2-40B4-BE49-F238E27FC236}">
                    <a16:creationId xmlns:a16="http://schemas.microsoft.com/office/drawing/2014/main" id="{034E22BF-3184-428E-1A52-9E0638A1CEE9}"/>
                  </a:ext>
                </a:extLst>
              </p:cNvPr>
              <p:cNvSpPr txBox="1"/>
              <p:nvPr/>
            </p:nvSpPr>
            <p:spPr>
              <a:xfrm>
                <a:off x="7937253" y="1785584"/>
                <a:ext cx="2064327" cy="307777"/>
              </a:xfrm>
              <a:prstGeom prst="rect">
                <a:avLst/>
              </a:prstGeom>
              <a:noFill/>
            </p:spPr>
            <p:txBody>
              <a:bodyPr wrap="square">
                <a:spAutoFit/>
              </a:bodyPr>
              <a:lstStyle/>
              <a:p>
                <a:r>
                  <a:rPr lang="en-US" sz="1400" dirty="0">
                    <a:latin typeface="+mj-lt"/>
                  </a:rPr>
                  <a:t>Credit Score = 720</a:t>
                </a:r>
              </a:p>
            </p:txBody>
          </p:sp>
          <p:sp>
            <p:nvSpPr>
              <p:cNvPr id="44" name="TextBox 43">
                <a:extLst>
                  <a:ext uri="{FF2B5EF4-FFF2-40B4-BE49-F238E27FC236}">
                    <a16:creationId xmlns:a16="http://schemas.microsoft.com/office/drawing/2014/main" id="{59D2087E-C8BF-50EF-984C-21482C112ADA}"/>
                  </a:ext>
                </a:extLst>
              </p:cNvPr>
              <p:cNvSpPr txBox="1"/>
              <p:nvPr/>
            </p:nvSpPr>
            <p:spPr>
              <a:xfrm>
                <a:off x="7941877" y="2076170"/>
                <a:ext cx="1676400" cy="307777"/>
              </a:xfrm>
              <a:prstGeom prst="rect">
                <a:avLst/>
              </a:prstGeom>
              <a:noFill/>
            </p:spPr>
            <p:txBody>
              <a:bodyPr wrap="square">
                <a:spAutoFit/>
              </a:bodyPr>
              <a:lstStyle/>
              <a:p>
                <a:r>
                  <a:rPr lang="en-US" sz="1400" dirty="0">
                    <a:latin typeface="+mj-lt"/>
                  </a:rPr>
                  <a:t>Debt Ratio = 35%</a:t>
                </a:r>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B78EECB-AF40-650D-B957-4F3416F9BE6F}"/>
                    </a:ext>
                  </a:extLst>
                </p:cNvPr>
                <p:cNvSpPr txBox="1"/>
                <p:nvPr/>
              </p:nvSpPr>
              <p:spPr>
                <a:xfrm>
                  <a:off x="7714791" y="2518593"/>
                  <a:ext cx="2356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QA" dirty="0"/>
                </a:p>
              </p:txBody>
            </p:sp>
          </mc:Choice>
          <mc:Fallback xmlns="">
            <p:sp>
              <p:nvSpPr>
                <p:cNvPr id="47" name="TextBox 46">
                  <a:extLst>
                    <a:ext uri="{FF2B5EF4-FFF2-40B4-BE49-F238E27FC236}">
                      <a16:creationId xmlns:a16="http://schemas.microsoft.com/office/drawing/2014/main" id="{4B78EECB-AF40-650D-B957-4F3416F9BE6F}"/>
                    </a:ext>
                  </a:extLst>
                </p:cNvPr>
                <p:cNvSpPr txBox="1">
                  <a:spLocks noRot="1" noChangeAspect="1" noMove="1" noResize="1" noEditPoints="1" noAdjustHandles="1" noChangeArrowheads="1" noChangeShapeType="1" noTextEdit="1"/>
                </p:cNvSpPr>
                <p:nvPr/>
              </p:nvSpPr>
              <p:spPr>
                <a:xfrm>
                  <a:off x="7714791" y="2518593"/>
                  <a:ext cx="235642" cy="276999"/>
                </a:xfrm>
                <a:prstGeom prst="rect">
                  <a:avLst/>
                </a:prstGeom>
                <a:blipFill>
                  <a:blip r:embed="rId5"/>
                  <a:stretch>
                    <a:fillRect l="-26316" t="-4348" r="-31579" b="-8696"/>
                  </a:stretch>
                </a:blipFill>
              </p:spPr>
              <p:txBody>
                <a:bodyPr/>
                <a:lstStyle/>
                <a:p>
                  <a:r>
                    <a:rPr lang="en-QA">
                      <a:noFill/>
                    </a:rPr>
                    <a:t> </a:t>
                  </a:r>
                </a:p>
              </p:txBody>
            </p:sp>
          </mc:Fallback>
        </mc:AlternateContent>
      </p:gr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5664C06F-09AD-E5F2-9ACF-06E4FCD51716}"/>
                  </a:ext>
                </a:extLst>
              </p:cNvPr>
              <p:cNvSpPr txBox="1"/>
              <p:nvPr/>
            </p:nvSpPr>
            <p:spPr>
              <a:xfrm>
                <a:off x="248863" y="3677827"/>
                <a:ext cx="10037927" cy="338554"/>
              </a:xfrm>
              <a:prstGeom prst="rect">
                <a:avLst/>
              </a:prstGeom>
              <a:noFill/>
            </p:spPr>
            <p:txBody>
              <a:bodyPr wrap="square">
                <a:spAutoFit/>
              </a:bodyPr>
              <a:lstStyle/>
              <a:p>
                <a:pPr marL="342900" indent="-342900">
                  <a:buFont typeface="+mj-lt"/>
                  <a:buAutoNum type="arabicPeriod" startAt="2"/>
                </a:pPr>
                <a:r>
                  <a:rPr lang="en-US" sz="1600" dirty="0">
                    <a:latin typeface="+mj-lt"/>
                  </a:rPr>
                  <a:t>Then it gets model predictions on Perturbed Samples; The complex model predicts outputs for each sample </a:t>
                </a:r>
                <a14:m>
                  <m:oMath xmlns:m="http://schemas.openxmlformats.org/officeDocument/2006/math">
                    <m:r>
                      <a:rPr lang="en-US" sz="1600" b="0" i="1" smtClean="0">
                        <a:latin typeface="Cambria Math" panose="02040503050406030204" pitchFamily="18" charset="0"/>
                      </a:rPr>
                      <m:t>𝑓</m:t>
                    </m:r>
                    <m:d>
                      <m:dPr>
                        <m:ctrlPr>
                          <a:rPr lang="en-US" sz="1600" b="0" i="1" smtClean="0">
                            <a:latin typeface="Cambria Math" panose="02040503050406030204" pitchFamily="18" charset="0"/>
                          </a:rPr>
                        </m:ctrlPr>
                      </m:dPr>
                      <m:e>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𝑋</m:t>
                            </m:r>
                          </m:e>
                          <m:sup>
                            <m:r>
                              <a:rPr lang="en-US" sz="1600" b="0" i="1" smtClean="0">
                                <a:latin typeface="Cambria Math" panose="02040503050406030204" pitchFamily="18" charset="0"/>
                              </a:rPr>
                              <m:t>′</m:t>
                            </m:r>
                          </m:sup>
                        </m:sSup>
                      </m:e>
                    </m:d>
                    <m:r>
                      <a:rPr lang="en-US" sz="1600" b="0" i="0" smtClean="0">
                        <a:latin typeface="Cambria Math" panose="02040503050406030204" pitchFamily="18" charset="0"/>
                      </a:rPr>
                      <m:t>.</m:t>
                    </m:r>
                  </m:oMath>
                </a14:m>
                <a:endParaRPr lang="en-US" sz="1600" dirty="0">
                  <a:latin typeface="+mj-lt"/>
                </a:endParaRPr>
              </a:p>
            </p:txBody>
          </p:sp>
        </mc:Choice>
        <mc:Fallback xmlns="">
          <p:sp>
            <p:nvSpPr>
              <p:cNvPr id="52" name="TextBox 51">
                <a:extLst>
                  <a:ext uri="{FF2B5EF4-FFF2-40B4-BE49-F238E27FC236}">
                    <a16:creationId xmlns:a16="http://schemas.microsoft.com/office/drawing/2014/main" id="{5664C06F-09AD-E5F2-9ACF-06E4FCD51716}"/>
                  </a:ext>
                </a:extLst>
              </p:cNvPr>
              <p:cNvSpPr txBox="1">
                <a:spLocks noRot="1" noChangeAspect="1" noMove="1" noResize="1" noEditPoints="1" noAdjustHandles="1" noChangeArrowheads="1" noChangeShapeType="1" noTextEdit="1"/>
              </p:cNvSpPr>
              <p:nvPr/>
            </p:nvSpPr>
            <p:spPr>
              <a:xfrm>
                <a:off x="248863" y="3677827"/>
                <a:ext cx="10037927" cy="338554"/>
              </a:xfrm>
              <a:prstGeom prst="rect">
                <a:avLst/>
              </a:prstGeom>
              <a:blipFill>
                <a:blip r:embed="rId7"/>
                <a:stretch>
                  <a:fillRect l="-379" t="-3571" b="-21429"/>
                </a:stretch>
              </a:blipFill>
            </p:spPr>
            <p:txBody>
              <a:bodyPr/>
              <a:lstStyle/>
              <a:p>
                <a:r>
                  <a:rPr lang="en-QA">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E9FD62CF-CFCD-F8A1-0A97-7AC97D322271}"/>
                  </a:ext>
                </a:extLst>
              </p:cNvPr>
              <p:cNvSpPr txBox="1"/>
              <p:nvPr/>
            </p:nvSpPr>
            <p:spPr>
              <a:xfrm>
                <a:off x="248863" y="4287922"/>
                <a:ext cx="10132200" cy="584775"/>
              </a:xfrm>
              <a:prstGeom prst="rect">
                <a:avLst/>
              </a:prstGeom>
              <a:noFill/>
            </p:spPr>
            <p:txBody>
              <a:bodyPr wrap="square">
                <a:spAutoFit/>
              </a:bodyPr>
              <a:lstStyle/>
              <a:p>
                <a:pPr marL="342900" indent="-342900">
                  <a:buFont typeface="+mj-lt"/>
                  <a:buAutoNum type="arabicPeriod" startAt="3"/>
                </a:pPr>
                <a:r>
                  <a:rPr lang="en-US" sz="1600" dirty="0">
                    <a:latin typeface="+mj-lt"/>
                  </a:rPr>
                  <a:t>Fit a Simple, Interpretable Model (e.g., Linear Regression); Fit a weighted linear model </a:t>
                </a:r>
                <a14:m>
                  <m:oMath xmlns:m="http://schemas.openxmlformats.org/officeDocument/2006/math">
                    <m:r>
                      <a:rPr lang="en-US" sz="1600" b="0" i="1" smtClean="0">
                        <a:latin typeface="Cambria Math" panose="02040503050406030204" pitchFamily="18" charset="0"/>
                      </a:rPr>
                      <m:t>𝑔</m:t>
                    </m:r>
                  </m:oMath>
                </a14:m>
                <a:r>
                  <a:rPr lang="en-US" sz="1600" dirty="0">
                    <a:latin typeface="+mj-lt"/>
                  </a:rPr>
                  <a:t>  to approximate the black-box model</a:t>
                </a:r>
                <a14:m>
                  <m:oMath xmlns:m="http://schemas.openxmlformats.org/officeDocument/2006/math">
                    <m:r>
                      <a:rPr lang="en-US" sz="1600" b="0" i="0" smtClean="0">
                        <a:latin typeface="Cambria Math" panose="02040503050406030204" pitchFamily="18" charset="0"/>
                      </a:rPr>
                      <m:t>  </m:t>
                    </m:r>
                    <m:r>
                      <a:rPr lang="en-US" sz="1600" b="0" i="1" smtClean="0">
                        <a:latin typeface="Cambria Math" panose="02040503050406030204" pitchFamily="18" charset="0"/>
                      </a:rPr>
                      <m:t>𝑓</m:t>
                    </m:r>
                  </m:oMath>
                </a14:m>
                <a:r>
                  <a:rPr lang="en-US" sz="1600" dirty="0">
                    <a:latin typeface="+mj-lt"/>
                  </a:rPr>
                  <a:t>  in the neighborhood of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oMath>
                </a14:m>
                <a:r>
                  <a:rPr lang="en-US" sz="1600" dirty="0">
                    <a:latin typeface="+mj-lt"/>
                  </a:rPr>
                  <a:t> . Assign higher weights to samples closer to </a:t>
                </a:r>
                <a14:m>
                  <m:oMath xmlns:m="http://schemas.openxmlformats.org/officeDocument/2006/math">
                    <m:r>
                      <a:rPr lang="en-US" sz="1600" b="0" i="1" smtClean="0">
                        <a:latin typeface="Cambria Math" panose="02040503050406030204" pitchFamily="18" charset="0"/>
                      </a:rPr>
                      <m:t>𝑥</m:t>
                    </m:r>
                    <m:r>
                      <a:rPr lang="en-US" sz="1600" b="0" i="1" smtClean="0">
                        <a:latin typeface="Cambria Math" panose="02040503050406030204" pitchFamily="18" charset="0"/>
                      </a:rPr>
                      <m:t>′</m:t>
                    </m:r>
                  </m:oMath>
                </a14:m>
                <a:r>
                  <a:rPr lang="en-US" sz="1600" b="1" dirty="0">
                    <a:latin typeface="+mj-lt"/>
                  </a:rPr>
                  <a:t>.</a:t>
                </a:r>
                <a:endParaRPr lang="en-US" sz="1600" dirty="0">
                  <a:latin typeface="+mj-lt"/>
                </a:endParaRPr>
              </a:p>
            </p:txBody>
          </p:sp>
        </mc:Choice>
        <mc:Fallback xmlns="">
          <p:sp>
            <p:nvSpPr>
              <p:cNvPr id="55" name="TextBox 54">
                <a:extLst>
                  <a:ext uri="{FF2B5EF4-FFF2-40B4-BE49-F238E27FC236}">
                    <a16:creationId xmlns:a16="http://schemas.microsoft.com/office/drawing/2014/main" id="{E9FD62CF-CFCD-F8A1-0A97-7AC97D322271}"/>
                  </a:ext>
                </a:extLst>
              </p:cNvPr>
              <p:cNvSpPr txBox="1">
                <a:spLocks noRot="1" noChangeAspect="1" noMove="1" noResize="1" noEditPoints="1" noAdjustHandles="1" noChangeArrowheads="1" noChangeShapeType="1" noTextEdit="1"/>
              </p:cNvSpPr>
              <p:nvPr/>
            </p:nvSpPr>
            <p:spPr>
              <a:xfrm>
                <a:off x="248863" y="4287922"/>
                <a:ext cx="10132200" cy="584775"/>
              </a:xfrm>
              <a:prstGeom prst="rect">
                <a:avLst/>
              </a:prstGeom>
              <a:blipFill>
                <a:blip r:embed="rId8"/>
                <a:stretch>
                  <a:fillRect l="-375" t="-2128" b="-10638"/>
                </a:stretch>
              </a:blipFill>
            </p:spPr>
            <p:txBody>
              <a:bodyPr/>
              <a:lstStyle/>
              <a:p>
                <a:r>
                  <a:rPr lang="en-QA">
                    <a:noFill/>
                  </a:rPr>
                  <a:t> </a:t>
                </a:r>
              </a:p>
            </p:txBody>
          </p:sp>
        </mc:Fallback>
      </mc:AlternateContent>
      <p:sp>
        <p:nvSpPr>
          <p:cNvPr id="8" name="TextBox 7">
            <a:extLst>
              <a:ext uri="{FF2B5EF4-FFF2-40B4-BE49-F238E27FC236}">
                <a16:creationId xmlns:a16="http://schemas.microsoft.com/office/drawing/2014/main" id="{8511058E-7D42-9C07-814E-59F0EFC76D3F}"/>
              </a:ext>
            </a:extLst>
          </p:cNvPr>
          <p:cNvSpPr txBox="1"/>
          <p:nvPr/>
        </p:nvSpPr>
        <p:spPr>
          <a:xfrm>
            <a:off x="647412" y="2162469"/>
            <a:ext cx="6609438" cy="338554"/>
          </a:xfrm>
          <a:prstGeom prst="rect">
            <a:avLst/>
          </a:prstGeom>
          <a:noFill/>
        </p:spPr>
        <p:txBody>
          <a:bodyPr wrap="square">
            <a:spAutoFit/>
          </a:bodyPr>
          <a:lstStyle/>
          <a:p>
            <a:r>
              <a:rPr lang="en-US" sz="1600" dirty="0">
                <a:highlight>
                  <a:srgbClr val="FFFF00"/>
                </a:highlight>
                <a:latin typeface="+mj-lt"/>
              </a:rPr>
              <a:t>Consider an AI model predicting </a:t>
            </a:r>
            <a:r>
              <a:rPr lang="en-US" sz="1600" b="1" dirty="0">
                <a:highlight>
                  <a:srgbClr val="FFFF00"/>
                </a:highlight>
                <a:latin typeface="+mj-lt"/>
              </a:rPr>
              <a:t>whether a loan application will be approved</a:t>
            </a:r>
            <a:r>
              <a:rPr lang="en-US" sz="1600" dirty="0">
                <a:highlight>
                  <a:srgbClr val="FFFF00"/>
                </a:highlight>
                <a:latin typeface="+mj-lt"/>
              </a:rPr>
              <a:t>.</a:t>
            </a:r>
          </a:p>
        </p:txBody>
      </p:sp>
    </p:spTree>
    <p:extLst>
      <p:ext uri="{BB962C8B-B14F-4D97-AF65-F5344CB8AC3E}">
        <p14:creationId xmlns:p14="http://schemas.microsoft.com/office/powerpoint/2010/main" val="180525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9" grpId="0"/>
      <p:bldP spid="52" grpId="0"/>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3AEEB-3E65-7750-1E5D-F1D208B7B99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7277966-547E-3FBA-6F6B-418097E5AC84}"/>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3966CB81-7BE6-41DB-4ECB-DE3E1569B8AF}"/>
              </a:ext>
            </a:extLst>
          </p:cNvPr>
          <p:cNvSpPr>
            <a:spLocks noGrp="1"/>
          </p:cNvSpPr>
          <p:nvPr>
            <p:ph type="sldNum" sz="quarter" idx="12"/>
          </p:nvPr>
        </p:nvSpPr>
        <p:spPr/>
        <p:txBody>
          <a:bodyPr/>
          <a:lstStyle/>
          <a:p>
            <a:fld id="{EB60BC02-D374-C843-982C-996C93B0F0E6}" type="slidenum">
              <a:rPr lang="en-QA" smtClean="0"/>
              <a:t>20</a:t>
            </a:fld>
            <a:endParaRPr lang="en-QA"/>
          </a:p>
        </p:txBody>
      </p:sp>
      <p:sp>
        <p:nvSpPr>
          <p:cNvPr id="6" name="Title 1">
            <a:extLst>
              <a:ext uri="{FF2B5EF4-FFF2-40B4-BE49-F238E27FC236}">
                <a16:creationId xmlns:a16="http://schemas.microsoft.com/office/drawing/2014/main" id="{156A85E1-7755-6E15-02B6-4BBAC6781950}"/>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Example: LIME on a credit scoring model</a:t>
            </a:r>
          </a:p>
        </p:txBody>
      </p:sp>
      <p:grpSp>
        <p:nvGrpSpPr>
          <p:cNvPr id="50" name="Group 49">
            <a:extLst>
              <a:ext uri="{FF2B5EF4-FFF2-40B4-BE49-F238E27FC236}">
                <a16:creationId xmlns:a16="http://schemas.microsoft.com/office/drawing/2014/main" id="{D8882016-6BB6-DC06-B76F-D395B5684793}"/>
              </a:ext>
            </a:extLst>
          </p:cNvPr>
          <p:cNvGrpSpPr/>
          <p:nvPr/>
        </p:nvGrpSpPr>
        <p:grpSpPr>
          <a:xfrm>
            <a:off x="7368104" y="1651293"/>
            <a:ext cx="3001813" cy="1144299"/>
            <a:chOff x="7368104" y="1651293"/>
            <a:chExt cx="3001813" cy="1144299"/>
          </a:xfrm>
        </p:grpSpPr>
        <p:grpSp>
          <p:nvGrpSpPr>
            <p:cNvPr id="45" name="Group 44">
              <a:extLst>
                <a:ext uri="{FF2B5EF4-FFF2-40B4-BE49-F238E27FC236}">
                  <a16:creationId xmlns:a16="http://schemas.microsoft.com/office/drawing/2014/main" id="{B52F1574-4E3A-CE3C-9FF0-E094C86958A2}"/>
                </a:ext>
              </a:extLst>
            </p:cNvPr>
            <p:cNvGrpSpPr/>
            <p:nvPr/>
          </p:nvGrpSpPr>
          <p:grpSpPr>
            <a:xfrm>
              <a:off x="7368104" y="1651293"/>
              <a:ext cx="3001813" cy="981182"/>
              <a:chOff x="6999767" y="1402765"/>
              <a:chExt cx="3001813" cy="981182"/>
            </a:xfrm>
          </p:grpSpPr>
          <p:pic>
            <p:nvPicPr>
              <p:cNvPr id="28" name="Graphic 27" descr="Male profile with solid fill">
                <a:extLst>
                  <a:ext uri="{FF2B5EF4-FFF2-40B4-BE49-F238E27FC236}">
                    <a16:creationId xmlns:a16="http://schemas.microsoft.com/office/drawing/2014/main" id="{C5A0A40C-D311-70D7-3503-72324A4D38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9767" y="1402765"/>
                <a:ext cx="914400" cy="914400"/>
              </a:xfrm>
              <a:prstGeom prst="rect">
                <a:avLst/>
              </a:prstGeom>
            </p:spPr>
          </p:pic>
          <p:sp>
            <p:nvSpPr>
              <p:cNvPr id="31" name="TextBox 30">
                <a:extLst>
                  <a:ext uri="{FF2B5EF4-FFF2-40B4-BE49-F238E27FC236}">
                    <a16:creationId xmlns:a16="http://schemas.microsoft.com/office/drawing/2014/main" id="{22D1FAB5-C6DD-0B4F-D6F6-BAB7929F8C05}"/>
                  </a:ext>
                </a:extLst>
              </p:cNvPr>
              <p:cNvSpPr txBox="1"/>
              <p:nvPr/>
            </p:nvSpPr>
            <p:spPr>
              <a:xfrm>
                <a:off x="7937253" y="1491032"/>
                <a:ext cx="1981200" cy="307777"/>
              </a:xfrm>
              <a:prstGeom prst="rect">
                <a:avLst/>
              </a:prstGeom>
              <a:noFill/>
            </p:spPr>
            <p:txBody>
              <a:bodyPr wrap="square">
                <a:spAutoFit/>
              </a:bodyPr>
              <a:lstStyle/>
              <a:p>
                <a:r>
                  <a:rPr lang="en-US" sz="1400" dirty="0">
                    <a:latin typeface="+mj-lt"/>
                  </a:rPr>
                  <a:t>Income = $50,000</a:t>
                </a:r>
                <a:endParaRPr lang="en-QA" sz="1400" dirty="0"/>
              </a:p>
            </p:txBody>
          </p:sp>
          <p:sp>
            <p:nvSpPr>
              <p:cNvPr id="35" name="TextBox 34">
                <a:extLst>
                  <a:ext uri="{FF2B5EF4-FFF2-40B4-BE49-F238E27FC236}">
                    <a16:creationId xmlns:a16="http://schemas.microsoft.com/office/drawing/2014/main" id="{292C3936-E3B0-17F7-5F3D-7E148F1E6CB0}"/>
                  </a:ext>
                </a:extLst>
              </p:cNvPr>
              <p:cNvSpPr txBox="1"/>
              <p:nvPr/>
            </p:nvSpPr>
            <p:spPr>
              <a:xfrm>
                <a:off x="7937253" y="1785584"/>
                <a:ext cx="2064327" cy="307777"/>
              </a:xfrm>
              <a:prstGeom prst="rect">
                <a:avLst/>
              </a:prstGeom>
              <a:noFill/>
            </p:spPr>
            <p:txBody>
              <a:bodyPr wrap="square">
                <a:spAutoFit/>
              </a:bodyPr>
              <a:lstStyle/>
              <a:p>
                <a:r>
                  <a:rPr lang="en-US" sz="1400" dirty="0">
                    <a:latin typeface="+mj-lt"/>
                  </a:rPr>
                  <a:t>Credit Score = 720</a:t>
                </a:r>
              </a:p>
            </p:txBody>
          </p:sp>
          <p:sp>
            <p:nvSpPr>
              <p:cNvPr id="44" name="TextBox 43">
                <a:extLst>
                  <a:ext uri="{FF2B5EF4-FFF2-40B4-BE49-F238E27FC236}">
                    <a16:creationId xmlns:a16="http://schemas.microsoft.com/office/drawing/2014/main" id="{ADFD04BC-1DB0-0B2B-066E-8ACA3C180857}"/>
                  </a:ext>
                </a:extLst>
              </p:cNvPr>
              <p:cNvSpPr txBox="1"/>
              <p:nvPr/>
            </p:nvSpPr>
            <p:spPr>
              <a:xfrm>
                <a:off x="7941877" y="2076170"/>
                <a:ext cx="1676400" cy="307777"/>
              </a:xfrm>
              <a:prstGeom prst="rect">
                <a:avLst/>
              </a:prstGeom>
              <a:noFill/>
            </p:spPr>
            <p:txBody>
              <a:bodyPr wrap="square">
                <a:spAutoFit/>
              </a:bodyPr>
              <a:lstStyle/>
              <a:p>
                <a:r>
                  <a:rPr lang="en-US" sz="1400" dirty="0">
                    <a:latin typeface="+mj-lt"/>
                  </a:rPr>
                  <a:t>Debt Ratio = 35%</a:t>
                </a:r>
              </a:p>
            </p:txBody>
          </p: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A1600C6-B5E5-1951-DB0A-3FD116196E5E}"/>
                    </a:ext>
                  </a:extLst>
                </p:cNvPr>
                <p:cNvSpPr txBox="1"/>
                <p:nvPr/>
              </p:nvSpPr>
              <p:spPr>
                <a:xfrm>
                  <a:off x="7714791" y="2518593"/>
                  <a:ext cx="23564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oMath>
                    </m:oMathPara>
                  </a14:m>
                  <a:endParaRPr lang="en-QA" dirty="0"/>
                </a:p>
              </p:txBody>
            </p:sp>
          </mc:Choice>
          <mc:Fallback xmlns="">
            <p:sp>
              <p:nvSpPr>
                <p:cNvPr id="47" name="TextBox 46">
                  <a:extLst>
                    <a:ext uri="{FF2B5EF4-FFF2-40B4-BE49-F238E27FC236}">
                      <a16:creationId xmlns:a16="http://schemas.microsoft.com/office/drawing/2014/main" id="{0A1600C6-B5E5-1951-DB0A-3FD116196E5E}"/>
                    </a:ext>
                  </a:extLst>
                </p:cNvPr>
                <p:cNvSpPr txBox="1">
                  <a:spLocks noRot="1" noChangeAspect="1" noMove="1" noResize="1" noEditPoints="1" noAdjustHandles="1" noChangeArrowheads="1" noChangeShapeType="1" noTextEdit="1"/>
                </p:cNvSpPr>
                <p:nvPr/>
              </p:nvSpPr>
              <p:spPr>
                <a:xfrm>
                  <a:off x="7714791" y="2518593"/>
                  <a:ext cx="235642" cy="276999"/>
                </a:xfrm>
                <a:prstGeom prst="rect">
                  <a:avLst/>
                </a:prstGeom>
                <a:blipFill>
                  <a:blip r:embed="rId5"/>
                  <a:stretch>
                    <a:fillRect l="-26316" t="-4348" r="-31579" b="-8696"/>
                  </a:stretch>
                </a:blipFill>
              </p:spPr>
              <p:txBody>
                <a:bodyPr/>
                <a:lstStyle/>
                <a:p>
                  <a:r>
                    <a:rPr lang="en-QA">
                      <a:noFill/>
                    </a:rPr>
                    <a:t> </a:t>
                  </a:r>
                </a:p>
              </p:txBody>
            </p:sp>
          </mc:Fallback>
        </mc:AlternateContent>
      </p:grpSp>
      <p:sp>
        <p:nvSpPr>
          <p:cNvPr id="2" name="TextBox 1">
            <a:extLst>
              <a:ext uri="{FF2B5EF4-FFF2-40B4-BE49-F238E27FC236}">
                <a16:creationId xmlns:a16="http://schemas.microsoft.com/office/drawing/2014/main" id="{DA55FF1B-F368-F447-F3AA-160BECD3AA43}"/>
              </a:ext>
            </a:extLst>
          </p:cNvPr>
          <p:cNvSpPr txBox="1"/>
          <p:nvPr/>
        </p:nvSpPr>
        <p:spPr>
          <a:xfrm>
            <a:off x="690887" y="2621408"/>
            <a:ext cx="2523251" cy="338554"/>
          </a:xfrm>
          <a:prstGeom prst="rect">
            <a:avLst/>
          </a:prstGeom>
          <a:noFill/>
        </p:spPr>
        <p:txBody>
          <a:bodyPr wrap="square">
            <a:spAutoFit/>
          </a:bodyPr>
          <a:lstStyle/>
          <a:p>
            <a:r>
              <a:rPr lang="en-US" sz="1600" dirty="0">
                <a:latin typeface="+mj-lt"/>
              </a:rPr>
              <a:t>LIME Explanation Output: </a:t>
            </a:r>
          </a:p>
        </p:txBody>
      </p:sp>
      <p:graphicFrame>
        <p:nvGraphicFramePr>
          <p:cNvPr id="3" name="Table 2">
            <a:extLst>
              <a:ext uri="{FF2B5EF4-FFF2-40B4-BE49-F238E27FC236}">
                <a16:creationId xmlns:a16="http://schemas.microsoft.com/office/drawing/2014/main" id="{65C11D9C-7630-909F-B58C-1629283EEA4F}"/>
              </a:ext>
            </a:extLst>
          </p:cNvPr>
          <p:cNvGraphicFramePr>
            <a:graphicFrameLocks noGrp="1"/>
          </p:cNvGraphicFramePr>
          <p:nvPr>
            <p:extLst>
              <p:ext uri="{D42A27DB-BD31-4B8C-83A1-F6EECF244321}">
                <p14:modId xmlns:p14="http://schemas.microsoft.com/office/powerpoint/2010/main" val="3227749452"/>
              </p:ext>
            </p:extLst>
          </p:nvPr>
        </p:nvGraphicFramePr>
        <p:xfrm>
          <a:off x="684770" y="3020188"/>
          <a:ext cx="5418666" cy="2012609"/>
        </p:xfrm>
        <a:graphic>
          <a:graphicData uri="http://schemas.openxmlformats.org/drawingml/2006/table">
            <a:tbl>
              <a:tblPr firstRow="1" bandRow="1">
                <a:tableStyleId>{00A15C55-8517-42AA-B614-E9B94910E393}</a:tableStyleId>
              </a:tblPr>
              <a:tblGrid>
                <a:gridCol w="2635347">
                  <a:extLst>
                    <a:ext uri="{9D8B030D-6E8A-4147-A177-3AD203B41FA5}">
                      <a16:colId xmlns:a16="http://schemas.microsoft.com/office/drawing/2014/main" val="2459202118"/>
                    </a:ext>
                  </a:extLst>
                </a:gridCol>
                <a:gridCol w="2783319">
                  <a:extLst>
                    <a:ext uri="{9D8B030D-6E8A-4147-A177-3AD203B41FA5}">
                      <a16:colId xmlns:a16="http://schemas.microsoft.com/office/drawing/2014/main" val="365583081"/>
                    </a:ext>
                  </a:extLst>
                </a:gridCol>
              </a:tblGrid>
              <a:tr h="435301">
                <a:tc>
                  <a:txBody>
                    <a:bodyPr/>
                    <a:lstStyle/>
                    <a:p>
                      <a:r>
                        <a:rPr lang="en-US" dirty="0"/>
                        <a:t>Feature</a:t>
                      </a:r>
                      <a:endParaRPr lang="en-QA" dirty="0">
                        <a:latin typeface="+mj-lt"/>
                      </a:endParaRPr>
                    </a:p>
                  </a:txBody>
                  <a:tcPr/>
                </a:tc>
                <a:tc>
                  <a:txBody>
                    <a:bodyPr/>
                    <a:lstStyle/>
                    <a:p>
                      <a:r>
                        <a:rPr lang="en-US" dirty="0"/>
                        <a:t>Explainability</a:t>
                      </a:r>
                      <a:endParaRPr lang="en-QA" dirty="0">
                        <a:latin typeface="+mj-lt"/>
                      </a:endParaRPr>
                    </a:p>
                  </a:txBody>
                  <a:tcPr/>
                </a:tc>
                <a:extLst>
                  <a:ext uri="{0D108BD9-81ED-4DB2-BD59-A6C34878D82A}">
                    <a16:rowId xmlns:a16="http://schemas.microsoft.com/office/drawing/2014/main" val="166145455"/>
                  </a:ext>
                </a:extLst>
              </a:tr>
              <a:tr h="541885">
                <a:tc>
                  <a:txBody>
                    <a:bodyPr/>
                    <a:lstStyle/>
                    <a:p>
                      <a:r>
                        <a:rPr lang="en-US" dirty="0"/>
                        <a:t>Credit Score</a:t>
                      </a:r>
                      <a:endParaRPr lang="en-US" b="1" dirty="0">
                        <a:latin typeface="+mj-lt"/>
                      </a:endParaRPr>
                    </a:p>
                  </a:txBody>
                  <a:tcPr anchor="ctr"/>
                </a:tc>
                <a:tc>
                  <a:txBody>
                    <a:bodyPr/>
                    <a:lstStyle/>
                    <a:p>
                      <a:r>
                        <a:rPr lang="en-US" sz="1600" dirty="0"/>
                        <a:t>+ 0.3 (high impact)</a:t>
                      </a:r>
                      <a:endParaRPr lang="en-US" sz="1600" dirty="0">
                        <a:latin typeface="+mj-lt"/>
                      </a:endParaRPr>
                    </a:p>
                  </a:txBody>
                  <a:tcPr anchor="ctr"/>
                </a:tc>
                <a:extLst>
                  <a:ext uri="{0D108BD9-81ED-4DB2-BD59-A6C34878D82A}">
                    <a16:rowId xmlns:a16="http://schemas.microsoft.com/office/drawing/2014/main" val="164930562"/>
                  </a:ext>
                </a:extLst>
              </a:tr>
              <a:tr h="535913">
                <a:tc>
                  <a:txBody>
                    <a:bodyPr/>
                    <a:lstStyle/>
                    <a:p>
                      <a:r>
                        <a:rPr lang="en-US" dirty="0"/>
                        <a:t>Income</a:t>
                      </a:r>
                      <a:endParaRPr lang="en-QA" b="1" dirty="0">
                        <a:latin typeface="+mj-lt"/>
                      </a:endParaRPr>
                    </a:p>
                  </a:txBody>
                  <a:tcPr/>
                </a:tc>
                <a:tc>
                  <a:txBody>
                    <a:bodyPr/>
                    <a:lstStyle/>
                    <a:p>
                      <a:r>
                        <a:rPr lang="en-US" sz="1600" dirty="0"/>
                        <a:t>+ 0.2 (moderate impact)</a:t>
                      </a:r>
                      <a:endParaRPr lang="en-QA" sz="1600" dirty="0">
                        <a:latin typeface="+mj-lt"/>
                      </a:endParaRPr>
                    </a:p>
                  </a:txBody>
                  <a:tcPr/>
                </a:tc>
                <a:extLst>
                  <a:ext uri="{0D108BD9-81ED-4DB2-BD59-A6C34878D82A}">
                    <a16:rowId xmlns:a16="http://schemas.microsoft.com/office/drawing/2014/main" val="604497564"/>
                  </a:ext>
                </a:extLst>
              </a:tr>
              <a:tr h="499510">
                <a:tc>
                  <a:txBody>
                    <a:bodyPr/>
                    <a:lstStyle/>
                    <a:p>
                      <a:r>
                        <a:rPr lang="en-US" dirty="0"/>
                        <a:t>Debt Ratio</a:t>
                      </a:r>
                      <a:endParaRPr lang="en-QA" b="1" dirty="0">
                        <a:latin typeface="+mj-lt"/>
                      </a:endParaRPr>
                    </a:p>
                  </a:txBody>
                  <a:tcPr/>
                </a:tc>
                <a:tc>
                  <a:txBody>
                    <a:bodyPr/>
                    <a:lstStyle/>
                    <a:p>
                      <a:r>
                        <a:rPr lang="en-US" sz="1600" dirty="0"/>
                        <a:t>- 0.5 (strong negative impact)</a:t>
                      </a:r>
                      <a:endParaRPr lang="en-QA" sz="1600" dirty="0">
                        <a:latin typeface="+mj-lt"/>
                      </a:endParaRPr>
                    </a:p>
                  </a:txBody>
                  <a:tcPr/>
                </a:tc>
                <a:extLst>
                  <a:ext uri="{0D108BD9-81ED-4DB2-BD59-A6C34878D82A}">
                    <a16:rowId xmlns:a16="http://schemas.microsoft.com/office/drawing/2014/main" val="3316806149"/>
                  </a:ext>
                </a:extLst>
              </a:tr>
            </a:tbl>
          </a:graphicData>
        </a:graphic>
      </p:graphicFrame>
      <p:sp>
        <p:nvSpPr>
          <p:cNvPr id="8" name="TextBox 7">
            <a:extLst>
              <a:ext uri="{FF2B5EF4-FFF2-40B4-BE49-F238E27FC236}">
                <a16:creationId xmlns:a16="http://schemas.microsoft.com/office/drawing/2014/main" id="{48592B54-87FE-68D5-CC76-53FD983586F3}"/>
              </a:ext>
            </a:extLst>
          </p:cNvPr>
          <p:cNvSpPr txBox="1"/>
          <p:nvPr/>
        </p:nvSpPr>
        <p:spPr>
          <a:xfrm>
            <a:off x="663294" y="5356019"/>
            <a:ext cx="9395106" cy="338554"/>
          </a:xfrm>
          <a:prstGeom prst="rect">
            <a:avLst/>
          </a:prstGeom>
          <a:noFill/>
        </p:spPr>
        <p:txBody>
          <a:bodyPr wrap="square">
            <a:spAutoFit/>
          </a:bodyPr>
          <a:lstStyle/>
          <a:p>
            <a:r>
              <a:rPr lang="en-US" sz="1600" dirty="0">
                <a:latin typeface="+mj-lt"/>
              </a:rPr>
              <a:t>LIME reveals that a lower debt ratio would increase approval chances, providing a counterfactual explanation.</a:t>
            </a:r>
          </a:p>
        </p:txBody>
      </p:sp>
      <p:sp>
        <p:nvSpPr>
          <p:cNvPr id="9" name="TextBox 8">
            <a:extLst>
              <a:ext uri="{FF2B5EF4-FFF2-40B4-BE49-F238E27FC236}">
                <a16:creationId xmlns:a16="http://schemas.microsoft.com/office/drawing/2014/main" id="{A8ECE50F-721C-1ACA-DB7A-A243F4E58528}"/>
              </a:ext>
            </a:extLst>
          </p:cNvPr>
          <p:cNvSpPr txBox="1"/>
          <p:nvPr/>
        </p:nvSpPr>
        <p:spPr>
          <a:xfrm>
            <a:off x="647412" y="2162469"/>
            <a:ext cx="6609438" cy="338554"/>
          </a:xfrm>
          <a:prstGeom prst="rect">
            <a:avLst/>
          </a:prstGeom>
          <a:noFill/>
        </p:spPr>
        <p:txBody>
          <a:bodyPr wrap="square">
            <a:spAutoFit/>
          </a:bodyPr>
          <a:lstStyle/>
          <a:p>
            <a:r>
              <a:rPr lang="en-US" sz="1600" dirty="0">
                <a:highlight>
                  <a:srgbClr val="FFFF00"/>
                </a:highlight>
                <a:latin typeface="+mj-lt"/>
              </a:rPr>
              <a:t>Consider an AI model predicting </a:t>
            </a:r>
            <a:r>
              <a:rPr lang="en-US" sz="1600" b="1" dirty="0">
                <a:highlight>
                  <a:srgbClr val="FFFF00"/>
                </a:highlight>
                <a:latin typeface="+mj-lt"/>
              </a:rPr>
              <a:t>whether a loan application will be approved</a:t>
            </a:r>
            <a:r>
              <a:rPr lang="en-US" sz="1600" dirty="0">
                <a:highlight>
                  <a:srgbClr val="FFFF00"/>
                </a:highlight>
                <a:latin typeface="+mj-lt"/>
              </a:rPr>
              <a:t>.</a:t>
            </a:r>
          </a:p>
        </p:txBody>
      </p:sp>
      <p:sp>
        <p:nvSpPr>
          <p:cNvPr id="11" name="TextBox 10">
            <a:extLst>
              <a:ext uri="{FF2B5EF4-FFF2-40B4-BE49-F238E27FC236}">
                <a16:creationId xmlns:a16="http://schemas.microsoft.com/office/drawing/2014/main" id="{82EC5AE9-2686-96C3-FBD5-3D9256B89509}"/>
              </a:ext>
            </a:extLst>
          </p:cNvPr>
          <p:cNvSpPr txBox="1"/>
          <p:nvPr/>
        </p:nvSpPr>
        <p:spPr>
          <a:xfrm>
            <a:off x="684769" y="5710019"/>
            <a:ext cx="8006843" cy="338554"/>
          </a:xfrm>
          <a:prstGeom prst="rect">
            <a:avLst/>
          </a:prstGeom>
          <a:noFill/>
        </p:spPr>
        <p:txBody>
          <a:bodyPr wrap="square">
            <a:spAutoFit/>
          </a:bodyPr>
          <a:lstStyle/>
          <a:p>
            <a:r>
              <a:rPr lang="en-US" sz="1600" dirty="0"/>
              <a:t>(If the applicant reduced their debt ratio, their chances of loan approval would increase)</a:t>
            </a:r>
          </a:p>
        </p:txBody>
      </p:sp>
    </p:spTree>
    <p:extLst>
      <p:ext uri="{BB962C8B-B14F-4D97-AF65-F5344CB8AC3E}">
        <p14:creationId xmlns:p14="http://schemas.microsoft.com/office/powerpoint/2010/main" val="354697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DCC5-9FA9-E2DC-AE26-AFC71AA32ED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8598B51C-383C-AB8D-FC5F-18A74092B757}"/>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A6DB186C-7CA1-0754-1350-D48C388DC09F}"/>
              </a:ext>
            </a:extLst>
          </p:cNvPr>
          <p:cNvSpPr>
            <a:spLocks noGrp="1"/>
          </p:cNvSpPr>
          <p:nvPr>
            <p:ph type="sldNum" sz="quarter" idx="12"/>
          </p:nvPr>
        </p:nvSpPr>
        <p:spPr/>
        <p:txBody>
          <a:bodyPr/>
          <a:lstStyle/>
          <a:p>
            <a:fld id="{EB60BC02-D374-C843-982C-996C93B0F0E6}" type="slidenum">
              <a:rPr lang="en-QA" smtClean="0"/>
              <a:t>21</a:t>
            </a:fld>
            <a:endParaRPr lang="en-QA"/>
          </a:p>
        </p:txBody>
      </p:sp>
      <p:sp>
        <p:nvSpPr>
          <p:cNvPr id="6" name="Title 1">
            <a:extLst>
              <a:ext uri="{FF2B5EF4-FFF2-40B4-BE49-F238E27FC236}">
                <a16:creationId xmlns:a16="http://schemas.microsoft.com/office/drawing/2014/main" id="{64202D95-7A72-49AE-BB0D-456B2318967C}"/>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SHAP (</a:t>
            </a:r>
            <a:r>
              <a:rPr lang="en-US" sz="3200" b="1" dirty="0" err="1">
                <a:latin typeface="+mj-lt"/>
              </a:rPr>
              <a:t>SHapley</a:t>
            </a:r>
            <a:r>
              <a:rPr lang="en-US" sz="3200" b="1" dirty="0">
                <a:latin typeface="+mj-lt"/>
              </a:rPr>
              <a:t> Additive Explanations)</a:t>
            </a:r>
            <a:endParaRPr lang="en-QA" sz="3200" dirty="0">
              <a:latin typeface="+mj-lt"/>
            </a:endParaRPr>
          </a:p>
        </p:txBody>
      </p:sp>
      <p:sp>
        <p:nvSpPr>
          <p:cNvPr id="3" name="TextBox 2">
            <a:extLst>
              <a:ext uri="{FF2B5EF4-FFF2-40B4-BE49-F238E27FC236}">
                <a16:creationId xmlns:a16="http://schemas.microsoft.com/office/drawing/2014/main" id="{7188093F-4F3F-FDFC-C46C-AB140D09EA2B}"/>
              </a:ext>
            </a:extLst>
          </p:cNvPr>
          <p:cNvSpPr txBox="1"/>
          <p:nvPr/>
        </p:nvSpPr>
        <p:spPr>
          <a:xfrm>
            <a:off x="684769" y="1856804"/>
            <a:ext cx="10028184"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Is a game-theoretic approach to explain the output of machine learning models. </a:t>
            </a:r>
            <a:endParaRPr lang="en-QA" dirty="0">
              <a:latin typeface="+mj-lt"/>
            </a:endParaRPr>
          </a:p>
        </p:txBody>
      </p:sp>
      <p:sp>
        <p:nvSpPr>
          <p:cNvPr id="8" name="TextBox 7">
            <a:extLst>
              <a:ext uri="{FF2B5EF4-FFF2-40B4-BE49-F238E27FC236}">
                <a16:creationId xmlns:a16="http://schemas.microsoft.com/office/drawing/2014/main" id="{033ED74E-4963-DAC9-080B-61CCBE2C45B6}"/>
              </a:ext>
            </a:extLst>
          </p:cNvPr>
          <p:cNvSpPr txBox="1"/>
          <p:nvPr/>
        </p:nvSpPr>
        <p:spPr>
          <a:xfrm>
            <a:off x="684769" y="2923435"/>
            <a:ext cx="10028184"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It assigns a contribution score to each feature, indicating how much that feature influenced the model's prediction for a given instance.</a:t>
            </a:r>
            <a:endParaRPr lang="en-QA" dirty="0">
              <a:latin typeface="+mj-lt"/>
            </a:endParaRPr>
          </a:p>
        </p:txBody>
      </p:sp>
      <p:sp>
        <p:nvSpPr>
          <p:cNvPr id="9" name="TextBox 8">
            <a:extLst>
              <a:ext uri="{FF2B5EF4-FFF2-40B4-BE49-F238E27FC236}">
                <a16:creationId xmlns:a16="http://schemas.microsoft.com/office/drawing/2014/main" id="{0997EA58-481B-FE0C-163F-3E03CEC8040F}"/>
              </a:ext>
            </a:extLst>
          </p:cNvPr>
          <p:cNvSpPr txBox="1"/>
          <p:nvPr/>
        </p:nvSpPr>
        <p:spPr>
          <a:xfrm>
            <a:off x="684769" y="4402783"/>
            <a:ext cx="3028249"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Shapely value formula</a:t>
            </a:r>
            <a:endParaRPr lang="en-QA" dirty="0">
              <a:latin typeface="+mj-lt"/>
            </a:endParaRPr>
          </a:p>
        </p:txBody>
      </p:sp>
      <p:pic>
        <p:nvPicPr>
          <p:cNvPr id="12" name="Picture 11" descr="A math equation with numbers and symbols&#10;&#10;AI-generated content may be incorrect.">
            <a:extLst>
              <a:ext uri="{FF2B5EF4-FFF2-40B4-BE49-F238E27FC236}">
                <a16:creationId xmlns:a16="http://schemas.microsoft.com/office/drawing/2014/main" id="{1FE68DCC-9B65-7AE9-6991-813C2F37E73C}"/>
              </a:ext>
            </a:extLst>
          </p:cNvPr>
          <p:cNvPicPr>
            <a:picLocks noChangeAspect="1"/>
          </p:cNvPicPr>
          <p:nvPr/>
        </p:nvPicPr>
        <p:blipFill>
          <a:blip r:embed="rId3"/>
          <a:stretch>
            <a:fillRect/>
          </a:stretch>
        </p:blipFill>
        <p:spPr>
          <a:xfrm>
            <a:off x="3653620" y="4292238"/>
            <a:ext cx="6224671" cy="949053"/>
          </a:xfrm>
          <a:prstGeom prst="rect">
            <a:avLst/>
          </a:prstGeom>
        </p:spPr>
      </p:pic>
      <p:grpSp>
        <p:nvGrpSpPr>
          <p:cNvPr id="13" name="Group 12">
            <a:extLst>
              <a:ext uri="{FF2B5EF4-FFF2-40B4-BE49-F238E27FC236}">
                <a16:creationId xmlns:a16="http://schemas.microsoft.com/office/drawing/2014/main" id="{CEAD6408-4EC7-45BC-C51B-6F45FDB1E48B}"/>
              </a:ext>
            </a:extLst>
          </p:cNvPr>
          <p:cNvGrpSpPr/>
          <p:nvPr/>
        </p:nvGrpSpPr>
        <p:grpSpPr>
          <a:xfrm>
            <a:off x="4176115" y="5064211"/>
            <a:ext cx="2390940" cy="657712"/>
            <a:chOff x="4038600" y="4577074"/>
            <a:chExt cx="2390940" cy="657712"/>
          </a:xfrm>
        </p:grpSpPr>
        <p:cxnSp>
          <p:nvCxnSpPr>
            <p:cNvPr id="14" name="Straight Arrow Connector 13">
              <a:extLst>
                <a:ext uri="{FF2B5EF4-FFF2-40B4-BE49-F238E27FC236}">
                  <a16:creationId xmlns:a16="http://schemas.microsoft.com/office/drawing/2014/main" id="{EE1F32D7-90F8-B43E-B1E0-2605CE4C7C6C}"/>
                </a:ext>
              </a:extLst>
            </p:cNvPr>
            <p:cNvCxnSpPr>
              <a:cxnSpLocks/>
            </p:cNvCxnSpPr>
            <p:nvPr/>
          </p:nvCxnSpPr>
          <p:spPr>
            <a:xfrm flipV="1">
              <a:off x="5514699" y="4577074"/>
              <a:ext cx="581301" cy="426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1A5BCC1-775B-6DB4-4C49-D9336C966C47}"/>
                </a:ext>
              </a:extLst>
            </p:cNvPr>
            <p:cNvSpPr txBox="1"/>
            <p:nvPr/>
          </p:nvSpPr>
          <p:spPr>
            <a:xfrm>
              <a:off x="4038600" y="4927009"/>
              <a:ext cx="2390940" cy="307777"/>
            </a:xfrm>
            <a:prstGeom prst="rect">
              <a:avLst/>
            </a:prstGeom>
            <a:noFill/>
          </p:spPr>
          <p:txBody>
            <a:bodyPr wrap="square">
              <a:spAutoFit/>
            </a:bodyPr>
            <a:lstStyle/>
            <a:p>
              <a:pPr algn="ctr"/>
              <a:r>
                <a:rPr lang="en-US" sz="1400" dirty="0">
                  <a:solidFill>
                    <a:srgbClr val="0070C0"/>
                  </a:solidFill>
                </a:rPr>
                <a:t>Full set of features</a:t>
              </a:r>
              <a:endParaRPr lang="en-QA" sz="1400" dirty="0">
                <a:solidFill>
                  <a:srgbClr val="0070C0"/>
                </a:solidFill>
              </a:endParaRPr>
            </a:p>
          </p:txBody>
        </p:sp>
      </p:grpSp>
      <p:grpSp>
        <p:nvGrpSpPr>
          <p:cNvPr id="18" name="Group 17">
            <a:extLst>
              <a:ext uri="{FF2B5EF4-FFF2-40B4-BE49-F238E27FC236}">
                <a16:creationId xmlns:a16="http://schemas.microsoft.com/office/drawing/2014/main" id="{E73B819C-23BB-9C90-0880-C7F3116D4AA3}"/>
              </a:ext>
            </a:extLst>
          </p:cNvPr>
          <p:cNvGrpSpPr/>
          <p:nvPr/>
        </p:nvGrpSpPr>
        <p:grpSpPr>
          <a:xfrm>
            <a:off x="1798291" y="4855068"/>
            <a:ext cx="2390940" cy="873155"/>
            <a:chOff x="4038600" y="4577074"/>
            <a:chExt cx="2390940" cy="873155"/>
          </a:xfrm>
        </p:grpSpPr>
        <p:cxnSp>
          <p:nvCxnSpPr>
            <p:cNvPr id="19" name="Straight Arrow Connector 18">
              <a:extLst>
                <a:ext uri="{FF2B5EF4-FFF2-40B4-BE49-F238E27FC236}">
                  <a16:creationId xmlns:a16="http://schemas.microsoft.com/office/drawing/2014/main" id="{57D95923-1F2E-C06F-A1DD-ACC66BA0107D}"/>
                </a:ext>
              </a:extLst>
            </p:cNvPr>
            <p:cNvCxnSpPr>
              <a:cxnSpLocks/>
            </p:cNvCxnSpPr>
            <p:nvPr/>
          </p:nvCxnSpPr>
          <p:spPr>
            <a:xfrm flipV="1">
              <a:off x="5514699" y="4577074"/>
              <a:ext cx="581301" cy="4268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3A8711D-9D65-1908-6A4B-9D7ADA902BE1}"/>
                    </a:ext>
                  </a:extLst>
                </p:cNvPr>
                <p:cNvSpPr txBox="1"/>
                <p:nvPr/>
              </p:nvSpPr>
              <p:spPr>
                <a:xfrm>
                  <a:off x="4038600" y="4927009"/>
                  <a:ext cx="2390940" cy="523220"/>
                </a:xfrm>
                <a:prstGeom prst="rect">
                  <a:avLst/>
                </a:prstGeom>
                <a:noFill/>
              </p:spPr>
              <p:txBody>
                <a:bodyPr wrap="square">
                  <a:spAutoFit/>
                </a:bodyPr>
                <a:lstStyle/>
                <a:p>
                  <a:pPr algn="ctr"/>
                  <a:r>
                    <a:rPr lang="en-US" sz="1400" dirty="0">
                      <a:solidFill>
                        <a:srgbClr val="0070C0"/>
                      </a:solidFill>
                    </a:rPr>
                    <a:t>Shapely value (importance score) for feature </a:t>
                  </a:r>
                  <a14:m>
                    <m:oMath xmlns:m="http://schemas.openxmlformats.org/officeDocument/2006/math">
                      <m:r>
                        <a:rPr lang="en-US" sz="1400" b="0" i="1" smtClean="0">
                          <a:solidFill>
                            <a:srgbClr val="0070C0"/>
                          </a:solidFill>
                          <a:latin typeface="Cambria Math" panose="02040503050406030204" pitchFamily="18" charset="0"/>
                        </a:rPr>
                        <m:t>𝑖</m:t>
                      </m:r>
                    </m:oMath>
                  </a14:m>
                  <a:endParaRPr lang="en-QA" sz="1400" dirty="0">
                    <a:solidFill>
                      <a:srgbClr val="0070C0"/>
                    </a:solidFill>
                  </a:endParaRPr>
                </a:p>
              </p:txBody>
            </p:sp>
          </mc:Choice>
          <mc:Fallback xmlns="">
            <p:sp>
              <p:nvSpPr>
                <p:cNvPr id="20" name="TextBox 19">
                  <a:extLst>
                    <a:ext uri="{FF2B5EF4-FFF2-40B4-BE49-F238E27FC236}">
                      <a16:creationId xmlns:a16="http://schemas.microsoft.com/office/drawing/2014/main" id="{03A8711D-9D65-1908-6A4B-9D7ADA902BE1}"/>
                    </a:ext>
                  </a:extLst>
                </p:cNvPr>
                <p:cNvSpPr txBox="1">
                  <a:spLocks noRot="1" noChangeAspect="1" noMove="1" noResize="1" noEditPoints="1" noAdjustHandles="1" noChangeArrowheads="1" noChangeShapeType="1" noTextEdit="1"/>
                </p:cNvSpPr>
                <p:nvPr/>
              </p:nvSpPr>
              <p:spPr>
                <a:xfrm>
                  <a:off x="4038600" y="4927009"/>
                  <a:ext cx="2390940" cy="523220"/>
                </a:xfrm>
                <a:prstGeom prst="rect">
                  <a:avLst/>
                </a:prstGeom>
                <a:blipFill>
                  <a:blip r:embed="rId4"/>
                  <a:stretch>
                    <a:fillRect t="-2326" b="-11628"/>
                  </a:stretch>
                </a:blipFill>
              </p:spPr>
              <p:txBody>
                <a:bodyPr/>
                <a:lstStyle/>
                <a:p>
                  <a:r>
                    <a:rPr lang="en-QA">
                      <a:noFill/>
                    </a:rPr>
                    <a:t> </a:t>
                  </a:r>
                </a:p>
              </p:txBody>
            </p:sp>
          </mc:Fallback>
        </mc:AlternateContent>
      </p:grpSp>
      <p:grpSp>
        <p:nvGrpSpPr>
          <p:cNvPr id="23" name="Group 22">
            <a:extLst>
              <a:ext uri="{FF2B5EF4-FFF2-40B4-BE49-F238E27FC236}">
                <a16:creationId xmlns:a16="http://schemas.microsoft.com/office/drawing/2014/main" id="{C86A2395-151C-304F-9083-1D794458D1EE}"/>
              </a:ext>
            </a:extLst>
          </p:cNvPr>
          <p:cNvGrpSpPr/>
          <p:nvPr/>
        </p:nvGrpSpPr>
        <p:grpSpPr>
          <a:xfrm>
            <a:off x="6458651" y="4855068"/>
            <a:ext cx="2390940" cy="873155"/>
            <a:chOff x="3352285" y="4548141"/>
            <a:chExt cx="2390940" cy="873155"/>
          </a:xfrm>
        </p:grpSpPr>
        <p:cxnSp>
          <p:nvCxnSpPr>
            <p:cNvPr id="24" name="Straight Arrow Connector 23">
              <a:extLst>
                <a:ext uri="{FF2B5EF4-FFF2-40B4-BE49-F238E27FC236}">
                  <a16:creationId xmlns:a16="http://schemas.microsoft.com/office/drawing/2014/main" id="{205B38BA-AFB4-2A2E-D112-CE24623A1226}"/>
                </a:ext>
              </a:extLst>
            </p:cNvPr>
            <p:cNvCxnSpPr>
              <a:cxnSpLocks/>
            </p:cNvCxnSpPr>
            <p:nvPr/>
          </p:nvCxnSpPr>
          <p:spPr>
            <a:xfrm flipV="1">
              <a:off x="4510095" y="4548141"/>
              <a:ext cx="257157" cy="3862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F7EC277-D7A9-CE6D-E9F3-F0ACDAAF641D}"/>
                    </a:ext>
                  </a:extLst>
                </p:cNvPr>
                <p:cNvSpPr txBox="1"/>
                <p:nvPr/>
              </p:nvSpPr>
              <p:spPr>
                <a:xfrm>
                  <a:off x="3352285" y="4898076"/>
                  <a:ext cx="2390940" cy="523220"/>
                </a:xfrm>
                <a:prstGeom prst="rect">
                  <a:avLst/>
                </a:prstGeom>
                <a:noFill/>
              </p:spPr>
              <p:txBody>
                <a:bodyPr wrap="square">
                  <a:spAutoFit/>
                </a:bodyPr>
                <a:lstStyle/>
                <a:p>
                  <a:pPr algn="ctr"/>
                  <a:r>
                    <a:rPr lang="en-US" sz="1400" dirty="0">
                      <a:solidFill>
                        <a:srgbClr val="0070C0"/>
                      </a:solidFill>
                    </a:rPr>
                    <a:t>Subset of features that does not include feature </a:t>
                  </a:r>
                  <a14:m>
                    <m:oMath xmlns:m="http://schemas.openxmlformats.org/officeDocument/2006/math">
                      <m:r>
                        <a:rPr lang="en-US" sz="1400" b="0" i="1" smtClean="0">
                          <a:solidFill>
                            <a:srgbClr val="0070C0"/>
                          </a:solidFill>
                          <a:latin typeface="Cambria Math" panose="02040503050406030204" pitchFamily="18" charset="0"/>
                        </a:rPr>
                        <m:t>𝑖</m:t>
                      </m:r>
                    </m:oMath>
                  </a14:m>
                  <a:endParaRPr lang="en-QA" sz="1400" dirty="0">
                    <a:solidFill>
                      <a:srgbClr val="0070C0"/>
                    </a:solidFill>
                  </a:endParaRPr>
                </a:p>
              </p:txBody>
            </p:sp>
          </mc:Choice>
          <mc:Fallback xmlns="">
            <p:sp>
              <p:nvSpPr>
                <p:cNvPr id="25" name="TextBox 24">
                  <a:extLst>
                    <a:ext uri="{FF2B5EF4-FFF2-40B4-BE49-F238E27FC236}">
                      <a16:creationId xmlns:a16="http://schemas.microsoft.com/office/drawing/2014/main" id="{5F7EC277-D7A9-CE6D-E9F3-F0ACDAAF641D}"/>
                    </a:ext>
                  </a:extLst>
                </p:cNvPr>
                <p:cNvSpPr txBox="1">
                  <a:spLocks noRot="1" noChangeAspect="1" noMove="1" noResize="1" noEditPoints="1" noAdjustHandles="1" noChangeArrowheads="1" noChangeShapeType="1" noTextEdit="1"/>
                </p:cNvSpPr>
                <p:nvPr/>
              </p:nvSpPr>
              <p:spPr>
                <a:xfrm>
                  <a:off x="3352285" y="4898076"/>
                  <a:ext cx="2390940" cy="523220"/>
                </a:xfrm>
                <a:prstGeom prst="rect">
                  <a:avLst/>
                </a:prstGeom>
                <a:blipFill>
                  <a:blip r:embed="rId5"/>
                  <a:stretch>
                    <a:fillRect t="-2326" b="-11628"/>
                  </a:stretch>
                </a:blipFill>
              </p:spPr>
              <p:txBody>
                <a:bodyPr/>
                <a:lstStyle/>
                <a:p>
                  <a:r>
                    <a:rPr lang="en-QA">
                      <a:noFill/>
                    </a:rPr>
                    <a:t> </a:t>
                  </a:r>
                </a:p>
              </p:txBody>
            </p:sp>
          </mc:Fallback>
        </mc:AlternateContent>
      </p:grpSp>
      <p:grpSp>
        <p:nvGrpSpPr>
          <p:cNvPr id="29" name="Group 28">
            <a:extLst>
              <a:ext uri="{FF2B5EF4-FFF2-40B4-BE49-F238E27FC236}">
                <a16:creationId xmlns:a16="http://schemas.microsoft.com/office/drawing/2014/main" id="{9FD3909D-5DE0-45A3-8F6A-FBCDE223FCB5}"/>
              </a:ext>
            </a:extLst>
          </p:cNvPr>
          <p:cNvGrpSpPr/>
          <p:nvPr/>
        </p:nvGrpSpPr>
        <p:grpSpPr>
          <a:xfrm>
            <a:off x="7037077" y="3777995"/>
            <a:ext cx="2390940" cy="682775"/>
            <a:chOff x="7591260" y="3433834"/>
            <a:chExt cx="2390940" cy="682775"/>
          </a:xfrm>
        </p:grpSpPr>
        <p:sp>
          <p:nvSpPr>
            <p:cNvPr id="30" name="Right Brace 29">
              <a:extLst>
                <a:ext uri="{FF2B5EF4-FFF2-40B4-BE49-F238E27FC236}">
                  <a16:creationId xmlns:a16="http://schemas.microsoft.com/office/drawing/2014/main" id="{DFB73156-CAAF-DDCA-9276-6600A6AFC994}"/>
                </a:ext>
              </a:extLst>
            </p:cNvPr>
            <p:cNvSpPr/>
            <p:nvPr/>
          </p:nvSpPr>
          <p:spPr>
            <a:xfrm rot="16200000">
              <a:off x="8502951" y="3382045"/>
              <a:ext cx="337549" cy="1131580"/>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QA"/>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86EE6E2-B00C-E9B8-C207-7D2D92B31441}"/>
                    </a:ext>
                  </a:extLst>
                </p:cNvPr>
                <p:cNvSpPr txBox="1"/>
                <p:nvPr/>
              </p:nvSpPr>
              <p:spPr>
                <a:xfrm>
                  <a:off x="7591260" y="3433834"/>
                  <a:ext cx="2390940" cy="307777"/>
                </a:xfrm>
                <a:prstGeom prst="rect">
                  <a:avLst/>
                </a:prstGeom>
                <a:noFill/>
              </p:spPr>
              <p:txBody>
                <a:bodyPr wrap="square">
                  <a:spAutoFit/>
                </a:bodyPr>
                <a:lstStyle/>
                <a:p>
                  <a:pPr algn="ctr"/>
                  <a:r>
                    <a:rPr lang="en-US" sz="1400" dirty="0">
                      <a:solidFill>
                        <a:srgbClr val="0070C0"/>
                      </a:solidFill>
                    </a:rPr>
                    <a:t>Prediction when </a:t>
                  </a:r>
                  <a14:m>
                    <m:oMath xmlns:m="http://schemas.openxmlformats.org/officeDocument/2006/math">
                      <m:r>
                        <a:rPr lang="en-US" sz="1400" b="0" i="1" smtClean="0">
                          <a:solidFill>
                            <a:srgbClr val="0070C0"/>
                          </a:solidFill>
                          <a:latin typeface="Cambria Math" panose="02040503050406030204" pitchFamily="18" charset="0"/>
                        </a:rPr>
                        <m:t>𝑖</m:t>
                      </m:r>
                      <m:r>
                        <a:rPr lang="en-US" sz="1400" b="0" i="1" smtClean="0">
                          <a:solidFill>
                            <a:srgbClr val="0070C0"/>
                          </a:solidFill>
                          <a:latin typeface="Cambria Math" panose="02040503050406030204" pitchFamily="18" charset="0"/>
                        </a:rPr>
                        <m:t> </m:t>
                      </m:r>
                      <m:r>
                        <m:rPr>
                          <m:nor/>
                        </m:rPr>
                        <a:rPr lang="en-US" sz="1400" dirty="0">
                          <a:solidFill>
                            <a:srgbClr val="0070C0"/>
                          </a:solidFill>
                        </a:rPr>
                        <m:t>added</m:t>
                      </m:r>
                      <m:r>
                        <m:rPr>
                          <m:nor/>
                        </m:rPr>
                        <a:rPr lang="en-US" sz="1400" dirty="0">
                          <a:solidFill>
                            <a:srgbClr val="0070C0"/>
                          </a:solidFill>
                        </a:rPr>
                        <m:t> </m:t>
                      </m:r>
                      <m:r>
                        <m:rPr>
                          <m:nor/>
                        </m:rPr>
                        <a:rPr lang="en-US" sz="1400" dirty="0">
                          <a:solidFill>
                            <a:srgbClr val="0070C0"/>
                          </a:solidFill>
                        </a:rPr>
                        <m:t>to</m:t>
                      </m:r>
                      <m:r>
                        <m:rPr>
                          <m:nor/>
                        </m:rPr>
                        <a:rPr lang="en-US" sz="1400" dirty="0">
                          <a:solidFill>
                            <a:srgbClr val="0070C0"/>
                          </a:solidFill>
                        </a:rPr>
                        <m:t> </m:t>
                      </m:r>
                      <m:r>
                        <m:rPr>
                          <m:sty m:val="p"/>
                        </m:rPr>
                        <a:rPr lang="en-US" sz="1400">
                          <a:solidFill>
                            <a:srgbClr val="0070C0"/>
                          </a:solidFill>
                          <a:latin typeface="Cambria Math" panose="02040503050406030204" pitchFamily="18" charset="0"/>
                        </a:rPr>
                        <m:t>S</m:t>
                      </m:r>
                    </m:oMath>
                  </a14:m>
                  <a:endParaRPr lang="en-QA" sz="1400" dirty="0">
                    <a:solidFill>
                      <a:srgbClr val="0070C0"/>
                    </a:solidFill>
                  </a:endParaRPr>
                </a:p>
              </p:txBody>
            </p:sp>
          </mc:Choice>
          <mc:Fallback xmlns="">
            <p:sp>
              <p:nvSpPr>
                <p:cNvPr id="31" name="TextBox 30">
                  <a:extLst>
                    <a:ext uri="{FF2B5EF4-FFF2-40B4-BE49-F238E27FC236}">
                      <a16:creationId xmlns:a16="http://schemas.microsoft.com/office/drawing/2014/main" id="{886EE6E2-B00C-E9B8-C207-7D2D92B31441}"/>
                    </a:ext>
                  </a:extLst>
                </p:cNvPr>
                <p:cNvSpPr txBox="1">
                  <a:spLocks noRot="1" noChangeAspect="1" noMove="1" noResize="1" noEditPoints="1" noAdjustHandles="1" noChangeArrowheads="1" noChangeShapeType="1" noTextEdit="1"/>
                </p:cNvSpPr>
                <p:nvPr/>
              </p:nvSpPr>
              <p:spPr>
                <a:xfrm>
                  <a:off x="7591260" y="3433834"/>
                  <a:ext cx="2390940" cy="307777"/>
                </a:xfrm>
                <a:prstGeom prst="rect">
                  <a:avLst/>
                </a:prstGeom>
                <a:blipFill>
                  <a:blip r:embed="rId6"/>
                  <a:stretch>
                    <a:fillRect t="-4000" b="-20000"/>
                  </a:stretch>
                </a:blipFill>
              </p:spPr>
              <p:txBody>
                <a:bodyPr/>
                <a:lstStyle/>
                <a:p>
                  <a:r>
                    <a:rPr lang="en-QA">
                      <a:noFill/>
                    </a:rPr>
                    <a:t> </a:t>
                  </a:r>
                </a:p>
              </p:txBody>
            </p:sp>
          </mc:Fallback>
        </mc:AlternateContent>
      </p:grpSp>
      <p:grpSp>
        <p:nvGrpSpPr>
          <p:cNvPr id="38" name="Group 37">
            <a:extLst>
              <a:ext uri="{FF2B5EF4-FFF2-40B4-BE49-F238E27FC236}">
                <a16:creationId xmlns:a16="http://schemas.microsoft.com/office/drawing/2014/main" id="{4D77BE27-0561-4D32-34EB-C80CC89DA286}"/>
              </a:ext>
            </a:extLst>
          </p:cNvPr>
          <p:cNvGrpSpPr/>
          <p:nvPr/>
        </p:nvGrpSpPr>
        <p:grpSpPr>
          <a:xfrm>
            <a:off x="8322013" y="4821395"/>
            <a:ext cx="2390940" cy="1056905"/>
            <a:chOff x="8322013" y="4544303"/>
            <a:chExt cx="2390940" cy="1056905"/>
          </a:xfrm>
        </p:grpSpPr>
        <p:sp>
          <p:nvSpPr>
            <p:cNvPr id="36" name="Right Brace 35">
              <a:extLst>
                <a:ext uri="{FF2B5EF4-FFF2-40B4-BE49-F238E27FC236}">
                  <a16:creationId xmlns:a16="http://schemas.microsoft.com/office/drawing/2014/main" id="{B45003E7-87B2-8693-D2DB-8200C911C8B9}"/>
                </a:ext>
              </a:extLst>
            </p:cNvPr>
            <p:cNvSpPr/>
            <p:nvPr/>
          </p:nvSpPr>
          <p:spPr>
            <a:xfrm rot="5400000">
              <a:off x="9259242" y="4331601"/>
              <a:ext cx="337549" cy="762953"/>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QA"/>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A7D636D-54BB-2DF3-8463-26693D7F7251}"/>
                    </a:ext>
                  </a:extLst>
                </p:cNvPr>
                <p:cNvSpPr txBox="1"/>
                <p:nvPr/>
              </p:nvSpPr>
              <p:spPr>
                <a:xfrm>
                  <a:off x="8322013" y="4862544"/>
                  <a:ext cx="2390940" cy="738664"/>
                </a:xfrm>
                <a:prstGeom prst="rect">
                  <a:avLst/>
                </a:prstGeom>
                <a:noFill/>
              </p:spPr>
              <p:txBody>
                <a:bodyPr wrap="square">
                  <a:spAutoFit/>
                </a:bodyPr>
                <a:lstStyle/>
                <a:p>
                  <a:pPr algn="ctr"/>
                  <a:r>
                    <a:rPr lang="en-US" sz="1400" dirty="0">
                      <a:solidFill>
                        <a:srgbClr val="0070C0"/>
                      </a:solidFill>
                    </a:rPr>
                    <a:t>Prediction </a:t>
                  </a:r>
                </a:p>
                <a:p>
                  <a:pPr algn="ctr"/>
                  <a:r>
                    <a:rPr lang="en-US" sz="1400" dirty="0">
                      <a:solidFill>
                        <a:srgbClr val="0070C0"/>
                      </a:solidFill>
                    </a:rPr>
                    <a:t>u</a:t>
                  </a:r>
                  <a14:m>
                    <m:oMath xmlns:m="http://schemas.openxmlformats.org/officeDocument/2006/math">
                      <m:r>
                        <m:rPr>
                          <m:sty m:val="p"/>
                        </m:rPr>
                        <a:rPr lang="en-US" sz="1400" b="0" i="0" dirty="0" smtClean="0">
                          <a:solidFill>
                            <a:srgbClr val="0070C0"/>
                          </a:solidFill>
                          <a:latin typeface="Cambria Math" panose="02040503050406030204" pitchFamily="18" charset="0"/>
                        </a:rPr>
                        <m:t>sing</m:t>
                      </m:r>
                      <m:r>
                        <a:rPr lang="en-US" sz="1400" b="0" i="0" dirty="0" smtClean="0">
                          <a:solidFill>
                            <a:srgbClr val="0070C0"/>
                          </a:solidFill>
                          <a:latin typeface="Cambria Math" panose="02040503050406030204" pitchFamily="18" charset="0"/>
                        </a:rPr>
                        <m:t> </m:t>
                      </m:r>
                      <m:r>
                        <m:rPr>
                          <m:sty m:val="p"/>
                        </m:rPr>
                        <a:rPr lang="en-US" sz="1400" b="0" i="0" dirty="0" smtClean="0">
                          <a:solidFill>
                            <a:srgbClr val="0070C0"/>
                          </a:solidFill>
                          <a:latin typeface="Cambria Math" panose="02040503050406030204" pitchFamily="18" charset="0"/>
                        </a:rPr>
                        <m:t>only</m:t>
                      </m:r>
                      <m:r>
                        <m:rPr>
                          <m:nor/>
                        </m:rPr>
                        <a:rPr lang="en-US" sz="1400" dirty="0">
                          <a:solidFill>
                            <a:srgbClr val="0070C0"/>
                          </a:solidFill>
                        </a:rPr>
                        <m:t> </m:t>
                      </m:r>
                    </m:oMath>
                  </a14:m>
                  <a:endParaRPr lang="en-US" sz="1400" dirty="0">
                    <a:solidFill>
                      <a:srgbClr val="0070C0"/>
                    </a:solidFill>
                  </a:endParaRPr>
                </a:p>
                <a:p>
                  <a:pPr algn="ctr"/>
                  <a14:m>
                    <m:oMathPara xmlns:m="http://schemas.openxmlformats.org/officeDocument/2006/math">
                      <m:oMathParaPr>
                        <m:jc m:val="centerGroup"/>
                      </m:oMathParaPr>
                      <m:oMath xmlns:m="http://schemas.openxmlformats.org/officeDocument/2006/math">
                        <m:r>
                          <m:rPr>
                            <m:nor/>
                          </m:rPr>
                          <a:rPr lang="en-US" sz="1400" b="0" i="0" dirty="0" smtClean="0">
                            <a:solidFill>
                              <a:srgbClr val="0070C0"/>
                            </a:solidFill>
                          </a:rPr>
                          <m:t>features</m:t>
                        </m:r>
                        <m:r>
                          <m:rPr>
                            <m:nor/>
                          </m:rPr>
                          <a:rPr lang="en-US" sz="1400" b="0" i="0" dirty="0" smtClean="0">
                            <a:solidFill>
                              <a:srgbClr val="0070C0"/>
                            </a:solidFill>
                          </a:rPr>
                          <m:t> </m:t>
                        </m:r>
                        <m:r>
                          <m:rPr>
                            <m:nor/>
                          </m:rPr>
                          <a:rPr lang="en-US" sz="1400" b="0" i="0" dirty="0" smtClean="0">
                            <a:solidFill>
                              <a:srgbClr val="0070C0"/>
                            </a:solidFill>
                          </a:rPr>
                          <m:t>in</m:t>
                        </m:r>
                        <m:r>
                          <m:rPr>
                            <m:nor/>
                          </m:rPr>
                          <a:rPr lang="en-US" sz="1400" b="0" i="0" dirty="0" smtClean="0">
                            <a:solidFill>
                              <a:srgbClr val="0070C0"/>
                            </a:solidFill>
                          </a:rPr>
                          <m:t> </m:t>
                        </m:r>
                        <m:r>
                          <m:rPr>
                            <m:sty m:val="p"/>
                          </m:rPr>
                          <a:rPr lang="en-US" sz="1400">
                            <a:solidFill>
                              <a:srgbClr val="0070C0"/>
                            </a:solidFill>
                            <a:latin typeface="Cambria Math" panose="02040503050406030204" pitchFamily="18" charset="0"/>
                          </a:rPr>
                          <m:t>S</m:t>
                        </m:r>
                      </m:oMath>
                    </m:oMathPara>
                  </a14:m>
                  <a:endParaRPr lang="en-QA" sz="1400" dirty="0">
                    <a:solidFill>
                      <a:srgbClr val="0070C0"/>
                    </a:solidFill>
                  </a:endParaRPr>
                </a:p>
              </p:txBody>
            </p:sp>
          </mc:Choice>
          <mc:Fallback xmlns="">
            <p:sp>
              <p:nvSpPr>
                <p:cNvPr id="37" name="TextBox 36">
                  <a:extLst>
                    <a:ext uri="{FF2B5EF4-FFF2-40B4-BE49-F238E27FC236}">
                      <a16:creationId xmlns:a16="http://schemas.microsoft.com/office/drawing/2014/main" id="{AA7D636D-54BB-2DF3-8463-26693D7F7251}"/>
                    </a:ext>
                  </a:extLst>
                </p:cNvPr>
                <p:cNvSpPr txBox="1">
                  <a:spLocks noRot="1" noChangeAspect="1" noMove="1" noResize="1" noEditPoints="1" noAdjustHandles="1" noChangeArrowheads="1" noChangeShapeType="1" noTextEdit="1"/>
                </p:cNvSpPr>
                <p:nvPr/>
              </p:nvSpPr>
              <p:spPr>
                <a:xfrm>
                  <a:off x="8322013" y="4862544"/>
                  <a:ext cx="2390940" cy="738664"/>
                </a:xfrm>
                <a:prstGeom prst="rect">
                  <a:avLst/>
                </a:prstGeom>
                <a:blipFill>
                  <a:blip r:embed="rId7"/>
                  <a:stretch>
                    <a:fillRect t="-1695" b="-6780"/>
                  </a:stretch>
                </a:blipFill>
              </p:spPr>
              <p:txBody>
                <a:bodyPr/>
                <a:lstStyle/>
                <a:p>
                  <a:r>
                    <a:rPr lang="en-QA">
                      <a:noFill/>
                    </a:rPr>
                    <a:t> </a:t>
                  </a:r>
                </a:p>
              </p:txBody>
            </p:sp>
          </mc:Fallback>
        </mc:AlternateContent>
      </p:grpSp>
      <p:sp>
        <p:nvSpPr>
          <p:cNvPr id="40" name="TextBox 39">
            <a:extLst>
              <a:ext uri="{FF2B5EF4-FFF2-40B4-BE49-F238E27FC236}">
                <a16:creationId xmlns:a16="http://schemas.microsoft.com/office/drawing/2014/main" id="{C41BE45B-50AA-F647-358F-C3AE43FA2DFD}"/>
              </a:ext>
            </a:extLst>
          </p:cNvPr>
          <p:cNvSpPr txBox="1"/>
          <p:nvPr/>
        </p:nvSpPr>
        <p:spPr>
          <a:xfrm>
            <a:off x="697665" y="2411940"/>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latin typeface="+mj-lt"/>
              </a:rPr>
              <a:t>It is</a:t>
            </a:r>
            <a:r>
              <a:rPr lang="en-US" b="1" dirty="0">
                <a:latin typeface="+mj-lt"/>
              </a:rPr>
              <a:t> </a:t>
            </a:r>
            <a:r>
              <a:rPr lang="en-US" dirty="0">
                <a:latin typeface="+mj-lt"/>
              </a:rPr>
              <a:t>model-agnostic</a:t>
            </a:r>
            <a:endParaRPr lang="en-QA" dirty="0"/>
          </a:p>
        </p:txBody>
      </p:sp>
      <p:grpSp>
        <p:nvGrpSpPr>
          <p:cNvPr id="41" name="Group 40">
            <a:extLst>
              <a:ext uri="{FF2B5EF4-FFF2-40B4-BE49-F238E27FC236}">
                <a16:creationId xmlns:a16="http://schemas.microsoft.com/office/drawing/2014/main" id="{9491555C-B101-DE29-C638-B70204510022}"/>
              </a:ext>
            </a:extLst>
          </p:cNvPr>
          <p:cNvGrpSpPr/>
          <p:nvPr/>
        </p:nvGrpSpPr>
        <p:grpSpPr>
          <a:xfrm>
            <a:off x="5060743" y="3626200"/>
            <a:ext cx="2390940" cy="669947"/>
            <a:chOff x="7500543" y="3446661"/>
            <a:chExt cx="2390940" cy="669947"/>
          </a:xfrm>
        </p:grpSpPr>
        <p:sp>
          <p:nvSpPr>
            <p:cNvPr id="42" name="Right Brace 41">
              <a:extLst>
                <a:ext uri="{FF2B5EF4-FFF2-40B4-BE49-F238E27FC236}">
                  <a16:creationId xmlns:a16="http://schemas.microsoft.com/office/drawing/2014/main" id="{805D5318-7D82-A8D6-A379-86F43DD2A7D6}"/>
                </a:ext>
              </a:extLst>
            </p:cNvPr>
            <p:cNvSpPr/>
            <p:nvPr/>
          </p:nvSpPr>
          <p:spPr>
            <a:xfrm rot="16200000">
              <a:off x="8566702" y="2803619"/>
              <a:ext cx="337549" cy="2288429"/>
            </a:xfrm>
            <a:prstGeom prst="rightBrace">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QA"/>
            </a:p>
          </p:txBody>
        </p:sp>
        <p:sp>
          <p:nvSpPr>
            <p:cNvPr id="43" name="TextBox 42">
              <a:extLst>
                <a:ext uri="{FF2B5EF4-FFF2-40B4-BE49-F238E27FC236}">
                  <a16:creationId xmlns:a16="http://schemas.microsoft.com/office/drawing/2014/main" id="{17417287-6AFE-086D-C357-ACCF12534315}"/>
                </a:ext>
              </a:extLst>
            </p:cNvPr>
            <p:cNvSpPr txBox="1"/>
            <p:nvPr/>
          </p:nvSpPr>
          <p:spPr>
            <a:xfrm>
              <a:off x="7500543" y="3446661"/>
              <a:ext cx="2390940" cy="307777"/>
            </a:xfrm>
            <a:prstGeom prst="rect">
              <a:avLst/>
            </a:prstGeom>
            <a:noFill/>
          </p:spPr>
          <p:txBody>
            <a:bodyPr wrap="square">
              <a:spAutoFit/>
            </a:bodyPr>
            <a:lstStyle/>
            <a:p>
              <a:pPr algn="ctr"/>
              <a:r>
                <a:rPr lang="en-US" sz="1400" dirty="0">
                  <a:solidFill>
                    <a:srgbClr val="0070C0"/>
                  </a:solidFill>
                </a:rPr>
                <a:t>Weighting factor</a:t>
              </a:r>
              <a:endParaRPr lang="en-QA" sz="1400" dirty="0">
                <a:solidFill>
                  <a:srgbClr val="0070C0"/>
                </a:solidFill>
              </a:endParaRPr>
            </a:p>
          </p:txBody>
        </p:sp>
      </p:grpSp>
    </p:spTree>
    <p:extLst>
      <p:ext uri="{BB962C8B-B14F-4D97-AF65-F5344CB8AC3E}">
        <p14:creationId xmlns:p14="http://schemas.microsoft.com/office/powerpoint/2010/main" val="1821590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P spid="4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DC1A1-50C9-EEA0-E9B7-030D3A969E8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CB28D78-B909-E5F7-4308-7EFE21A7F723}"/>
              </a:ext>
            </a:extLst>
          </p:cNvPr>
          <p:cNvSpPr>
            <a:spLocks noGrp="1"/>
          </p:cNvSpPr>
          <p:nvPr>
            <p:ph type="sldNum" sz="quarter" idx="12"/>
          </p:nvPr>
        </p:nvSpPr>
        <p:spPr/>
        <p:txBody>
          <a:bodyPr/>
          <a:lstStyle/>
          <a:p>
            <a:fld id="{EB60BC02-D374-C843-982C-996C93B0F0E6}" type="slidenum">
              <a:rPr lang="en-QA" smtClean="0"/>
              <a:t>22</a:t>
            </a:fld>
            <a:endParaRPr lang="en-QA"/>
          </a:p>
        </p:txBody>
      </p:sp>
      <p:sp>
        <p:nvSpPr>
          <p:cNvPr id="6" name="Title 1">
            <a:extLst>
              <a:ext uri="{FF2B5EF4-FFF2-40B4-BE49-F238E27FC236}">
                <a16:creationId xmlns:a16="http://schemas.microsoft.com/office/drawing/2014/main" id="{00769469-5A9D-28C4-7366-002B47B27BAC}"/>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SHAP (</a:t>
            </a:r>
            <a:r>
              <a:rPr lang="en-US" sz="3200" b="1" dirty="0" err="1">
                <a:latin typeface="+mj-lt"/>
              </a:rPr>
              <a:t>SHapley</a:t>
            </a:r>
            <a:r>
              <a:rPr lang="en-US" sz="3200" b="1" dirty="0">
                <a:latin typeface="+mj-lt"/>
              </a:rPr>
              <a:t> Additive Explanations)</a:t>
            </a:r>
            <a:endParaRPr lang="en-QA" sz="3200" dirty="0">
              <a:latin typeface="+mj-lt"/>
            </a:endParaRPr>
          </a:p>
        </p:txBody>
      </p:sp>
      <p:pic>
        <p:nvPicPr>
          <p:cNvPr id="7" name="Picture 6" descr="A mathematical equation with numbers and symbols&#10;&#10;AI-generated content may be incorrect.">
            <a:extLst>
              <a:ext uri="{FF2B5EF4-FFF2-40B4-BE49-F238E27FC236}">
                <a16:creationId xmlns:a16="http://schemas.microsoft.com/office/drawing/2014/main" id="{5E71BF52-8E83-7D39-A418-F30555DEB508}"/>
              </a:ext>
            </a:extLst>
          </p:cNvPr>
          <p:cNvPicPr>
            <a:picLocks noChangeAspect="1"/>
          </p:cNvPicPr>
          <p:nvPr/>
        </p:nvPicPr>
        <p:blipFill>
          <a:blip r:embed="rId3"/>
          <a:stretch>
            <a:fillRect/>
          </a:stretch>
        </p:blipFill>
        <p:spPr>
          <a:xfrm>
            <a:off x="7819736" y="1690688"/>
            <a:ext cx="2882900" cy="965200"/>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A908E86-AB3F-AB31-15E2-E493F88E9D3F}"/>
                  </a:ext>
                </a:extLst>
              </p:cNvPr>
              <p:cNvSpPr txBox="1"/>
              <p:nvPr/>
            </p:nvSpPr>
            <p:spPr>
              <a:xfrm>
                <a:off x="736210" y="1969716"/>
                <a:ext cx="6096000" cy="369332"/>
              </a:xfrm>
              <a:prstGeom prst="rect">
                <a:avLst/>
              </a:prstGeom>
              <a:noFill/>
            </p:spPr>
            <p:txBody>
              <a:bodyPr wrap="square">
                <a:spAutoFit/>
              </a:bodyPr>
              <a:lstStyle/>
              <a:p>
                <a:pPr marL="342900" indent="-342900">
                  <a:buFont typeface="+mj-lt"/>
                  <a:buAutoNum type="arabicPeriod"/>
                </a:pPr>
                <a:r>
                  <a:rPr lang="en-US" dirty="0">
                    <a:latin typeface="+mj-lt"/>
                  </a:rPr>
                  <a:t>Compute the model output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oMath>
                </a14:m>
                <a:r>
                  <a:rPr lang="en-US" dirty="0">
                    <a:latin typeface="+mj-lt"/>
                  </a:rPr>
                  <a:t>for the given instance.</a:t>
                </a:r>
                <a:endParaRPr lang="en-QA" dirty="0">
                  <a:latin typeface="+mj-lt"/>
                </a:endParaRPr>
              </a:p>
            </p:txBody>
          </p:sp>
        </mc:Choice>
        <mc:Fallback xmlns="">
          <p:sp>
            <p:nvSpPr>
              <p:cNvPr id="11" name="TextBox 10">
                <a:extLst>
                  <a:ext uri="{FF2B5EF4-FFF2-40B4-BE49-F238E27FC236}">
                    <a16:creationId xmlns:a16="http://schemas.microsoft.com/office/drawing/2014/main" id="{AA908E86-AB3F-AB31-15E2-E493F88E9D3F}"/>
                  </a:ext>
                </a:extLst>
              </p:cNvPr>
              <p:cNvSpPr txBox="1">
                <a:spLocks noRot="1" noChangeAspect="1" noMove="1" noResize="1" noEditPoints="1" noAdjustHandles="1" noChangeArrowheads="1" noChangeShapeType="1" noTextEdit="1"/>
              </p:cNvSpPr>
              <p:nvPr/>
            </p:nvSpPr>
            <p:spPr>
              <a:xfrm>
                <a:off x="736210" y="1969716"/>
                <a:ext cx="6096000" cy="369332"/>
              </a:xfrm>
              <a:prstGeom prst="rect">
                <a:avLst/>
              </a:prstGeom>
              <a:blipFill>
                <a:blip r:embed="rId4"/>
                <a:stretch>
                  <a:fillRect l="-1040" t="-6667" b="-23333"/>
                </a:stretch>
              </a:blipFill>
            </p:spPr>
            <p:txBody>
              <a:bodyPr/>
              <a:lstStyle/>
              <a:p>
                <a:r>
                  <a:rPr lang="en-QA">
                    <a:noFill/>
                  </a:rPr>
                  <a:t> </a:t>
                </a:r>
              </a:p>
            </p:txBody>
          </p:sp>
        </mc:Fallback>
      </mc:AlternateContent>
      <p:sp>
        <p:nvSpPr>
          <p:cNvPr id="17" name="TextBox 16">
            <a:extLst>
              <a:ext uri="{FF2B5EF4-FFF2-40B4-BE49-F238E27FC236}">
                <a16:creationId xmlns:a16="http://schemas.microsoft.com/office/drawing/2014/main" id="{D5CDFC79-5461-0016-7D85-9278243310B6}"/>
              </a:ext>
            </a:extLst>
          </p:cNvPr>
          <p:cNvSpPr txBox="1"/>
          <p:nvPr/>
        </p:nvSpPr>
        <p:spPr>
          <a:xfrm>
            <a:off x="736210" y="2649525"/>
            <a:ext cx="6096000" cy="369332"/>
          </a:xfrm>
          <a:prstGeom prst="rect">
            <a:avLst/>
          </a:prstGeom>
          <a:noFill/>
        </p:spPr>
        <p:txBody>
          <a:bodyPr wrap="square">
            <a:spAutoFit/>
          </a:bodyPr>
          <a:lstStyle/>
          <a:p>
            <a:pPr marL="342900" indent="-342900">
              <a:buFont typeface="+mj-lt"/>
              <a:buAutoNum type="arabicPeriod" startAt="2"/>
            </a:pPr>
            <a:r>
              <a:rPr lang="en-US" dirty="0">
                <a:latin typeface="+mj-lt"/>
              </a:rPr>
              <a:t>Evaluate feature subsets by removing and adding features.</a:t>
            </a:r>
            <a:endParaRPr lang="en-QA" dirty="0">
              <a:latin typeface="+mj-lt"/>
            </a:endParaRPr>
          </a:p>
        </p:txBody>
      </p:sp>
      <p:sp>
        <p:nvSpPr>
          <p:cNvPr id="22" name="TextBox 21">
            <a:extLst>
              <a:ext uri="{FF2B5EF4-FFF2-40B4-BE49-F238E27FC236}">
                <a16:creationId xmlns:a16="http://schemas.microsoft.com/office/drawing/2014/main" id="{6FAB3A4C-FD77-1BEA-124D-2E2C7E7D39DC}"/>
              </a:ext>
            </a:extLst>
          </p:cNvPr>
          <p:cNvSpPr txBox="1"/>
          <p:nvPr/>
        </p:nvSpPr>
        <p:spPr>
          <a:xfrm>
            <a:off x="740188" y="3428319"/>
            <a:ext cx="6096000" cy="646331"/>
          </a:xfrm>
          <a:prstGeom prst="rect">
            <a:avLst/>
          </a:prstGeom>
          <a:noFill/>
        </p:spPr>
        <p:txBody>
          <a:bodyPr wrap="square">
            <a:spAutoFit/>
          </a:bodyPr>
          <a:lstStyle/>
          <a:p>
            <a:pPr marL="342900" indent="-342900">
              <a:buFont typeface="+mj-lt"/>
              <a:buAutoNum type="arabicPeriod" startAt="3"/>
            </a:pPr>
            <a:r>
              <a:rPr lang="en-US" dirty="0">
                <a:latin typeface="+mj-lt"/>
              </a:rPr>
              <a:t>Calculate Shapley values using the contribution of each feature.</a:t>
            </a:r>
            <a:endParaRPr lang="en-QA" dirty="0">
              <a:latin typeface="+mj-lt"/>
            </a:endParaRPr>
          </a:p>
        </p:txBody>
      </p:sp>
      <p:sp>
        <p:nvSpPr>
          <p:cNvPr id="27" name="TextBox 26">
            <a:extLst>
              <a:ext uri="{FF2B5EF4-FFF2-40B4-BE49-F238E27FC236}">
                <a16:creationId xmlns:a16="http://schemas.microsoft.com/office/drawing/2014/main" id="{80F24E36-716C-7BEF-6914-356ECE631F5C}"/>
              </a:ext>
            </a:extLst>
          </p:cNvPr>
          <p:cNvSpPr txBox="1"/>
          <p:nvPr/>
        </p:nvSpPr>
        <p:spPr>
          <a:xfrm>
            <a:off x="736210" y="4381850"/>
            <a:ext cx="6096000" cy="646331"/>
          </a:xfrm>
          <a:prstGeom prst="rect">
            <a:avLst/>
          </a:prstGeom>
          <a:noFill/>
        </p:spPr>
        <p:txBody>
          <a:bodyPr wrap="square">
            <a:spAutoFit/>
          </a:bodyPr>
          <a:lstStyle/>
          <a:p>
            <a:pPr marL="342900" indent="-342900">
              <a:buFont typeface="+mj-lt"/>
              <a:buAutoNum type="arabicPeriod" startAt="4"/>
            </a:pPr>
            <a:r>
              <a:rPr lang="en-US" dirty="0">
                <a:latin typeface="+mj-lt"/>
              </a:rPr>
              <a:t>Sum feature contributions to reconstruct the original model output.</a:t>
            </a:r>
          </a:p>
        </p:txBody>
      </p:sp>
      <p:grpSp>
        <p:nvGrpSpPr>
          <p:cNvPr id="33" name="Group 32">
            <a:extLst>
              <a:ext uri="{FF2B5EF4-FFF2-40B4-BE49-F238E27FC236}">
                <a16:creationId xmlns:a16="http://schemas.microsoft.com/office/drawing/2014/main" id="{692DBD59-0F0F-2B6A-7D32-5BF0BD262E66}"/>
              </a:ext>
            </a:extLst>
          </p:cNvPr>
          <p:cNvGrpSpPr/>
          <p:nvPr/>
        </p:nvGrpSpPr>
        <p:grpSpPr>
          <a:xfrm>
            <a:off x="7270835" y="2277198"/>
            <a:ext cx="2177965" cy="1259529"/>
            <a:chOff x="4038600" y="4433854"/>
            <a:chExt cx="2177965" cy="1259529"/>
          </a:xfrm>
        </p:grpSpPr>
        <p:cxnSp>
          <p:nvCxnSpPr>
            <p:cNvPr id="34" name="Straight Arrow Connector 33">
              <a:extLst>
                <a:ext uri="{FF2B5EF4-FFF2-40B4-BE49-F238E27FC236}">
                  <a16:creationId xmlns:a16="http://schemas.microsoft.com/office/drawing/2014/main" id="{E7C10D30-5834-88D2-4B5D-8BF74CC573D8}"/>
                </a:ext>
              </a:extLst>
            </p:cNvPr>
            <p:cNvCxnSpPr>
              <a:cxnSpLocks/>
            </p:cNvCxnSpPr>
            <p:nvPr/>
          </p:nvCxnSpPr>
          <p:spPr>
            <a:xfrm flipV="1">
              <a:off x="5514699" y="4433854"/>
              <a:ext cx="189247" cy="570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2272B0F-A2F6-539C-9820-72E73CEB424F}"/>
                </a:ext>
              </a:extLst>
            </p:cNvPr>
            <p:cNvSpPr txBox="1"/>
            <p:nvPr/>
          </p:nvSpPr>
          <p:spPr>
            <a:xfrm>
              <a:off x="4038600" y="4954719"/>
              <a:ext cx="2177965" cy="738664"/>
            </a:xfrm>
            <a:prstGeom prst="rect">
              <a:avLst/>
            </a:prstGeom>
            <a:noFill/>
          </p:spPr>
          <p:txBody>
            <a:bodyPr wrap="square">
              <a:spAutoFit/>
            </a:bodyPr>
            <a:lstStyle/>
            <a:p>
              <a:pPr algn="ctr"/>
              <a:r>
                <a:rPr lang="en-US" sz="1400" dirty="0">
                  <a:solidFill>
                    <a:srgbClr val="0070C0"/>
                  </a:solidFill>
                </a:rPr>
                <a:t>Base value (expected prediction if no features are used).</a:t>
              </a:r>
              <a:endParaRPr lang="en-QA" sz="1400" dirty="0">
                <a:solidFill>
                  <a:srgbClr val="0070C0"/>
                </a:solidFill>
              </a:endParaRPr>
            </a:p>
          </p:txBody>
        </p:sp>
      </p:grpSp>
      <p:grpSp>
        <p:nvGrpSpPr>
          <p:cNvPr id="42" name="Group 41">
            <a:extLst>
              <a:ext uri="{FF2B5EF4-FFF2-40B4-BE49-F238E27FC236}">
                <a16:creationId xmlns:a16="http://schemas.microsoft.com/office/drawing/2014/main" id="{EE56B0A3-9D1C-EBA5-8D8F-B6139577AE1F}"/>
              </a:ext>
            </a:extLst>
          </p:cNvPr>
          <p:cNvGrpSpPr/>
          <p:nvPr/>
        </p:nvGrpSpPr>
        <p:grpSpPr>
          <a:xfrm>
            <a:off x="9243045" y="2279675"/>
            <a:ext cx="2177965" cy="752956"/>
            <a:chOff x="3519723" y="4687406"/>
            <a:chExt cx="2177965" cy="752956"/>
          </a:xfrm>
        </p:grpSpPr>
        <p:cxnSp>
          <p:nvCxnSpPr>
            <p:cNvPr id="43" name="Straight Arrow Connector 42">
              <a:extLst>
                <a:ext uri="{FF2B5EF4-FFF2-40B4-BE49-F238E27FC236}">
                  <a16:creationId xmlns:a16="http://schemas.microsoft.com/office/drawing/2014/main" id="{FA1B0F2B-B957-4F0F-C7EA-7025060DC2F2}"/>
                </a:ext>
              </a:extLst>
            </p:cNvPr>
            <p:cNvCxnSpPr>
              <a:cxnSpLocks/>
            </p:cNvCxnSpPr>
            <p:nvPr/>
          </p:nvCxnSpPr>
          <p:spPr>
            <a:xfrm flipH="1" flipV="1">
              <a:off x="4172675" y="4687406"/>
              <a:ext cx="134693" cy="431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F1C596FA-506A-9E56-A8FB-E0914545F8EC}"/>
                    </a:ext>
                  </a:extLst>
                </p:cNvPr>
                <p:cNvSpPr txBox="1"/>
                <p:nvPr/>
              </p:nvSpPr>
              <p:spPr>
                <a:xfrm>
                  <a:off x="3519723" y="5132585"/>
                  <a:ext cx="2177965" cy="307777"/>
                </a:xfrm>
                <a:prstGeom prst="rect">
                  <a:avLst/>
                </a:prstGeom>
                <a:noFill/>
              </p:spPr>
              <p:txBody>
                <a:bodyPr wrap="square">
                  <a:spAutoFit/>
                </a:bodyPr>
                <a:lstStyle/>
                <a:p>
                  <a:pPr algn="ctr"/>
                  <a:r>
                    <a:rPr lang="en-US" sz="1400" dirty="0">
                      <a:solidFill>
                        <a:srgbClr val="0070C0"/>
                      </a:solidFill>
                    </a:rPr>
                    <a:t>Contribution of feature </a:t>
                  </a:r>
                  <a14:m>
                    <m:oMath xmlns:m="http://schemas.openxmlformats.org/officeDocument/2006/math">
                      <m:r>
                        <a:rPr lang="en-US" sz="1400" b="0" i="1" smtClean="0">
                          <a:solidFill>
                            <a:srgbClr val="0070C0"/>
                          </a:solidFill>
                          <a:latin typeface="Cambria Math" panose="02040503050406030204" pitchFamily="18" charset="0"/>
                        </a:rPr>
                        <m:t>𝑥</m:t>
                      </m:r>
                      <m:r>
                        <a:rPr lang="en-US" sz="1400" b="0" i="1" baseline="-25000" smtClean="0">
                          <a:solidFill>
                            <a:srgbClr val="0070C0"/>
                          </a:solidFill>
                          <a:latin typeface="Cambria Math" panose="02040503050406030204" pitchFamily="18" charset="0"/>
                        </a:rPr>
                        <m:t>𝑖</m:t>
                      </m:r>
                    </m:oMath>
                  </a14:m>
                  <a:endParaRPr lang="en-QA" sz="1400" baseline="-25000" dirty="0">
                    <a:solidFill>
                      <a:srgbClr val="0070C0"/>
                    </a:solidFill>
                  </a:endParaRPr>
                </a:p>
              </p:txBody>
            </p:sp>
          </mc:Choice>
          <mc:Fallback xmlns="">
            <p:sp>
              <p:nvSpPr>
                <p:cNvPr id="44" name="TextBox 43">
                  <a:extLst>
                    <a:ext uri="{FF2B5EF4-FFF2-40B4-BE49-F238E27FC236}">
                      <a16:creationId xmlns:a16="http://schemas.microsoft.com/office/drawing/2014/main" id="{F1C596FA-506A-9E56-A8FB-E0914545F8EC}"/>
                    </a:ext>
                  </a:extLst>
                </p:cNvPr>
                <p:cNvSpPr txBox="1">
                  <a:spLocks noRot="1" noChangeAspect="1" noMove="1" noResize="1" noEditPoints="1" noAdjustHandles="1" noChangeArrowheads="1" noChangeShapeType="1" noTextEdit="1"/>
                </p:cNvSpPr>
                <p:nvPr/>
              </p:nvSpPr>
              <p:spPr>
                <a:xfrm>
                  <a:off x="3519723" y="5132585"/>
                  <a:ext cx="2177965" cy="307777"/>
                </a:xfrm>
                <a:prstGeom prst="rect">
                  <a:avLst/>
                </a:prstGeom>
                <a:blipFill>
                  <a:blip r:embed="rId5"/>
                  <a:stretch>
                    <a:fillRect t="-4000" b="-20000"/>
                  </a:stretch>
                </a:blipFill>
              </p:spPr>
              <p:txBody>
                <a:bodyPr/>
                <a:lstStyle/>
                <a:p>
                  <a:r>
                    <a:rPr lang="en-QA">
                      <a:noFill/>
                    </a:rPr>
                    <a:t> </a:t>
                  </a:r>
                </a:p>
              </p:txBody>
            </p:sp>
          </mc:Fallback>
        </mc:AlternateContent>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9B8CF7-E1A4-F00F-2A0A-F929950E364B}"/>
                  </a:ext>
                </a:extLst>
              </p:cNvPr>
              <p:cNvSpPr txBox="1"/>
              <p:nvPr/>
            </p:nvSpPr>
            <p:spPr>
              <a:xfrm>
                <a:off x="7385538" y="3597651"/>
                <a:ext cx="4571999" cy="2308324"/>
              </a:xfrm>
              <a:prstGeom prst="rect">
                <a:avLst/>
              </a:prstGeom>
              <a:noFill/>
            </p:spPr>
            <p:txBody>
              <a:bodyPr wrap="square">
                <a:spAutoFit/>
              </a:bodyPr>
              <a:lstStyle/>
              <a:p>
                <a:pPr>
                  <a:buNone/>
                </a:pPr>
                <a:r>
                  <a:rPr lang="en-US" dirty="0"/>
                  <a:t>SHAP builds a </a:t>
                </a:r>
                <a:r>
                  <a:rPr lang="en-US" b="1" dirty="0"/>
                  <a:t>linear explanation </a:t>
                </a:r>
                <a:r>
                  <a:rPr lang="en-US" dirty="0"/>
                  <a:t>(not a linear model) that represents this one prediction as a sum of feature contributions. So:</a:t>
                </a:r>
              </a:p>
              <a:p>
                <a:pPr marL="285750" indent="-285750">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𝜙</m:t>
                        </m:r>
                      </m:e>
                      <m:sub>
                        <m:r>
                          <a:rPr lang="ar-AE" i="0">
                            <a:latin typeface="Cambria Math" panose="02040503050406030204" pitchFamily="18" charset="0"/>
                          </a:rPr>
                          <m:t>0</m:t>
                        </m:r>
                      </m:sub>
                    </m:sSub>
                  </m:oMath>
                </a14:m>
                <a:r>
                  <a:rPr lang="ar-AE" dirty="0"/>
                  <a:t> </a:t>
                </a:r>
                <a:r>
                  <a:rPr lang="en-US" dirty="0"/>
                  <a:t>= base value (average prediction over dataset)</a:t>
                </a:r>
              </a:p>
              <a:p>
                <a:pPr marL="285750" indent="-285750">
                  <a:buFont typeface="Arial" panose="020B0604020202020204" pitchFamily="34" charset="0"/>
                  <a:buChar char="•"/>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𝜙</m:t>
                        </m:r>
                      </m:e>
                      <m:sub>
                        <m:r>
                          <a:rPr lang="ar-AE" i="1">
                            <a:latin typeface="Cambria Math" panose="02040503050406030204" pitchFamily="18" charset="0"/>
                          </a:rPr>
                          <m:t>𝑖</m:t>
                        </m:r>
                      </m:sub>
                    </m:sSub>
                  </m:oMath>
                </a14:m>
                <a:r>
                  <a:rPr lang="en-US" dirty="0"/>
                  <a:t> = contribution (importance) of feature </a:t>
                </a:r>
                <a14:m>
                  <m:oMath xmlns:m="http://schemas.openxmlformats.org/officeDocument/2006/math">
                    <m:r>
                      <a:rPr lang="en-US" i="1">
                        <a:latin typeface="Cambria Math" panose="02040503050406030204" pitchFamily="18" charset="0"/>
                      </a:rPr>
                      <m:t>𝑖</m:t>
                    </m:r>
                  </m:oMath>
                </a14:m>
                <a:endParaRPr lang="en-US" dirty="0"/>
              </a:p>
              <a:p>
                <a:pPr marL="285750" indent="-285750">
                  <a:buFont typeface="Arial" panose="020B0604020202020204" pitchFamily="34" charset="0"/>
                  <a:buChar char="•"/>
                </a:pPr>
                <a:r>
                  <a:rPr lang="en-US" dirty="0"/>
                  <a:t>The sum of all contributions equals the </a:t>
                </a:r>
                <a:r>
                  <a:rPr lang="en-US"/>
                  <a:t>real prediction</a:t>
                </a:r>
                <a:endParaRPr lang="en-US" dirty="0"/>
              </a:p>
            </p:txBody>
          </p:sp>
        </mc:Choice>
        <mc:Fallback xmlns="">
          <p:sp>
            <p:nvSpPr>
              <p:cNvPr id="3" name="TextBox 2">
                <a:extLst>
                  <a:ext uri="{FF2B5EF4-FFF2-40B4-BE49-F238E27FC236}">
                    <a16:creationId xmlns:a16="http://schemas.microsoft.com/office/drawing/2014/main" id="{669B8CF7-E1A4-F00F-2A0A-F929950E364B}"/>
                  </a:ext>
                </a:extLst>
              </p:cNvPr>
              <p:cNvSpPr txBox="1">
                <a:spLocks noRot="1" noChangeAspect="1" noMove="1" noResize="1" noEditPoints="1" noAdjustHandles="1" noChangeArrowheads="1" noChangeShapeType="1" noTextEdit="1"/>
              </p:cNvSpPr>
              <p:nvPr/>
            </p:nvSpPr>
            <p:spPr>
              <a:xfrm>
                <a:off x="7385538" y="3597651"/>
                <a:ext cx="4571999" cy="2308324"/>
              </a:xfrm>
              <a:prstGeom prst="rect">
                <a:avLst/>
              </a:prstGeom>
              <a:blipFill>
                <a:blip r:embed="rId6"/>
                <a:stretch>
                  <a:fillRect l="-1200" t="-1319" r="-1333" b="-3166"/>
                </a:stretch>
              </a:blipFill>
            </p:spPr>
            <p:txBody>
              <a:bodyPr/>
              <a:lstStyle/>
              <a:p>
                <a:r>
                  <a:rPr lang="en-US">
                    <a:noFill/>
                  </a:rPr>
                  <a:t> </a:t>
                </a:r>
              </a:p>
            </p:txBody>
          </p:sp>
        </mc:Fallback>
      </mc:AlternateContent>
    </p:spTree>
    <p:extLst>
      <p:ext uri="{BB962C8B-B14F-4D97-AF65-F5344CB8AC3E}">
        <p14:creationId xmlns:p14="http://schemas.microsoft.com/office/powerpoint/2010/main" val="383717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2"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0DE99-C390-5264-65B0-87C4035B8FF3}"/>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6814875B-5AB9-94C0-8CD8-129F2D821FA2}"/>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AF9B5B3B-F3D2-F12D-ACC0-409F29E931E8}"/>
              </a:ext>
            </a:extLst>
          </p:cNvPr>
          <p:cNvSpPr>
            <a:spLocks noGrp="1"/>
          </p:cNvSpPr>
          <p:nvPr>
            <p:ph type="sldNum" sz="quarter" idx="12"/>
          </p:nvPr>
        </p:nvSpPr>
        <p:spPr/>
        <p:txBody>
          <a:bodyPr/>
          <a:lstStyle/>
          <a:p>
            <a:fld id="{EB60BC02-D374-C843-982C-996C93B0F0E6}" type="slidenum">
              <a:rPr lang="en-QA" smtClean="0"/>
              <a:t>23</a:t>
            </a:fld>
            <a:endParaRPr lang="en-QA" dirty="0"/>
          </a:p>
        </p:txBody>
      </p:sp>
      <p:sp>
        <p:nvSpPr>
          <p:cNvPr id="6" name="Title 1">
            <a:extLst>
              <a:ext uri="{FF2B5EF4-FFF2-40B4-BE49-F238E27FC236}">
                <a16:creationId xmlns:a16="http://schemas.microsoft.com/office/drawing/2014/main" id="{128A3CB9-6070-178E-D001-004EA04D9E60}"/>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latin typeface="+mj-lt"/>
              </a:rPr>
              <a:t>Example: SHAP on a credit scoring model</a:t>
            </a:r>
          </a:p>
        </p:txBody>
      </p:sp>
      <p:grpSp>
        <p:nvGrpSpPr>
          <p:cNvPr id="45" name="Group 44">
            <a:extLst>
              <a:ext uri="{FF2B5EF4-FFF2-40B4-BE49-F238E27FC236}">
                <a16:creationId xmlns:a16="http://schemas.microsoft.com/office/drawing/2014/main" id="{E9A2DF1E-E0CE-7B69-ED97-2A033810D26A}"/>
              </a:ext>
            </a:extLst>
          </p:cNvPr>
          <p:cNvGrpSpPr/>
          <p:nvPr/>
        </p:nvGrpSpPr>
        <p:grpSpPr>
          <a:xfrm>
            <a:off x="7368104" y="1651293"/>
            <a:ext cx="3001813" cy="981182"/>
            <a:chOff x="6999767" y="1402765"/>
            <a:chExt cx="3001813" cy="981182"/>
          </a:xfrm>
        </p:grpSpPr>
        <p:pic>
          <p:nvPicPr>
            <p:cNvPr id="28" name="Graphic 27" descr="Male profile with solid fill">
              <a:extLst>
                <a:ext uri="{FF2B5EF4-FFF2-40B4-BE49-F238E27FC236}">
                  <a16:creationId xmlns:a16="http://schemas.microsoft.com/office/drawing/2014/main" id="{88C9EDDD-F348-09BC-BA94-5968A1FBE68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99767" y="1402765"/>
              <a:ext cx="914400" cy="914400"/>
            </a:xfrm>
            <a:prstGeom prst="rect">
              <a:avLst/>
            </a:prstGeom>
          </p:spPr>
        </p:pic>
        <p:sp>
          <p:nvSpPr>
            <p:cNvPr id="31" name="TextBox 30">
              <a:extLst>
                <a:ext uri="{FF2B5EF4-FFF2-40B4-BE49-F238E27FC236}">
                  <a16:creationId xmlns:a16="http://schemas.microsoft.com/office/drawing/2014/main" id="{69EA8AC4-E3DB-CE66-7C42-A388C882402B}"/>
                </a:ext>
              </a:extLst>
            </p:cNvPr>
            <p:cNvSpPr txBox="1"/>
            <p:nvPr/>
          </p:nvSpPr>
          <p:spPr>
            <a:xfrm>
              <a:off x="7937253" y="1491032"/>
              <a:ext cx="1981200" cy="307777"/>
            </a:xfrm>
            <a:prstGeom prst="rect">
              <a:avLst/>
            </a:prstGeom>
            <a:noFill/>
          </p:spPr>
          <p:txBody>
            <a:bodyPr wrap="square">
              <a:spAutoFit/>
            </a:bodyPr>
            <a:lstStyle/>
            <a:p>
              <a:r>
                <a:rPr lang="en-US" sz="1400" dirty="0">
                  <a:latin typeface="+mj-lt"/>
                </a:rPr>
                <a:t>Income = $50,000</a:t>
              </a:r>
              <a:endParaRPr lang="en-QA" sz="1400" dirty="0"/>
            </a:p>
          </p:txBody>
        </p:sp>
        <p:sp>
          <p:nvSpPr>
            <p:cNvPr id="35" name="TextBox 34">
              <a:extLst>
                <a:ext uri="{FF2B5EF4-FFF2-40B4-BE49-F238E27FC236}">
                  <a16:creationId xmlns:a16="http://schemas.microsoft.com/office/drawing/2014/main" id="{8121FBA4-8E66-2FDC-9464-C3F85288E60B}"/>
                </a:ext>
              </a:extLst>
            </p:cNvPr>
            <p:cNvSpPr txBox="1"/>
            <p:nvPr/>
          </p:nvSpPr>
          <p:spPr>
            <a:xfrm>
              <a:off x="7937253" y="1785584"/>
              <a:ext cx="2064327" cy="307777"/>
            </a:xfrm>
            <a:prstGeom prst="rect">
              <a:avLst/>
            </a:prstGeom>
            <a:noFill/>
          </p:spPr>
          <p:txBody>
            <a:bodyPr wrap="square">
              <a:spAutoFit/>
            </a:bodyPr>
            <a:lstStyle/>
            <a:p>
              <a:r>
                <a:rPr lang="en-US" sz="1400" dirty="0">
                  <a:latin typeface="+mj-lt"/>
                </a:rPr>
                <a:t>Credit Score = 720</a:t>
              </a:r>
            </a:p>
          </p:txBody>
        </p:sp>
        <p:sp>
          <p:nvSpPr>
            <p:cNvPr id="44" name="TextBox 43">
              <a:extLst>
                <a:ext uri="{FF2B5EF4-FFF2-40B4-BE49-F238E27FC236}">
                  <a16:creationId xmlns:a16="http://schemas.microsoft.com/office/drawing/2014/main" id="{4015DF9C-0CFE-3738-2D35-EE81CD1FC764}"/>
                </a:ext>
              </a:extLst>
            </p:cNvPr>
            <p:cNvSpPr txBox="1"/>
            <p:nvPr/>
          </p:nvSpPr>
          <p:spPr>
            <a:xfrm>
              <a:off x="7941877" y="2076170"/>
              <a:ext cx="1676400" cy="307777"/>
            </a:xfrm>
            <a:prstGeom prst="rect">
              <a:avLst/>
            </a:prstGeom>
            <a:noFill/>
          </p:spPr>
          <p:txBody>
            <a:bodyPr wrap="square">
              <a:spAutoFit/>
            </a:bodyPr>
            <a:lstStyle/>
            <a:p>
              <a:r>
                <a:rPr lang="en-US" sz="1400" dirty="0">
                  <a:latin typeface="+mj-lt"/>
                </a:rPr>
                <a:t>Debt Ratio = 35%</a:t>
              </a:r>
            </a:p>
          </p:txBody>
        </p:sp>
      </p:grpSp>
      <p:sp>
        <p:nvSpPr>
          <p:cNvPr id="2" name="TextBox 1">
            <a:extLst>
              <a:ext uri="{FF2B5EF4-FFF2-40B4-BE49-F238E27FC236}">
                <a16:creationId xmlns:a16="http://schemas.microsoft.com/office/drawing/2014/main" id="{FE2C708F-E31E-9665-B21D-C72D9443F9B2}"/>
              </a:ext>
            </a:extLst>
          </p:cNvPr>
          <p:cNvSpPr txBox="1"/>
          <p:nvPr/>
        </p:nvSpPr>
        <p:spPr>
          <a:xfrm>
            <a:off x="690887" y="2621408"/>
            <a:ext cx="2523251" cy="338554"/>
          </a:xfrm>
          <a:prstGeom prst="rect">
            <a:avLst/>
          </a:prstGeom>
          <a:noFill/>
        </p:spPr>
        <p:txBody>
          <a:bodyPr wrap="square">
            <a:spAutoFit/>
          </a:bodyPr>
          <a:lstStyle/>
          <a:p>
            <a:r>
              <a:rPr lang="en-US" sz="1600" dirty="0">
                <a:latin typeface="+mj-lt"/>
              </a:rPr>
              <a:t>LIME Explanation Output: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578F499C-4C6C-C6C1-D535-AC7AE4CEE99D}"/>
                  </a:ext>
                </a:extLst>
              </p:cNvPr>
              <p:cNvGraphicFramePr>
                <a:graphicFrameLocks noGrp="1"/>
              </p:cNvGraphicFramePr>
              <p:nvPr>
                <p:extLst>
                  <p:ext uri="{D42A27DB-BD31-4B8C-83A1-F6EECF244321}">
                    <p14:modId xmlns:p14="http://schemas.microsoft.com/office/powerpoint/2010/main" val="4054891042"/>
                  </p:ext>
                </p:extLst>
              </p:nvPr>
            </p:nvGraphicFramePr>
            <p:xfrm>
              <a:off x="684769" y="3020188"/>
              <a:ext cx="7468631" cy="2172661"/>
            </p:xfrm>
            <a:graphic>
              <a:graphicData uri="http://schemas.openxmlformats.org/drawingml/2006/table">
                <a:tbl>
                  <a:tblPr firstRow="1" bandRow="1">
                    <a:tableStyleId>{00A15C55-8517-42AA-B614-E9B94910E393}</a:tableStyleId>
                  </a:tblPr>
                  <a:tblGrid>
                    <a:gridCol w="2399716">
                      <a:extLst>
                        <a:ext uri="{9D8B030D-6E8A-4147-A177-3AD203B41FA5}">
                          <a16:colId xmlns:a16="http://schemas.microsoft.com/office/drawing/2014/main" val="2459202118"/>
                        </a:ext>
                      </a:extLst>
                    </a:gridCol>
                    <a:gridCol w="1944715">
                      <a:extLst>
                        <a:ext uri="{9D8B030D-6E8A-4147-A177-3AD203B41FA5}">
                          <a16:colId xmlns:a16="http://schemas.microsoft.com/office/drawing/2014/main" val="365583081"/>
                        </a:ext>
                      </a:extLst>
                    </a:gridCol>
                    <a:gridCol w="3124200">
                      <a:extLst>
                        <a:ext uri="{9D8B030D-6E8A-4147-A177-3AD203B41FA5}">
                          <a16:colId xmlns:a16="http://schemas.microsoft.com/office/drawing/2014/main" val="1394554538"/>
                        </a:ext>
                      </a:extLst>
                    </a:gridCol>
                  </a:tblGrid>
                  <a:tr h="435301">
                    <a:tc>
                      <a:txBody>
                        <a:bodyPr/>
                        <a:lstStyle/>
                        <a:p>
                          <a:r>
                            <a:rPr lang="en-US" dirty="0"/>
                            <a:t>Feature</a:t>
                          </a:r>
                          <a:endParaRPr lang="en-QA" dirty="0">
                            <a:latin typeface="+mj-lt"/>
                          </a:endParaRPr>
                        </a:p>
                      </a:txBody>
                      <a:tcPr/>
                    </a:tc>
                    <a:tc>
                      <a:txBody>
                        <a:bodyPr/>
                        <a:lstStyle/>
                        <a:p>
                          <a:r>
                            <a:rPr lang="en-US" dirty="0"/>
                            <a:t>Shapley Value (</a:t>
                          </a:r>
                          <a14:m>
                            <m:oMath xmlns:m="http://schemas.openxmlformats.org/officeDocument/2006/math">
                              <m:r>
                                <a:rPr lang="en-US" i="1" smtClean="0">
                                  <a:latin typeface="Cambria Math" panose="02040503050406030204" pitchFamily="18" charset="0"/>
                                  <a:ea typeface="Cambria Math" panose="02040503050406030204" pitchFamily="18" charset="0"/>
                                </a:rPr>
                                <m:t>𝝓</m:t>
                              </m:r>
                              <m:r>
                                <a:rPr lang="en-US" b="1" i="1" baseline="-25000" smtClean="0">
                                  <a:latin typeface="Cambria Math" panose="02040503050406030204" pitchFamily="18" charset="0"/>
                                  <a:ea typeface="Cambria Math" panose="02040503050406030204" pitchFamily="18" charset="0"/>
                                </a:rPr>
                                <m:t>𝒊</m:t>
                              </m:r>
                            </m:oMath>
                          </a14:m>
                          <a:r>
                            <a:rPr lang="en-US" dirty="0"/>
                            <a:t>​)</a:t>
                          </a:r>
                          <a:endParaRPr lang="en-QA" dirty="0">
                            <a:latin typeface="+mj-lt"/>
                          </a:endParaRPr>
                        </a:p>
                      </a:txBody>
                      <a:tcPr/>
                    </a:tc>
                    <a:tc>
                      <a:txBody>
                        <a:bodyPr/>
                        <a:lstStyle/>
                        <a:p>
                          <a:r>
                            <a:rPr lang="en-US" dirty="0"/>
                            <a:t>Effect on Decision</a:t>
                          </a:r>
                          <a:endParaRPr lang="en-QA" dirty="0">
                            <a:latin typeface="+mj-lt"/>
                          </a:endParaRPr>
                        </a:p>
                      </a:txBody>
                      <a:tcPr/>
                    </a:tc>
                    <a:extLst>
                      <a:ext uri="{0D108BD9-81ED-4DB2-BD59-A6C34878D82A}">
                        <a16:rowId xmlns:a16="http://schemas.microsoft.com/office/drawing/2014/main" val="166145455"/>
                      </a:ext>
                    </a:extLst>
                  </a:tr>
                  <a:tr h="541885">
                    <a:tc>
                      <a:txBody>
                        <a:bodyPr/>
                        <a:lstStyle/>
                        <a:p>
                          <a:r>
                            <a:rPr lang="en-US" dirty="0"/>
                            <a:t>Credit Score</a:t>
                          </a:r>
                          <a:endParaRPr lang="en-US" b="1" dirty="0">
                            <a:latin typeface="+mj-lt"/>
                          </a:endParaRPr>
                        </a:p>
                      </a:txBody>
                      <a:tcPr anchor="ctr"/>
                    </a:tc>
                    <a:tc>
                      <a:txBody>
                        <a:bodyPr/>
                        <a:lstStyle/>
                        <a:p>
                          <a:r>
                            <a:rPr lang="en-US" sz="1600" dirty="0"/>
                            <a:t>+ 0.35</a:t>
                          </a:r>
                          <a:endParaRPr lang="en-US" sz="1600" dirty="0">
                            <a:latin typeface="+mj-lt"/>
                          </a:endParaRPr>
                        </a:p>
                      </a:txBody>
                      <a:tcPr anchor="ctr"/>
                    </a:tc>
                    <a:tc>
                      <a:txBody>
                        <a:bodyPr/>
                        <a:lstStyle/>
                        <a:p>
                          <a:r>
                            <a:rPr lang="en-US" sz="1600" dirty="0"/>
                            <a:t>Strongly increases approval likelihood</a:t>
                          </a:r>
                          <a:endParaRPr lang="en-US" sz="1600" dirty="0">
                            <a:latin typeface="+mj-lt"/>
                          </a:endParaRPr>
                        </a:p>
                      </a:txBody>
                      <a:tcPr anchor="ctr"/>
                    </a:tc>
                    <a:extLst>
                      <a:ext uri="{0D108BD9-81ED-4DB2-BD59-A6C34878D82A}">
                        <a16:rowId xmlns:a16="http://schemas.microsoft.com/office/drawing/2014/main" val="164930562"/>
                      </a:ext>
                    </a:extLst>
                  </a:tr>
                  <a:tr h="535913">
                    <a:tc>
                      <a:txBody>
                        <a:bodyPr/>
                        <a:lstStyle/>
                        <a:p>
                          <a:r>
                            <a:rPr lang="en-US" dirty="0"/>
                            <a:t>Income</a:t>
                          </a:r>
                          <a:endParaRPr lang="en-QA" b="1" dirty="0">
                            <a:latin typeface="+mj-lt"/>
                          </a:endParaRPr>
                        </a:p>
                      </a:txBody>
                      <a:tcPr/>
                    </a:tc>
                    <a:tc>
                      <a:txBody>
                        <a:bodyPr/>
                        <a:lstStyle/>
                        <a:p>
                          <a:r>
                            <a:rPr lang="en-US" sz="1600" dirty="0"/>
                            <a:t>+0.15</a:t>
                          </a:r>
                          <a:endParaRPr lang="en-QA" sz="1600" dirty="0">
                            <a:latin typeface="+mj-lt"/>
                          </a:endParaRPr>
                        </a:p>
                      </a:txBody>
                      <a:tcPr/>
                    </a:tc>
                    <a:tc>
                      <a:txBody>
                        <a:bodyPr/>
                        <a:lstStyle/>
                        <a:p>
                          <a:r>
                            <a:rPr lang="en-US" sz="1600" dirty="0"/>
                            <a:t>Moderately increases approval likelihood</a:t>
                          </a:r>
                          <a:endParaRPr lang="en-QA" sz="1600" dirty="0">
                            <a:latin typeface="+mj-lt"/>
                          </a:endParaRPr>
                        </a:p>
                      </a:txBody>
                      <a:tcPr/>
                    </a:tc>
                    <a:extLst>
                      <a:ext uri="{0D108BD9-81ED-4DB2-BD59-A6C34878D82A}">
                        <a16:rowId xmlns:a16="http://schemas.microsoft.com/office/drawing/2014/main" val="604497564"/>
                      </a:ext>
                    </a:extLst>
                  </a:tr>
                  <a:tr h="499510">
                    <a:tc>
                      <a:txBody>
                        <a:bodyPr/>
                        <a:lstStyle/>
                        <a:p>
                          <a:r>
                            <a:rPr lang="en-US" dirty="0"/>
                            <a:t>Debt Ratio</a:t>
                          </a:r>
                          <a:endParaRPr lang="en-QA" b="1" dirty="0">
                            <a:latin typeface="+mj-lt"/>
                          </a:endParaRPr>
                        </a:p>
                      </a:txBody>
                      <a:tcPr/>
                    </a:tc>
                    <a:tc>
                      <a:txBody>
                        <a:bodyPr/>
                        <a:lstStyle/>
                        <a:p>
                          <a:r>
                            <a:rPr lang="en-US" sz="1600" dirty="0"/>
                            <a:t>- 0.55</a:t>
                          </a:r>
                          <a:endParaRPr lang="en-QA" sz="1600" dirty="0">
                            <a:latin typeface="+mj-lt"/>
                          </a:endParaRPr>
                        </a:p>
                      </a:txBody>
                      <a:tcPr/>
                    </a:tc>
                    <a:tc>
                      <a:txBody>
                        <a:bodyPr/>
                        <a:lstStyle/>
                        <a:p>
                          <a:r>
                            <a:rPr lang="en-US" sz="1600" dirty="0"/>
                            <a:t>Strongly decreases approval likelihood</a:t>
                          </a:r>
                          <a:endParaRPr lang="en-QA" sz="1600" dirty="0">
                            <a:latin typeface="+mj-lt"/>
                          </a:endParaRPr>
                        </a:p>
                      </a:txBody>
                      <a:tcPr/>
                    </a:tc>
                    <a:extLst>
                      <a:ext uri="{0D108BD9-81ED-4DB2-BD59-A6C34878D82A}">
                        <a16:rowId xmlns:a16="http://schemas.microsoft.com/office/drawing/2014/main" val="3316806149"/>
                      </a:ext>
                    </a:extLst>
                  </a:tr>
                </a:tbl>
              </a:graphicData>
            </a:graphic>
          </p:graphicFrame>
        </mc:Choice>
        <mc:Fallback xmlns="">
          <p:graphicFrame>
            <p:nvGraphicFramePr>
              <p:cNvPr id="3" name="Table 2">
                <a:extLst>
                  <a:ext uri="{FF2B5EF4-FFF2-40B4-BE49-F238E27FC236}">
                    <a16:creationId xmlns:a16="http://schemas.microsoft.com/office/drawing/2014/main" id="{578F499C-4C6C-C6C1-D535-AC7AE4CEE99D}"/>
                  </a:ext>
                </a:extLst>
              </p:cNvPr>
              <p:cNvGraphicFramePr>
                <a:graphicFrameLocks noGrp="1"/>
              </p:cNvGraphicFramePr>
              <p:nvPr>
                <p:extLst>
                  <p:ext uri="{D42A27DB-BD31-4B8C-83A1-F6EECF244321}">
                    <p14:modId xmlns:p14="http://schemas.microsoft.com/office/powerpoint/2010/main" val="4054891042"/>
                  </p:ext>
                </p:extLst>
              </p:nvPr>
            </p:nvGraphicFramePr>
            <p:xfrm>
              <a:off x="684769" y="3020188"/>
              <a:ext cx="7468631" cy="2172661"/>
            </p:xfrm>
            <a:graphic>
              <a:graphicData uri="http://schemas.openxmlformats.org/drawingml/2006/table">
                <a:tbl>
                  <a:tblPr firstRow="1" bandRow="1">
                    <a:tableStyleId>{00A15C55-8517-42AA-B614-E9B94910E393}</a:tableStyleId>
                  </a:tblPr>
                  <a:tblGrid>
                    <a:gridCol w="2399716">
                      <a:extLst>
                        <a:ext uri="{9D8B030D-6E8A-4147-A177-3AD203B41FA5}">
                          <a16:colId xmlns:a16="http://schemas.microsoft.com/office/drawing/2014/main" val="2459202118"/>
                        </a:ext>
                      </a:extLst>
                    </a:gridCol>
                    <a:gridCol w="1944715">
                      <a:extLst>
                        <a:ext uri="{9D8B030D-6E8A-4147-A177-3AD203B41FA5}">
                          <a16:colId xmlns:a16="http://schemas.microsoft.com/office/drawing/2014/main" val="365583081"/>
                        </a:ext>
                      </a:extLst>
                    </a:gridCol>
                    <a:gridCol w="3124200">
                      <a:extLst>
                        <a:ext uri="{9D8B030D-6E8A-4147-A177-3AD203B41FA5}">
                          <a16:colId xmlns:a16="http://schemas.microsoft.com/office/drawing/2014/main" val="1394554538"/>
                        </a:ext>
                      </a:extLst>
                    </a:gridCol>
                  </a:tblGrid>
                  <a:tr h="435301">
                    <a:tc>
                      <a:txBody>
                        <a:bodyPr/>
                        <a:lstStyle/>
                        <a:p>
                          <a:r>
                            <a:rPr lang="en-US" dirty="0"/>
                            <a:t>Feature</a:t>
                          </a:r>
                          <a:endParaRPr lang="en-QA" dirty="0">
                            <a:latin typeface="+mj-lt"/>
                          </a:endParaRPr>
                        </a:p>
                      </a:txBody>
                      <a:tcPr/>
                    </a:tc>
                    <a:tc>
                      <a:txBody>
                        <a:bodyPr/>
                        <a:lstStyle/>
                        <a:p>
                          <a:endParaRPr lang="en-US"/>
                        </a:p>
                      </a:txBody>
                      <a:tcPr>
                        <a:blipFill>
                          <a:blip r:embed="rId5"/>
                          <a:stretch>
                            <a:fillRect l="-123824" t="-6944" r="-162069" b="-413889"/>
                          </a:stretch>
                        </a:blipFill>
                      </a:tcPr>
                    </a:tc>
                    <a:tc>
                      <a:txBody>
                        <a:bodyPr/>
                        <a:lstStyle/>
                        <a:p>
                          <a:r>
                            <a:rPr lang="en-US" dirty="0"/>
                            <a:t>Effect on Decision</a:t>
                          </a:r>
                          <a:endParaRPr lang="en-QA" dirty="0">
                            <a:latin typeface="+mj-lt"/>
                          </a:endParaRPr>
                        </a:p>
                      </a:txBody>
                      <a:tcPr/>
                    </a:tc>
                    <a:extLst>
                      <a:ext uri="{0D108BD9-81ED-4DB2-BD59-A6C34878D82A}">
                        <a16:rowId xmlns:a16="http://schemas.microsoft.com/office/drawing/2014/main" val="166145455"/>
                      </a:ext>
                    </a:extLst>
                  </a:tr>
                  <a:tr h="579120">
                    <a:tc>
                      <a:txBody>
                        <a:bodyPr/>
                        <a:lstStyle/>
                        <a:p>
                          <a:r>
                            <a:rPr lang="en-US" dirty="0"/>
                            <a:t>Credit Score</a:t>
                          </a:r>
                          <a:endParaRPr lang="en-US" b="1" dirty="0">
                            <a:latin typeface="+mj-lt"/>
                          </a:endParaRPr>
                        </a:p>
                      </a:txBody>
                      <a:tcPr anchor="ctr"/>
                    </a:tc>
                    <a:tc>
                      <a:txBody>
                        <a:bodyPr/>
                        <a:lstStyle/>
                        <a:p>
                          <a:r>
                            <a:rPr lang="en-US" sz="1600" dirty="0"/>
                            <a:t>+ 0.35</a:t>
                          </a:r>
                          <a:endParaRPr lang="en-US" sz="1600" dirty="0">
                            <a:latin typeface="+mj-lt"/>
                          </a:endParaRPr>
                        </a:p>
                      </a:txBody>
                      <a:tcPr anchor="ctr"/>
                    </a:tc>
                    <a:tc>
                      <a:txBody>
                        <a:bodyPr/>
                        <a:lstStyle/>
                        <a:p>
                          <a:r>
                            <a:rPr lang="en-US" sz="1600" dirty="0"/>
                            <a:t>Strongly increases approval likelihood</a:t>
                          </a:r>
                          <a:endParaRPr lang="en-US" sz="1600" dirty="0">
                            <a:latin typeface="+mj-lt"/>
                          </a:endParaRPr>
                        </a:p>
                      </a:txBody>
                      <a:tcPr anchor="ctr"/>
                    </a:tc>
                    <a:extLst>
                      <a:ext uri="{0D108BD9-81ED-4DB2-BD59-A6C34878D82A}">
                        <a16:rowId xmlns:a16="http://schemas.microsoft.com/office/drawing/2014/main" val="164930562"/>
                      </a:ext>
                    </a:extLst>
                  </a:tr>
                  <a:tr h="579120">
                    <a:tc>
                      <a:txBody>
                        <a:bodyPr/>
                        <a:lstStyle/>
                        <a:p>
                          <a:r>
                            <a:rPr lang="en-US" dirty="0"/>
                            <a:t>Income</a:t>
                          </a:r>
                          <a:endParaRPr lang="en-QA" b="1" dirty="0">
                            <a:latin typeface="+mj-lt"/>
                          </a:endParaRPr>
                        </a:p>
                      </a:txBody>
                      <a:tcPr/>
                    </a:tc>
                    <a:tc>
                      <a:txBody>
                        <a:bodyPr/>
                        <a:lstStyle/>
                        <a:p>
                          <a:r>
                            <a:rPr lang="en-US" sz="1600" dirty="0"/>
                            <a:t>+0.15</a:t>
                          </a:r>
                          <a:endParaRPr lang="en-QA" sz="1600" dirty="0">
                            <a:latin typeface="+mj-lt"/>
                          </a:endParaRPr>
                        </a:p>
                      </a:txBody>
                      <a:tcPr/>
                    </a:tc>
                    <a:tc>
                      <a:txBody>
                        <a:bodyPr/>
                        <a:lstStyle/>
                        <a:p>
                          <a:r>
                            <a:rPr lang="en-US" sz="1600" dirty="0"/>
                            <a:t>Moderately increases approval likelihood</a:t>
                          </a:r>
                          <a:endParaRPr lang="en-QA" sz="1600" dirty="0">
                            <a:latin typeface="+mj-lt"/>
                          </a:endParaRPr>
                        </a:p>
                      </a:txBody>
                      <a:tcPr/>
                    </a:tc>
                    <a:extLst>
                      <a:ext uri="{0D108BD9-81ED-4DB2-BD59-A6C34878D82A}">
                        <a16:rowId xmlns:a16="http://schemas.microsoft.com/office/drawing/2014/main" val="604497564"/>
                      </a:ext>
                    </a:extLst>
                  </a:tr>
                  <a:tr h="579120">
                    <a:tc>
                      <a:txBody>
                        <a:bodyPr/>
                        <a:lstStyle/>
                        <a:p>
                          <a:r>
                            <a:rPr lang="en-US" dirty="0"/>
                            <a:t>Debt Ratio</a:t>
                          </a:r>
                          <a:endParaRPr lang="en-QA" b="1" dirty="0">
                            <a:latin typeface="+mj-lt"/>
                          </a:endParaRPr>
                        </a:p>
                      </a:txBody>
                      <a:tcPr/>
                    </a:tc>
                    <a:tc>
                      <a:txBody>
                        <a:bodyPr/>
                        <a:lstStyle/>
                        <a:p>
                          <a:r>
                            <a:rPr lang="en-US" sz="1600" dirty="0"/>
                            <a:t>- 0.55</a:t>
                          </a:r>
                          <a:endParaRPr lang="en-QA" sz="1600" dirty="0">
                            <a:latin typeface="+mj-lt"/>
                          </a:endParaRPr>
                        </a:p>
                      </a:txBody>
                      <a:tcPr/>
                    </a:tc>
                    <a:tc>
                      <a:txBody>
                        <a:bodyPr/>
                        <a:lstStyle/>
                        <a:p>
                          <a:r>
                            <a:rPr lang="en-US" sz="1600" dirty="0"/>
                            <a:t>Strongly decreases approval likelihood</a:t>
                          </a:r>
                          <a:endParaRPr lang="en-QA" sz="1600" dirty="0">
                            <a:latin typeface="+mj-lt"/>
                          </a:endParaRPr>
                        </a:p>
                      </a:txBody>
                      <a:tcPr/>
                    </a:tc>
                    <a:extLst>
                      <a:ext uri="{0D108BD9-81ED-4DB2-BD59-A6C34878D82A}">
                        <a16:rowId xmlns:a16="http://schemas.microsoft.com/office/drawing/2014/main" val="3316806149"/>
                      </a:ext>
                    </a:extLst>
                  </a:tr>
                </a:tbl>
              </a:graphicData>
            </a:graphic>
          </p:graphicFrame>
        </mc:Fallback>
      </mc:AlternateContent>
      <p:sp>
        <p:nvSpPr>
          <p:cNvPr id="8" name="TextBox 7">
            <a:extLst>
              <a:ext uri="{FF2B5EF4-FFF2-40B4-BE49-F238E27FC236}">
                <a16:creationId xmlns:a16="http://schemas.microsoft.com/office/drawing/2014/main" id="{A929E417-9E01-5D2B-2B25-0926DF4E4A46}"/>
              </a:ext>
            </a:extLst>
          </p:cNvPr>
          <p:cNvSpPr txBox="1"/>
          <p:nvPr/>
        </p:nvSpPr>
        <p:spPr>
          <a:xfrm>
            <a:off x="663293" y="5356019"/>
            <a:ext cx="9519797" cy="584775"/>
          </a:xfrm>
          <a:prstGeom prst="rect">
            <a:avLst/>
          </a:prstGeom>
          <a:noFill/>
        </p:spPr>
        <p:txBody>
          <a:bodyPr wrap="square">
            <a:spAutoFit/>
          </a:bodyPr>
          <a:lstStyle/>
          <a:p>
            <a:r>
              <a:rPr lang="en-US" sz="1600" dirty="0">
                <a:latin typeface="+mj-lt"/>
              </a:rPr>
              <a:t>SHAP reveals that (in addition to credit score) a higher income improves the applicant’s chance to get approved, but not enough to outweigh the high debt ratio.</a:t>
            </a:r>
          </a:p>
        </p:txBody>
      </p:sp>
      <p:sp>
        <p:nvSpPr>
          <p:cNvPr id="7" name="TextBox 6">
            <a:extLst>
              <a:ext uri="{FF2B5EF4-FFF2-40B4-BE49-F238E27FC236}">
                <a16:creationId xmlns:a16="http://schemas.microsoft.com/office/drawing/2014/main" id="{62966C52-5CDD-D317-E106-8E9075C6113C}"/>
              </a:ext>
            </a:extLst>
          </p:cNvPr>
          <p:cNvSpPr txBox="1"/>
          <p:nvPr/>
        </p:nvSpPr>
        <p:spPr>
          <a:xfrm>
            <a:off x="647412" y="2162469"/>
            <a:ext cx="6609438" cy="338554"/>
          </a:xfrm>
          <a:prstGeom prst="rect">
            <a:avLst/>
          </a:prstGeom>
          <a:noFill/>
        </p:spPr>
        <p:txBody>
          <a:bodyPr wrap="square">
            <a:spAutoFit/>
          </a:bodyPr>
          <a:lstStyle/>
          <a:p>
            <a:r>
              <a:rPr lang="en-US" sz="1600" dirty="0">
                <a:highlight>
                  <a:srgbClr val="FFFF00"/>
                </a:highlight>
                <a:latin typeface="+mj-lt"/>
              </a:rPr>
              <a:t>Consider an AI model predicting </a:t>
            </a:r>
            <a:r>
              <a:rPr lang="en-US" sz="1600" b="1" dirty="0">
                <a:highlight>
                  <a:srgbClr val="FFFF00"/>
                </a:highlight>
                <a:latin typeface="+mj-lt"/>
              </a:rPr>
              <a:t>whether a loan application will be approved</a:t>
            </a:r>
            <a:r>
              <a:rPr lang="en-US" sz="1600" dirty="0">
                <a:highlight>
                  <a:srgbClr val="FFFF00"/>
                </a:highlight>
                <a:latin typeface="+mj-lt"/>
              </a:rPr>
              <a:t>.</a:t>
            </a:r>
          </a:p>
        </p:txBody>
      </p:sp>
    </p:spTree>
    <p:extLst>
      <p:ext uri="{BB962C8B-B14F-4D97-AF65-F5344CB8AC3E}">
        <p14:creationId xmlns:p14="http://schemas.microsoft.com/office/powerpoint/2010/main" val="243891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4B03-1AC2-584A-0114-B227CA6EFC4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1F690ECF-B2A5-2D65-68E0-1B4BF27A4E40}"/>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09A8C282-5CA9-587C-7297-B1C82158DA37}"/>
              </a:ext>
            </a:extLst>
          </p:cNvPr>
          <p:cNvSpPr>
            <a:spLocks noGrp="1"/>
          </p:cNvSpPr>
          <p:nvPr>
            <p:ph type="sldNum" sz="quarter" idx="12"/>
          </p:nvPr>
        </p:nvSpPr>
        <p:spPr/>
        <p:txBody>
          <a:bodyPr/>
          <a:lstStyle/>
          <a:p>
            <a:fld id="{EB60BC02-D374-C843-982C-996C93B0F0E6}" type="slidenum">
              <a:rPr lang="en-QA" smtClean="0"/>
              <a:t>24</a:t>
            </a:fld>
            <a:endParaRPr lang="en-QA"/>
          </a:p>
        </p:txBody>
      </p:sp>
      <p:sp>
        <p:nvSpPr>
          <p:cNvPr id="6" name="Title 1">
            <a:extLst>
              <a:ext uri="{FF2B5EF4-FFF2-40B4-BE49-F238E27FC236}">
                <a16:creationId xmlns:a16="http://schemas.microsoft.com/office/drawing/2014/main" id="{51EB0E22-A524-D7CD-3384-E9C79CC91669}"/>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t>Applications of Explainable AI</a:t>
            </a:r>
            <a:endParaRPr lang="en-QA" sz="3200" b="1" dirty="0">
              <a:latin typeface="+mj-lt"/>
            </a:endParaRPr>
          </a:p>
        </p:txBody>
      </p:sp>
      <p:sp>
        <p:nvSpPr>
          <p:cNvPr id="3" name="TextBox 2">
            <a:extLst>
              <a:ext uri="{FF2B5EF4-FFF2-40B4-BE49-F238E27FC236}">
                <a16:creationId xmlns:a16="http://schemas.microsoft.com/office/drawing/2014/main" id="{C4592438-F941-0302-18CF-1EC883B822F7}"/>
              </a:ext>
            </a:extLst>
          </p:cNvPr>
          <p:cNvSpPr txBox="1"/>
          <p:nvPr/>
        </p:nvSpPr>
        <p:spPr>
          <a:xfrm>
            <a:off x="567006" y="1690688"/>
            <a:ext cx="9609157" cy="190084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Finance &amp; Banking</a:t>
            </a:r>
          </a:p>
          <a:p>
            <a:pPr marL="742950" lvl="1" indent="-285750">
              <a:lnSpc>
                <a:spcPct val="150000"/>
              </a:lnSpc>
              <a:buFont typeface="Wingdings" pitchFamily="2" charset="2"/>
              <a:buChar char="Ø"/>
            </a:pPr>
            <a:r>
              <a:rPr lang="en-US" sz="1600" dirty="0">
                <a:latin typeface="+mj-lt"/>
              </a:rPr>
              <a:t>Loan Approval &amp; Credit Scoring: XAI helps explain why a loan was approved or denied, ensuring fairness and compliance with regulations like GDPR and Fair Lending Act.</a:t>
            </a:r>
          </a:p>
          <a:p>
            <a:pPr marL="742950" lvl="1" indent="-285750">
              <a:lnSpc>
                <a:spcPct val="150000"/>
              </a:lnSpc>
              <a:buFont typeface="Wingdings" pitchFamily="2" charset="2"/>
              <a:buChar char="Ø"/>
            </a:pPr>
            <a:r>
              <a:rPr lang="en-US" sz="1600" dirty="0">
                <a:latin typeface="+mj-lt"/>
              </a:rPr>
              <a:t>Fraud Detection: XAI helps financial institutions interpret anomalies in transactions to detect fraudulent activities.</a:t>
            </a:r>
            <a:endParaRPr lang="en-QA" sz="1600" dirty="0">
              <a:latin typeface="+mj-lt"/>
            </a:endParaRPr>
          </a:p>
        </p:txBody>
      </p:sp>
      <p:sp>
        <p:nvSpPr>
          <p:cNvPr id="8" name="TextBox 7">
            <a:extLst>
              <a:ext uri="{FF2B5EF4-FFF2-40B4-BE49-F238E27FC236}">
                <a16:creationId xmlns:a16="http://schemas.microsoft.com/office/drawing/2014/main" id="{EE32F3AE-58AD-FF85-34A8-1952D573EDF4}"/>
              </a:ext>
            </a:extLst>
          </p:cNvPr>
          <p:cNvSpPr txBox="1"/>
          <p:nvPr/>
        </p:nvSpPr>
        <p:spPr>
          <a:xfrm>
            <a:off x="567006" y="3605715"/>
            <a:ext cx="10343448"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Healthcare &amp; Medicine</a:t>
            </a:r>
          </a:p>
          <a:p>
            <a:pPr marL="742950" lvl="1" indent="-285750">
              <a:lnSpc>
                <a:spcPct val="150000"/>
              </a:lnSpc>
              <a:buFont typeface="Wingdings" pitchFamily="2" charset="2"/>
              <a:buChar char="Ø"/>
            </a:pPr>
            <a:r>
              <a:rPr lang="en-US" sz="1600" dirty="0">
                <a:latin typeface="+mj-lt"/>
              </a:rPr>
              <a:t>Medical Diagnosis: XAI ensures that decisions are interpretable, helping doctors validate AI recommendations.</a:t>
            </a:r>
          </a:p>
          <a:p>
            <a:pPr marL="742950" lvl="1" indent="-285750">
              <a:lnSpc>
                <a:spcPct val="150000"/>
              </a:lnSpc>
              <a:buFont typeface="Wingdings" pitchFamily="2" charset="2"/>
              <a:buChar char="Ø"/>
            </a:pPr>
            <a:r>
              <a:rPr lang="en-US" sz="1600" dirty="0">
                <a:latin typeface="+mj-lt"/>
              </a:rPr>
              <a:t>Drug Discovery: XAI explains why certain chemical compounds are selected for new drug development.</a:t>
            </a:r>
            <a:endParaRPr lang="en-QA" sz="1600" dirty="0">
              <a:latin typeface="+mj-lt"/>
            </a:endParaRPr>
          </a:p>
        </p:txBody>
      </p:sp>
      <p:sp>
        <p:nvSpPr>
          <p:cNvPr id="10" name="TextBox 9">
            <a:extLst>
              <a:ext uri="{FF2B5EF4-FFF2-40B4-BE49-F238E27FC236}">
                <a16:creationId xmlns:a16="http://schemas.microsoft.com/office/drawing/2014/main" id="{097AD619-2D5D-2062-8FEE-E92096F0C6D5}"/>
              </a:ext>
            </a:extLst>
          </p:cNvPr>
          <p:cNvSpPr txBox="1"/>
          <p:nvPr/>
        </p:nvSpPr>
        <p:spPr>
          <a:xfrm>
            <a:off x="567006" y="4823568"/>
            <a:ext cx="9893176" cy="15315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Law &amp; Policy</a:t>
            </a:r>
          </a:p>
          <a:p>
            <a:pPr marL="742950" lvl="1" indent="-285750">
              <a:lnSpc>
                <a:spcPct val="150000"/>
              </a:lnSpc>
              <a:buFont typeface="Wingdings" pitchFamily="2" charset="2"/>
              <a:buChar char="Ø"/>
            </a:pPr>
            <a:r>
              <a:rPr lang="en-US" sz="1600" dirty="0">
                <a:latin typeface="+mj-lt"/>
              </a:rPr>
              <a:t>Judicial Decision Support: XAI ensures transparency so that legal professionals understand AI-generated legal recommendations.</a:t>
            </a:r>
          </a:p>
          <a:p>
            <a:pPr marL="742950" lvl="1" indent="-285750">
              <a:lnSpc>
                <a:spcPct val="150000"/>
              </a:lnSpc>
              <a:buFont typeface="Wingdings" pitchFamily="2" charset="2"/>
              <a:buChar char="Ø"/>
            </a:pPr>
            <a:r>
              <a:rPr lang="en-US" sz="1600" dirty="0">
                <a:latin typeface="+mj-lt"/>
              </a:rPr>
              <a:t>Fair Hiring Practices: XAI ensures job applications are evaluated fairly, reducing bias.</a:t>
            </a:r>
            <a:endParaRPr lang="en-QA" sz="1600" dirty="0">
              <a:latin typeface="+mj-lt"/>
            </a:endParaRPr>
          </a:p>
        </p:txBody>
      </p:sp>
    </p:spTree>
    <p:extLst>
      <p:ext uri="{BB962C8B-B14F-4D97-AF65-F5344CB8AC3E}">
        <p14:creationId xmlns:p14="http://schemas.microsoft.com/office/powerpoint/2010/main" val="424151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42047-C0BF-B572-89A1-169774ED734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AE76EB2-E400-6212-E45C-2D7B60199C78}"/>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86601AF3-9DED-0C12-28BA-4C98F803414D}"/>
              </a:ext>
            </a:extLst>
          </p:cNvPr>
          <p:cNvSpPr>
            <a:spLocks noGrp="1"/>
          </p:cNvSpPr>
          <p:nvPr>
            <p:ph type="sldNum" sz="quarter" idx="12"/>
          </p:nvPr>
        </p:nvSpPr>
        <p:spPr/>
        <p:txBody>
          <a:bodyPr/>
          <a:lstStyle/>
          <a:p>
            <a:fld id="{EB60BC02-D374-C843-982C-996C93B0F0E6}" type="slidenum">
              <a:rPr lang="en-QA" smtClean="0"/>
              <a:t>25</a:t>
            </a:fld>
            <a:endParaRPr lang="en-QA"/>
          </a:p>
        </p:txBody>
      </p:sp>
      <p:sp>
        <p:nvSpPr>
          <p:cNvPr id="6" name="Title 1">
            <a:extLst>
              <a:ext uri="{FF2B5EF4-FFF2-40B4-BE49-F238E27FC236}">
                <a16:creationId xmlns:a16="http://schemas.microsoft.com/office/drawing/2014/main" id="{733514B5-854A-9552-6ADF-70A1EAE2EBA4}"/>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t>Applications of Explainable AI</a:t>
            </a:r>
            <a:endParaRPr lang="en-QA" sz="3200" b="1" dirty="0">
              <a:latin typeface="+mj-lt"/>
            </a:endParaRPr>
          </a:p>
        </p:txBody>
      </p:sp>
      <p:sp>
        <p:nvSpPr>
          <p:cNvPr id="13" name="TextBox 12">
            <a:extLst>
              <a:ext uri="{FF2B5EF4-FFF2-40B4-BE49-F238E27FC236}">
                <a16:creationId xmlns:a16="http://schemas.microsoft.com/office/drawing/2014/main" id="{2A1B0F94-B049-DFD9-E653-588EB6B62A5C}"/>
              </a:ext>
            </a:extLst>
          </p:cNvPr>
          <p:cNvSpPr txBox="1"/>
          <p:nvPr/>
        </p:nvSpPr>
        <p:spPr>
          <a:xfrm>
            <a:off x="684770" y="1690688"/>
            <a:ext cx="9872394"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Autonomous Systems &amp; Transportation</a:t>
            </a:r>
          </a:p>
          <a:p>
            <a:pPr marL="742950" lvl="1" indent="-285750">
              <a:lnSpc>
                <a:spcPct val="150000"/>
              </a:lnSpc>
              <a:buFont typeface="Wingdings" pitchFamily="2" charset="2"/>
              <a:buChar char="Ø"/>
            </a:pPr>
            <a:r>
              <a:rPr lang="en-US" sz="1600" dirty="0">
                <a:latin typeface="+mj-lt"/>
              </a:rPr>
              <a:t>Self-Driving Cars: XAI explains why a vehicle took a particular action, improving safety and accountability.</a:t>
            </a:r>
          </a:p>
          <a:p>
            <a:pPr marL="742950" lvl="1" indent="-285750">
              <a:lnSpc>
                <a:spcPct val="150000"/>
              </a:lnSpc>
              <a:buFont typeface="Wingdings" pitchFamily="2" charset="2"/>
              <a:buChar char="Ø"/>
            </a:pPr>
            <a:r>
              <a:rPr lang="en-US" sz="1600" dirty="0">
                <a:latin typeface="+mj-lt"/>
              </a:rPr>
              <a:t>Air Traffic Control: XAI provides clear explanations for better decision-making.</a:t>
            </a:r>
          </a:p>
        </p:txBody>
      </p:sp>
      <p:sp>
        <p:nvSpPr>
          <p:cNvPr id="7" name="TextBox 6">
            <a:extLst>
              <a:ext uri="{FF2B5EF4-FFF2-40B4-BE49-F238E27FC236}">
                <a16:creationId xmlns:a16="http://schemas.microsoft.com/office/drawing/2014/main" id="{4411ABC5-B09C-EFD5-AC33-5498D190C5DF}"/>
              </a:ext>
            </a:extLst>
          </p:cNvPr>
          <p:cNvSpPr txBox="1"/>
          <p:nvPr/>
        </p:nvSpPr>
        <p:spPr>
          <a:xfrm>
            <a:off x="684769" y="3016251"/>
            <a:ext cx="9872393"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Cybersecurity &amp; Fraud Detection</a:t>
            </a:r>
          </a:p>
          <a:p>
            <a:pPr marL="742950" lvl="1" indent="-285750">
              <a:lnSpc>
                <a:spcPct val="150000"/>
              </a:lnSpc>
              <a:buFont typeface="Wingdings" pitchFamily="2" charset="2"/>
              <a:buChar char="Ø"/>
            </a:pPr>
            <a:r>
              <a:rPr lang="en-US" sz="1600" dirty="0">
                <a:latin typeface="+mj-lt"/>
              </a:rPr>
              <a:t>Threat Detection: XAI helps analysts understand why a particular activity is classified as a threat.</a:t>
            </a:r>
          </a:p>
          <a:p>
            <a:pPr marL="742950" lvl="1" indent="-285750">
              <a:lnSpc>
                <a:spcPct val="150000"/>
              </a:lnSpc>
              <a:buFont typeface="Wingdings" pitchFamily="2" charset="2"/>
              <a:buChar char="Ø"/>
            </a:pPr>
            <a:r>
              <a:rPr lang="en-US" sz="1600" dirty="0">
                <a:latin typeface="+mj-lt"/>
              </a:rPr>
              <a:t>Phishing Detection: XAI clarifies how email patterns are classified as fraudulent, improving security awareness.</a:t>
            </a:r>
            <a:endParaRPr lang="en-QA" sz="1600" dirty="0">
              <a:latin typeface="+mj-lt"/>
            </a:endParaRPr>
          </a:p>
        </p:txBody>
      </p:sp>
      <p:sp>
        <p:nvSpPr>
          <p:cNvPr id="11" name="TextBox 10">
            <a:extLst>
              <a:ext uri="{FF2B5EF4-FFF2-40B4-BE49-F238E27FC236}">
                <a16:creationId xmlns:a16="http://schemas.microsoft.com/office/drawing/2014/main" id="{122FFE41-6FA0-149C-6890-43C32DC89F9E}"/>
              </a:ext>
            </a:extLst>
          </p:cNvPr>
          <p:cNvSpPr txBox="1"/>
          <p:nvPr/>
        </p:nvSpPr>
        <p:spPr>
          <a:xfrm>
            <a:off x="684769" y="4642474"/>
            <a:ext cx="9872392"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Retail &amp; E-commerce</a:t>
            </a:r>
          </a:p>
          <a:p>
            <a:pPr marL="742950" lvl="1" indent="-285750">
              <a:lnSpc>
                <a:spcPct val="150000"/>
              </a:lnSpc>
              <a:buFont typeface="Wingdings" pitchFamily="2" charset="2"/>
              <a:buChar char="Ø"/>
            </a:pPr>
            <a:r>
              <a:rPr lang="en-US" sz="1600" dirty="0">
                <a:latin typeface="+mj-lt"/>
              </a:rPr>
              <a:t>Personalized Recommendations: XAI ensures that recommendations are interpretable and privacy-friendly.</a:t>
            </a:r>
          </a:p>
          <a:p>
            <a:pPr marL="742950" lvl="1" indent="-285750">
              <a:lnSpc>
                <a:spcPct val="150000"/>
              </a:lnSpc>
              <a:buFont typeface="Wingdings" pitchFamily="2" charset="2"/>
              <a:buChar char="Ø"/>
            </a:pPr>
            <a:r>
              <a:rPr lang="en-US" sz="1600" dirty="0">
                <a:latin typeface="+mj-lt"/>
              </a:rPr>
              <a:t>Dynamic Pricing: XAI explains why prices fluctuate, improving transparency.</a:t>
            </a:r>
            <a:endParaRPr lang="en-QA" sz="1600" dirty="0">
              <a:latin typeface="+mj-lt"/>
            </a:endParaRPr>
          </a:p>
        </p:txBody>
      </p:sp>
    </p:spTree>
    <p:extLst>
      <p:ext uri="{BB962C8B-B14F-4D97-AF65-F5344CB8AC3E}">
        <p14:creationId xmlns:p14="http://schemas.microsoft.com/office/powerpoint/2010/main" val="408048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7"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B5F0F-1FB9-09DC-340B-8AD5A945E78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D35DE3B5-F697-9BB6-7676-345DC8A659BD}"/>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6FB80639-89A0-C4F2-2BA4-45D00EE5E7AE}"/>
              </a:ext>
            </a:extLst>
          </p:cNvPr>
          <p:cNvSpPr>
            <a:spLocks noGrp="1"/>
          </p:cNvSpPr>
          <p:nvPr>
            <p:ph type="sldNum" sz="quarter" idx="12"/>
          </p:nvPr>
        </p:nvSpPr>
        <p:spPr/>
        <p:txBody>
          <a:bodyPr/>
          <a:lstStyle/>
          <a:p>
            <a:fld id="{EB60BC02-D374-C843-982C-996C93B0F0E6}" type="slidenum">
              <a:rPr lang="en-QA" smtClean="0"/>
              <a:t>26</a:t>
            </a:fld>
            <a:endParaRPr lang="en-QA"/>
          </a:p>
        </p:txBody>
      </p:sp>
      <p:sp>
        <p:nvSpPr>
          <p:cNvPr id="6" name="Title 1">
            <a:extLst>
              <a:ext uri="{FF2B5EF4-FFF2-40B4-BE49-F238E27FC236}">
                <a16:creationId xmlns:a16="http://schemas.microsoft.com/office/drawing/2014/main" id="{1BB12BC6-2695-24B8-D111-0905FA570976}"/>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t>Challenges of Explainable AI</a:t>
            </a:r>
            <a:endParaRPr lang="en-QA" sz="3200" b="1" dirty="0">
              <a:latin typeface="+mj-lt"/>
            </a:endParaRPr>
          </a:p>
        </p:txBody>
      </p:sp>
      <p:sp>
        <p:nvSpPr>
          <p:cNvPr id="3" name="TextBox 2">
            <a:extLst>
              <a:ext uri="{FF2B5EF4-FFF2-40B4-BE49-F238E27FC236}">
                <a16:creationId xmlns:a16="http://schemas.microsoft.com/office/drawing/2014/main" id="{051B4DD6-268D-B12C-873A-334BF2D1C1D6}"/>
              </a:ext>
            </a:extLst>
          </p:cNvPr>
          <p:cNvSpPr txBox="1"/>
          <p:nvPr/>
        </p:nvSpPr>
        <p:spPr>
          <a:xfrm>
            <a:off x="582247" y="1513999"/>
            <a:ext cx="11027505" cy="79284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Scalability Issues: </a:t>
            </a:r>
            <a:r>
              <a:rPr lang="en-US" sz="1600" dirty="0">
                <a:latin typeface="+mj-lt"/>
              </a:rPr>
              <a:t>Many explainability methods (like SHAP and LIME) require running the model multiple times to generate explanations, making them computationally expensive for large datasets and deep learning models.</a:t>
            </a:r>
          </a:p>
        </p:txBody>
      </p:sp>
      <p:sp>
        <p:nvSpPr>
          <p:cNvPr id="8" name="TextBox 7">
            <a:extLst>
              <a:ext uri="{FF2B5EF4-FFF2-40B4-BE49-F238E27FC236}">
                <a16:creationId xmlns:a16="http://schemas.microsoft.com/office/drawing/2014/main" id="{15FAF1AB-6192-7C86-81B7-BACB07A9E3B9}"/>
              </a:ext>
            </a:extLst>
          </p:cNvPr>
          <p:cNvSpPr txBox="1"/>
          <p:nvPr/>
        </p:nvSpPr>
        <p:spPr>
          <a:xfrm>
            <a:off x="582245" y="2309400"/>
            <a:ext cx="10771553"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Fairness and Bias in Explanations</a:t>
            </a:r>
          </a:p>
          <a:p>
            <a:pPr marL="742950" lvl="1" indent="-285750">
              <a:lnSpc>
                <a:spcPct val="150000"/>
              </a:lnSpc>
              <a:buFont typeface="Wingdings" pitchFamily="2" charset="2"/>
              <a:buChar char="Ø"/>
            </a:pPr>
            <a:r>
              <a:rPr lang="en-US" sz="1600" dirty="0">
                <a:latin typeface="+mj-lt"/>
              </a:rPr>
              <a:t>AI explanations may themselves be biased if the underlying model is trained on biased data.</a:t>
            </a:r>
          </a:p>
          <a:p>
            <a:pPr marL="742950" lvl="1" indent="-285750">
              <a:lnSpc>
                <a:spcPct val="150000"/>
              </a:lnSpc>
              <a:buFont typeface="Wingdings" pitchFamily="2" charset="2"/>
              <a:buChar char="Ø"/>
            </a:pPr>
            <a:r>
              <a:rPr lang="en-US" sz="1600" dirty="0">
                <a:latin typeface="+mj-lt"/>
              </a:rPr>
              <a:t>Some explainability methods tend to favor certain features over others, leading to misinterpretations.</a:t>
            </a:r>
          </a:p>
        </p:txBody>
      </p:sp>
      <p:sp>
        <p:nvSpPr>
          <p:cNvPr id="10" name="TextBox 9">
            <a:extLst>
              <a:ext uri="{FF2B5EF4-FFF2-40B4-BE49-F238E27FC236}">
                <a16:creationId xmlns:a16="http://schemas.microsoft.com/office/drawing/2014/main" id="{EA07FEB8-0E2C-1207-6A28-CF884F891F90}"/>
              </a:ext>
            </a:extLst>
          </p:cNvPr>
          <p:cNvSpPr txBox="1"/>
          <p:nvPr/>
        </p:nvSpPr>
        <p:spPr>
          <a:xfrm>
            <a:off x="582246" y="4884284"/>
            <a:ext cx="10771552" cy="153151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Lack of Standardization</a:t>
            </a:r>
          </a:p>
          <a:p>
            <a:pPr marL="742950" lvl="1" indent="-285750">
              <a:lnSpc>
                <a:spcPct val="150000"/>
              </a:lnSpc>
              <a:buFont typeface="Wingdings" pitchFamily="2" charset="2"/>
              <a:buChar char="Ø"/>
            </a:pPr>
            <a:r>
              <a:rPr lang="en-US" sz="1600" dirty="0">
                <a:latin typeface="+mj-lt"/>
              </a:rPr>
              <a:t>There is no universal framework to evaluate how "good" an explanation is.</a:t>
            </a:r>
          </a:p>
          <a:p>
            <a:pPr marL="742950" lvl="1" indent="-285750">
              <a:lnSpc>
                <a:spcPct val="150000"/>
              </a:lnSpc>
              <a:buFont typeface="Wingdings" pitchFamily="2" charset="2"/>
              <a:buChar char="Ø"/>
            </a:pPr>
            <a:r>
              <a:rPr lang="en-US" sz="1600" dirty="0">
                <a:latin typeface="+mj-lt"/>
              </a:rPr>
              <a:t>Different explainability techniques may provide contradictory results, making it hard to decide which explanation is most trustworthy</a:t>
            </a:r>
            <a:endParaRPr lang="en-QA" sz="1600" dirty="0">
              <a:latin typeface="+mj-lt"/>
            </a:endParaRPr>
          </a:p>
        </p:txBody>
      </p:sp>
      <p:sp>
        <p:nvSpPr>
          <p:cNvPr id="13" name="TextBox 12">
            <a:extLst>
              <a:ext uri="{FF2B5EF4-FFF2-40B4-BE49-F238E27FC236}">
                <a16:creationId xmlns:a16="http://schemas.microsoft.com/office/drawing/2014/main" id="{A3AD086E-8E00-907D-BAB8-EE9AC1D5DC5F}"/>
              </a:ext>
            </a:extLst>
          </p:cNvPr>
          <p:cNvSpPr txBox="1"/>
          <p:nvPr/>
        </p:nvSpPr>
        <p:spPr>
          <a:xfrm>
            <a:off x="582246" y="3626407"/>
            <a:ext cx="10771552" cy="116217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b="1" dirty="0">
                <a:latin typeface="+mj-lt"/>
              </a:rPr>
              <a:t>Adversarial Robustness</a:t>
            </a:r>
          </a:p>
          <a:p>
            <a:pPr marL="742950" lvl="1" indent="-285750">
              <a:lnSpc>
                <a:spcPct val="150000"/>
              </a:lnSpc>
              <a:buFont typeface="Wingdings" pitchFamily="2" charset="2"/>
              <a:buChar char="Ø"/>
            </a:pPr>
            <a:r>
              <a:rPr lang="en-US" sz="1600" dirty="0">
                <a:latin typeface="+mj-lt"/>
              </a:rPr>
              <a:t>AI explanations can be manipulated by adversarial attacks, making them unreliable.</a:t>
            </a:r>
          </a:p>
          <a:p>
            <a:pPr marL="742950" lvl="1" indent="-285750">
              <a:lnSpc>
                <a:spcPct val="150000"/>
              </a:lnSpc>
              <a:buFont typeface="Wingdings" pitchFamily="2" charset="2"/>
              <a:buChar char="Ø"/>
            </a:pPr>
            <a:r>
              <a:rPr lang="en-US" sz="1600" dirty="0">
                <a:latin typeface="+mj-lt"/>
              </a:rPr>
              <a:t>Attackers can design adversarial examples that lead to misleading explanations.</a:t>
            </a:r>
          </a:p>
        </p:txBody>
      </p:sp>
    </p:spTree>
    <p:extLst>
      <p:ext uri="{BB962C8B-B14F-4D97-AF65-F5344CB8AC3E}">
        <p14:creationId xmlns:p14="http://schemas.microsoft.com/office/powerpoint/2010/main" val="37736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1B193-A3C2-EBC7-2077-F9F44734D3D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6C8E361-4683-7B13-9653-88B885E74CE9}"/>
              </a:ext>
            </a:extLst>
          </p:cNvPr>
          <p:cNvSpPr>
            <a:spLocks noGrp="1"/>
          </p:cNvSpPr>
          <p:nvPr>
            <p:ph type="ftr" sz="quarter" idx="11"/>
          </p:nvPr>
        </p:nvSpPr>
        <p:spPr/>
        <p:txBody>
          <a:bodyPr/>
          <a:lstStyle/>
          <a:p>
            <a:r>
              <a:rPr lang="en-US"/>
              <a:t>DSAI 4201 - Selected Topics in Data Science</a:t>
            </a:r>
            <a:endParaRPr lang="en-QA"/>
          </a:p>
        </p:txBody>
      </p:sp>
      <p:sp>
        <p:nvSpPr>
          <p:cNvPr id="5" name="Slide Number Placeholder 4">
            <a:extLst>
              <a:ext uri="{FF2B5EF4-FFF2-40B4-BE49-F238E27FC236}">
                <a16:creationId xmlns:a16="http://schemas.microsoft.com/office/drawing/2014/main" id="{E691CDB3-0BAB-A6E5-3191-7675D4697314}"/>
              </a:ext>
            </a:extLst>
          </p:cNvPr>
          <p:cNvSpPr>
            <a:spLocks noGrp="1"/>
          </p:cNvSpPr>
          <p:nvPr>
            <p:ph type="sldNum" sz="quarter" idx="12"/>
          </p:nvPr>
        </p:nvSpPr>
        <p:spPr/>
        <p:txBody>
          <a:bodyPr/>
          <a:lstStyle/>
          <a:p>
            <a:fld id="{EB60BC02-D374-C843-982C-996C93B0F0E6}" type="slidenum">
              <a:rPr lang="en-QA" smtClean="0"/>
              <a:t>27</a:t>
            </a:fld>
            <a:endParaRPr lang="en-QA"/>
          </a:p>
        </p:txBody>
      </p:sp>
      <p:sp>
        <p:nvSpPr>
          <p:cNvPr id="6" name="Title 1">
            <a:extLst>
              <a:ext uri="{FF2B5EF4-FFF2-40B4-BE49-F238E27FC236}">
                <a16:creationId xmlns:a16="http://schemas.microsoft.com/office/drawing/2014/main" id="{72F2833D-DEBF-B2DE-F96D-2F478CC59227}"/>
              </a:ext>
            </a:extLst>
          </p:cNvPr>
          <p:cNvSpPr>
            <a:spLocks noGrp="1"/>
          </p:cNvSpPr>
          <p:nvPr>
            <p:ph type="title"/>
          </p:nvPr>
        </p:nvSpPr>
        <p:spPr>
          <a:xfrm>
            <a:off x="684770" y="365125"/>
            <a:ext cx="9373630" cy="1325563"/>
          </a:xfrm>
        </p:spPr>
        <p:txBody>
          <a:bodyPr>
            <a:normAutofit/>
          </a:bodyPr>
          <a:lstStyle/>
          <a:p>
            <a:pPr>
              <a:lnSpc>
                <a:spcPct val="200000"/>
              </a:lnSpc>
            </a:pPr>
            <a:r>
              <a:rPr lang="en-US" sz="3200" b="1" dirty="0"/>
              <a:t>Future Trends in Explainable AI</a:t>
            </a:r>
            <a:endParaRPr lang="en-QA" sz="3200" b="1" dirty="0">
              <a:latin typeface="+mj-lt"/>
            </a:endParaRPr>
          </a:p>
        </p:txBody>
      </p:sp>
      <p:sp>
        <p:nvSpPr>
          <p:cNvPr id="7" name="TextBox 6">
            <a:extLst>
              <a:ext uri="{FF2B5EF4-FFF2-40B4-BE49-F238E27FC236}">
                <a16:creationId xmlns:a16="http://schemas.microsoft.com/office/drawing/2014/main" id="{209E57D4-AC6A-028D-6D44-AE42D844F7BD}"/>
              </a:ext>
            </a:extLst>
          </p:cNvPr>
          <p:cNvSpPr txBox="1"/>
          <p:nvPr/>
        </p:nvSpPr>
        <p:spPr>
          <a:xfrm>
            <a:off x="356239" y="1555036"/>
            <a:ext cx="10997561" cy="1323439"/>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j-lt"/>
              </a:rPr>
              <a:t>Interactive AI Explanations</a:t>
            </a:r>
          </a:p>
          <a:p>
            <a:pPr marL="742950" lvl="1" indent="-285750">
              <a:buFont typeface="Wingdings" pitchFamily="2" charset="2"/>
              <a:buChar char="Ø"/>
            </a:pPr>
            <a:r>
              <a:rPr lang="en-US" sz="1600" dirty="0">
                <a:latin typeface="+mj-lt"/>
              </a:rPr>
              <a:t>Moving from static explanations to interactive, user-driven explanations where users can ask questions and receive personalized responses.</a:t>
            </a:r>
          </a:p>
          <a:p>
            <a:pPr marL="742950" lvl="1" indent="-285750">
              <a:buFont typeface="Wingdings" pitchFamily="2" charset="2"/>
              <a:buChar char="Ø"/>
            </a:pPr>
            <a:r>
              <a:rPr lang="en-US" sz="1600" dirty="0">
                <a:latin typeface="+mj-lt"/>
              </a:rPr>
              <a:t>Example: A doctor using an AI-powered diagnostic tool can adjust parameters and explore how different medical factors influence predictions.</a:t>
            </a:r>
          </a:p>
        </p:txBody>
      </p:sp>
      <p:sp>
        <p:nvSpPr>
          <p:cNvPr id="9" name="TextBox 8">
            <a:extLst>
              <a:ext uri="{FF2B5EF4-FFF2-40B4-BE49-F238E27FC236}">
                <a16:creationId xmlns:a16="http://schemas.microsoft.com/office/drawing/2014/main" id="{4D8918D8-26CA-B67B-0B3E-D094F50789EA}"/>
              </a:ext>
            </a:extLst>
          </p:cNvPr>
          <p:cNvSpPr txBox="1"/>
          <p:nvPr/>
        </p:nvSpPr>
        <p:spPr>
          <a:xfrm>
            <a:off x="356239" y="2878475"/>
            <a:ext cx="10727397" cy="1077218"/>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j-lt"/>
              </a:rPr>
              <a:t>Human-in-the-Loop Explainability</a:t>
            </a:r>
          </a:p>
          <a:p>
            <a:pPr marL="742950" lvl="1" indent="-285750">
              <a:buFont typeface="Wingdings" pitchFamily="2" charset="2"/>
              <a:buChar char="Ø"/>
            </a:pPr>
            <a:r>
              <a:rPr lang="en-US" sz="1600" dirty="0">
                <a:latin typeface="+mj-lt"/>
              </a:rPr>
              <a:t>AI explanations will become more collaborative, where humans and AI work together to refine explanations.</a:t>
            </a:r>
          </a:p>
          <a:p>
            <a:pPr marL="742950" lvl="1" indent="-285750">
              <a:buFont typeface="Wingdings" pitchFamily="2" charset="2"/>
              <a:buChar char="Ø"/>
            </a:pPr>
            <a:r>
              <a:rPr lang="en-US" sz="1600" dirty="0">
                <a:latin typeface="+mj-lt"/>
              </a:rPr>
              <a:t>Example: A financial analyst reviewing AI-based loan approvals can modify feature weights to see how different factors affect the outcome.</a:t>
            </a:r>
          </a:p>
        </p:txBody>
      </p:sp>
      <p:sp>
        <p:nvSpPr>
          <p:cNvPr id="11" name="TextBox 10">
            <a:extLst>
              <a:ext uri="{FF2B5EF4-FFF2-40B4-BE49-F238E27FC236}">
                <a16:creationId xmlns:a16="http://schemas.microsoft.com/office/drawing/2014/main" id="{35DC77D9-91C9-963F-5875-A4E17057EEC8}"/>
              </a:ext>
            </a:extLst>
          </p:cNvPr>
          <p:cNvSpPr txBox="1"/>
          <p:nvPr/>
        </p:nvSpPr>
        <p:spPr>
          <a:xfrm>
            <a:off x="356239" y="3955693"/>
            <a:ext cx="10727396" cy="1323439"/>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j-lt"/>
              </a:rPr>
              <a:t>Causal Explainability</a:t>
            </a:r>
          </a:p>
          <a:p>
            <a:pPr marL="742950" lvl="1" indent="-285750">
              <a:buFont typeface="Wingdings" pitchFamily="2" charset="2"/>
              <a:buChar char="Ø"/>
            </a:pPr>
            <a:r>
              <a:rPr lang="en-US" sz="1600" dirty="0">
                <a:latin typeface="+mj-lt"/>
              </a:rPr>
              <a:t>Future AI models will focus on causality rather than correlation, answering why a decision was made instead of just providing post-hoc feature importance.</a:t>
            </a:r>
          </a:p>
          <a:p>
            <a:pPr marL="742950" lvl="1" indent="-285750">
              <a:buFont typeface="Wingdings" pitchFamily="2" charset="2"/>
              <a:buChar char="Ø"/>
            </a:pPr>
            <a:r>
              <a:rPr lang="en-US" sz="1600" dirty="0">
                <a:latin typeface="+mj-lt"/>
              </a:rPr>
              <a:t>Example: Instead of saying "low credit score is a top factor for denial," a causal model could determine if improving credit score would guarantee approval.</a:t>
            </a:r>
          </a:p>
        </p:txBody>
      </p:sp>
      <p:sp>
        <p:nvSpPr>
          <p:cNvPr id="13" name="TextBox 12">
            <a:extLst>
              <a:ext uri="{FF2B5EF4-FFF2-40B4-BE49-F238E27FC236}">
                <a16:creationId xmlns:a16="http://schemas.microsoft.com/office/drawing/2014/main" id="{8A00E883-69E3-0345-ED6F-5D60761B790A}"/>
              </a:ext>
            </a:extLst>
          </p:cNvPr>
          <p:cNvSpPr txBox="1"/>
          <p:nvPr/>
        </p:nvSpPr>
        <p:spPr>
          <a:xfrm>
            <a:off x="356239" y="5360677"/>
            <a:ext cx="10325616" cy="830997"/>
          </a:xfrm>
          <a:prstGeom prst="rect">
            <a:avLst/>
          </a:prstGeom>
          <a:noFill/>
        </p:spPr>
        <p:txBody>
          <a:bodyPr wrap="square">
            <a:spAutoFit/>
          </a:bodyPr>
          <a:lstStyle/>
          <a:p>
            <a:pPr marL="285750" indent="-285750">
              <a:buFont typeface="Arial" panose="020B0604020202020204" pitchFamily="34" charset="0"/>
              <a:buChar char="•"/>
            </a:pPr>
            <a:r>
              <a:rPr lang="en-US" sz="1600" b="1" dirty="0">
                <a:latin typeface="+mj-lt"/>
              </a:rPr>
              <a:t>Legal and Regulatory Evolution</a:t>
            </a:r>
          </a:p>
          <a:p>
            <a:pPr marL="742950" lvl="1" indent="-285750">
              <a:buFont typeface="Wingdings" pitchFamily="2" charset="2"/>
              <a:buChar char="Ø"/>
            </a:pPr>
            <a:r>
              <a:rPr lang="en-US" sz="1600" dirty="0">
                <a:latin typeface="+mj-lt"/>
              </a:rPr>
              <a:t>Governments and regulatory bodies will introduce stricter explainability laws to hold AI models accountable.</a:t>
            </a:r>
          </a:p>
          <a:p>
            <a:pPr marL="742950" lvl="1" indent="-285750">
              <a:buFont typeface="Wingdings" pitchFamily="2" charset="2"/>
              <a:buChar char="Ø"/>
            </a:pPr>
            <a:r>
              <a:rPr lang="en-US" sz="1600" dirty="0">
                <a:latin typeface="+mj-lt"/>
              </a:rPr>
              <a:t>AI companies will need to ensure that explanations align with legal and ethical guidelines.</a:t>
            </a:r>
          </a:p>
        </p:txBody>
      </p:sp>
    </p:spTree>
    <p:extLst>
      <p:ext uri="{BB962C8B-B14F-4D97-AF65-F5344CB8AC3E}">
        <p14:creationId xmlns:p14="http://schemas.microsoft.com/office/powerpoint/2010/main" val="996285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13169</TotalTime>
  <Words>2591</Words>
  <Application>Microsoft Office PowerPoint</Application>
  <PresentationFormat>Widescreen</PresentationFormat>
  <Paragraphs>325</Paragraphs>
  <Slides>27</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Cambria Math</vt:lpstr>
      <vt:lpstr>Helvetica</vt:lpstr>
      <vt:lpstr>Times</vt:lpstr>
      <vt:lpstr>Wingdings</vt:lpstr>
      <vt:lpstr>Office Theme</vt:lpstr>
      <vt:lpstr>DSAI 4201 – Selected Topics  in Data Science</vt:lpstr>
      <vt:lpstr>Lecture 8 (A)</vt:lpstr>
      <vt:lpstr>Introduction</vt:lpstr>
      <vt:lpstr>Introduction</vt:lpstr>
      <vt:lpstr>What is Explainable AI? </vt:lpstr>
      <vt:lpstr>What is Explainable AI? </vt:lpstr>
      <vt:lpstr>What is Explainable AI? </vt:lpstr>
      <vt:lpstr>What is Explainable AI? </vt:lpstr>
      <vt:lpstr>Why Explainability matters?  </vt:lpstr>
      <vt:lpstr>Why Explainability matters?  </vt:lpstr>
      <vt:lpstr>How to Make AI Models Explainable?</vt:lpstr>
      <vt:lpstr>How to Make AI Models Explainable?</vt:lpstr>
      <vt:lpstr>How to Make AI Models Explainable?</vt:lpstr>
      <vt:lpstr>How to Make AI Models Explainable?</vt:lpstr>
      <vt:lpstr>Taxonomy of Explainable AI?</vt:lpstr>
      <vt:lpstr>Techniques/Methods Used for Explainable AI</vt:lpstr>
      <vt:lpstr>Model-Agnostic Explainability Techniques</vt:lpstr>
      <vt:lpstr>LIME (Local Interpretable Model-Agnostic Explanations)</vt:lpstr>
      <vt:lpstr>Example: LIME on a credit scoring model</vt:lpstr>
      <vt:lpstr>Example: LIME on a credit scoring model</vt:lpstr>
      <vt:lpstr>SHAP (SHapley Additive Explanations)</vt:lpstr>
      <vt:lpstr>SHAP (SHapley Additive Explanations)</vt:lpstr>
      <vt:lpstr>Example: SHAP on a credit scoring model</vt:lpstr>
      <vt:lpstr>Applications of Explainable AI</vt:lpstr>
      <vt:lpstr>Applications of Explainable AI</vt:lpstr>
      <vt:lpstr>Challenges of Explainable AI</vt:lpstr>
      <vt:lpstr>Future Trends in Explainable AI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DSAI 4201 – Selected Topics  in Data Science</dc:title>
  <dc:creator>Makhlouf, Karima</dc:creator>
  <cp:lastModifiedBy>Bouguelia, Mohamed-Rafik</cp:lastModifiedBy>
  <cp:revision>401</cp:revision>
  <dcterms:created xsi:type="dcterms:W3CDTF">2025-01-16T09:05:01Z</dcterms:created>
  <dcterms:modified xsi:type="dcterms:W3CDTF">2026-03-01T11:01:28Z</dcterms:modified>
</cp:coreProperties>
</file>